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843" autoAdjust="0"/>
  </p:normalViewPr>
  <p:slideViewPr>
    <p:cSldViewPr snapToGrid="0" snapToObjects="1">
      <p:cViewPr>
        <p:scale>
          <a:sx n="100" d="100"/>
          <a:sy n="100" d="100"/>
        </p:scale>
        <p:origin x="946" y="-230"/>
      </p:cViewPr>
      <p:guideLst/>
    </p:cSldViewPr>
  </p:slideViewPr>
  <p:notesTextViewPr>
    <p:cViewPr>
      <p:scale>
        <a:sx n="1" d="1"/>
        <a:sy n="1" d="1"/>
      </p:scale>
      <p:origin x="0" y="-2166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384039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⑤ </a:t>
            </a:r>
            <a:r>
              <a:rPr lang="ko-KR" altLang="en-US" sz="1200" b="1" dirty="0">
                <a:solidFill>
                  <a:srgbClr val="B85042"/>
                </a:solidFill>
                <a:latin typeface="Calibri" pitchFamily="34" charset="0"/>
                <a:ea typeface="Calibri" pitchFamily="34" charset="-122"/>
                <a:cs typeface="Calibri" pitchFamily="34" charset="-120"/>
              </a:rPr>
              <a:t>본문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단락별 </a:t>
            </a:r>
            <a:r>
              <a:rPr lang="ko-KR" altLang="en-US" sz="1200" b="1" dirty="0" err="1">
                <a:solidFill>
                  <a:srgbClr val="B85042"/>
                </a:solidFill>
                <a:latin typeface="Calibri" pitchFamily="34" charset="0"/>
                <a:ea typeface="Calibri" pitchFamily="34" charset="-122"/>
                <a:cs typeface="Calibri" pitchFamily="34" charset="-120"/>
              </a:rPr>
              <a:t>완전판</a:t>
            </a:r>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a:t>
            </a:r>
          </a:p>
          <a:p>
            <a:endParaRPr lang="ko-KR" altLang="en-US"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단락 </a:t>
            </a:r>
            <a:r>
              <a:rPr lang="en-US" altLang="ko-KR" sz="1200" b="1" dirty="0">
                <a:solidFill>
                  <a:srgbClr val="B85042"/>
                </a:solidFill>
                <a:latin typeface="Calibri" pitchFamily="34" charset="0"/>
                <a:ea typeface="Calibri" pitchFamily="34" charset="-122"/>
                <a:cs typeface="Calibri" pitchFamily="34" charset="-120"/>
              </a:rPr>
              <a:t>1] </a:t>
            </a:r>
            <a:r>
              <a:rPr lang="ko-KR" altLang="en-US" sz="1200" b="1" dirty="0">
                <a:solidFill>
                  <a:srgbClr val="B85042"/>
                </a:solidFill>
                <a:latin typeface="Calibri" pitchFamily="34" charset="0"/>
                <a:ea typeface="Calibri" pitchFamily="34" charset="-122"/>
                <a:cs typeface="Calibri" pitchFamily="34" charset="-120"/>
              </a:rPr>
              <a:t>사줬는데 왜 또 제가 옆에 있어야 하죠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도입</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공감</a:t>
            </a:r>
          </a:p>
          <a:p>
            <a:r>
              <a:rPr lang="ko-KR" altLang="en-US" sz="1200" b="1" dirty="0">
                <a:solidFill>
                  <a:srgbClr val="B85042"/>
                </a:solidFill>
                <a:latin typeface="Calibri" pitchFamily="34" charset="0"/>
                <a:ea typeface="Calibri" pitchFamily="34" charset="-122"/>
                <a:cs typeface="Calibri" pitchFamily="34" charset="-120"/>
              </a:rPr>
              <a:t>저녁 </a:t>
            </a:r>
            <a:r>
              <a:rPr lang="en-US" altLang="ko-KR" sz="1200" b="1" dirty="0">
                <a:solidFill>
                  <a:srgbClr val="B85042"/>
                </a:solidFill>
                <a:latin typeface="Calibri" pitchFamily="34" charset="0"/>
                <a:ea typeface="Calibri" pitchFamily="34" charset="-122"/>
                <a:cs typeface="Calibri" pitchFamily="34" charset="-120"/>
              </a:rPr>
              <a:t>8</a:t>
            </a:r>
            <a:r>
              <a:rPr lang="ko-KR" altLang="en-US" sz="1200" b="1" dirty="0">
                <a:solidFill>
                  <a:srgbClr val="B85042"/>
                </a:solidFill>
                <a:latin typeface="Calibri" pitchFamily="34" charset="0"/>
                <a:ea typeface="Calibri" pitchFamily="34" charset="-122"/>
                <a:cs typeface="Calibri" pitchFamily="34" charset="-120"/>
              </a:rPr>
              <a:t>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식탁 한쪽에는 아직 펴지지도 않은 문제집이 놓여 있습니다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오늘 숙제 했어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라는 말에 아이는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이제 할 거야</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라고 답하고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결국 부모가 옆에 앉아야 그제야 펜을 듭니다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학습 패드나 문제집을 새로 들이면서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이제는 좀 알아서 하지 않을까</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기대했던 부모님이라면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 장면이 낯설지 않을 겁니다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도구를 바꾼다고 해서 아이의 학습 태도가 바로 바뀌지는 않습니다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문제는 도구가 아니라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습관</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 먼저라는 사실을 우리는 종종 나중에 깨닫게 됩니다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 이미지 기획</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이미지 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도입</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공감</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SEO·</a:t>
            </a:r>
            <a:r>
              <a:rPr lang="ko-KR" altLang="en-US" sz="1200" b="1" dirty="0">
                <a:solidFill>
                  <a:srgbClr val="B85042"/>
                </a:solidFill>
                <a:latin typeface="Calibri" pitchFamily="34" charset="0"/>
                <a:ea typeface="Calibri" pitchFamily="34" charset="-122"/>
                <a:cs typeface="Calibri" pitchFamily="34" charset="-120"/>
              </a:rPr>
              <a:t>노출 근거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첫 화면 체류시간 확보</a:t>
            </a:r>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텍스트에 목표 키워드 자연 삽입으로 이미지 검색 노출 기여</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구도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피사체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소품</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분위기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저녁 시간 식탁 한쪽</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펼쳐지지 않은 문제집과 가방</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부엌 조명이 은은하게 비치는 배경</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아이의 뒷모습 또는 책상 의자가 </a:t>
            </a:r>
            <a:r>
              <a:rPr lang="ko-KR" altLang="en-US" sz="1200" b="1" dirty="0" err="1">
                <a:solidFill>
                  <a:srgbClr val="B85042"/>
                </a:solidFill>
                <a:latin typeface="Calibri" pitchFamily="34" charset="0"/>
                <a:ea typeface="Calibri" pitchFamily="34" charset="-122"/>
                <a:cs typeface="Calibri" pitchFamily="34" charset="-120"/>
              </a:rPr>
              <a:t>비어있는</a:t>
            </a:r>
            <a:r>
              <a:rPr lang="ko-KR" altLang="en-US" sz="1200" b="1" dirty="0">
                <a:solidFill>
                  <a:srgbClr val="B85042"/>
                </a:solidFill>
                <a:latin typeface="Calibri" pitchFamily="34" charset="0"/>
                <a:ea typeface="Calibri" pitchFamily="34" charset="-122"/>
                <a:cs typeface="Calibri" pitchFamily="34" charset="-120"/>
              </a:rPr>
              <a:t> 장면</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색감 가이드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메인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웜톤</a:t>
            </a:r>
            <a:r>
              <a:rPr lang="ko-KR" altLang="en-US" sz="1200" b="1" dirty="0">
                <a:solidFill>
                  <a:srgbClr val="B85042"/>
                </a:solidFill>
                <a:latin typeface="Calibri" pitchFamily="34" charset="0"/>
                <a:ea typeface="Calibri" pitchFamily="34" charset="-122"/>
                <a:cs typeface="Calibri" pitchFamily="34" charset="-120"/>
              </a:rPr>
              <a:t> 베이지</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서브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연한 </a:t>
            </a:r>
            <a:r>
              <a:rPr lang="ko-KR" altLang="en-US" sz="1200" b="1" dirty="0" err="1">
                <a:solidFill>
                  <a:srgbClr val="B85042"/>
                </a:solidFill>
                <a:latin typeface="Calibri" pitchFamily="34" charset="0"/>
                <a:ea typeface="Calibri" pitchFamily="34" charset="-122"/>
                <a:cs typeface="Calibri" pitchFamily="34" charset="-120"/>
              </a:rPr>
              <a:t>우드톤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배경</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저녁 조명의 따뜻한 노란빛</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텍스트 오버레이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오늘도 결국</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제가 옆에 앉았어요</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화면 하단 좌측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손글씨풍 폰트</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부드러운 톤</a:t>
            </a: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AI </a:t>
            </a:r>
            <a:r>
              <a:rPr lang="ko-KR" altLang="en-US" sz="1200" b="1" dirty="0">
                <a:solidFill>
                  <a:srgbClr val="B85042"/>
                </a:solidFill>
                <a:latin typeface="Calibri" pitchFamily="34" charset="0"/>
                <a:ea typeface="Calibri" pitchFamily="34" charset="-122"/>
                <a:cs typeface="Calibri" pitchFamily="34" charset="-120"/>
              </a:rPr>
              <a:t>이미지 프롬프트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영문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 warm, realistic photo of a Korean family dinner table in the evening, an unopened workbook and a school bag placed on one side, soft warm kitchen lighting, an empty chair pulled out near the table, cozy and slightly tired home atmosphere, documentary style photography, no text"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초등 학습습관 </a:t>
            </a:r>
            <a:r>
              <a:rPr lang="ko-KR" altLang="en-US" sz="1200" b="1" dirty="0" err="1">
                <a:solidFill>
                  <a:srgbClr val="B85042"/>
                </a:solidFill>
                <a:latin typeface="Calibri" pitchFamily="34" charset="0"/>
                <a:ea typeface="Calibri" pitchFamily="34" charset="-122"/>
                <a:cs typeface="Calibri" pitchFamily="34" charset="-120"/>
              </a:rPr>
              <a:t>골든타임</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저녁 식탁 위 펼쳐지지 않은 문제집</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파일명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초등학습습관골든타임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도입공감</a:t>
            </a:r>
            <a:r>
              <a:rPr lang="en-US" altLang="ko-KR" sz="1200" b="1" dirty="0">
                <a:solidFill>
                  <a:srgbClr val="B85042"/>
                </a:solidFill>
                <a:latin typeface="Calibri" pitchFamily="34" charset="0"/>
                <a:ea typeface="Calibri" pitchFamily="34" charset="-122"/>
                <a:cs typeface="Calibri" pitchFamily="34" charset="-120"/>
              </a:rPr>
              <a:t>-01.jpg</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p>
          <a:p>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단락 </a:t>
            </a:r>
            <a:r>
              <a:rPr lang="en-US" altLang="ko-KR" sz="1200" b="1" dirty="0">
                <a:solidFill>
                  <a:srgbClr val="B85042"/>
                </a:solidFill>
                <a:latin typeface="Calibri" pitchFamily="34" charset="0"/>
                <a:ea typeface="Calibri" pitchFamily="34" charset="-122"/>
                <a:cs typeface="Calibri" pitchFamily="34" charset="-120"/>
              </a:rPr>
              <a:t>2] "</a:t>
            </a:r>
            <a:r>
              <a:rPr lang="ko-KR" altLang="en-US" sz="1200" b="1" dirty="0">
                <a:solidFill>
                  <a:srgbClr val="B85042"/>
                </a:solidFill>
                <a:latin typeface="Calibri" pitchFamily="34" charset="0"/>
                <a:ea typeface="Calibri" pitchFamily="34" charset="-122"/>
                <a:cs typeface="Calibri" pitchFamily="34" charset="-120"/>
              </a:rPr>
              <a:t>이러다 고학년 되면 어쩌지</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문제 제시</a:t>
            </a:r>
          </a:p>
          <a:p>
            <a:r>
              <a:rPr lang="ko-KR" altLang="en-US" sz="1200" b="1" dirty="0">
                <a:solidFill>
                  <a:srgbClr val="B85042"/>
                </a:solidFill>
                <a:latin typeface="Calibri" pitchFamily="34" charset="0"/>
                <a:ea typeface="Calibri" pitchFamily="34" charset="-122"/>
                <a:cs typeface="Calibri" pitchFamily="34" charset="-120"/>
              </a:rPr>
              <a:t>초등 저학년 때는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아직 어리니까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라는 생각으로 넘기는 경우가 많습니다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하지만 고학년이 되면 상황이 달라집니다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과목 수가 늘고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단원평가의 빈도와 난이도도 함께 올라갑니다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이때 스스로 공부 계획을 세우고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끝난 후 점검하는 습관이 없는 아이는 갑자기 늘어난 학습량 앞에서 멈춰 서게 됩니다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부모님 입장에서는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예전에는 그냥 시키면 했는데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지금은 시켜도 안 한다</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는 말이 나오는 시점이 바로 이 때입니다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채점지에 빨간 줄이 늘어가는 걸 보면서도</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정작 어디서부터 다시 잡아줘야 할지 막막한 마음이 드는 것은 당연합니다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 이미지 기획</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이미지 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문제 제시</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SEO·</a:t>
            </a:r>
            <a:r>
              <a:rPr lang="ko-KR" altLang="en-US" sz="1200" b="1" dirty="0">
                <a:solidFill>
                  <a:srgbClr val="B85042"/>
                </a:solidFill>
                <a:latin typeface="Calibri" pitchFamily="34" charset="0"/>
                <a:ea typeface="Calibri" pitchFamily="34" charset="-122"/>
                <a:cs typeface="Calibri" pitchFamily="34" charset="-120"/>
              </a:rPr>
              <a:t>노출 근거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스크롤 정지 유도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시각적 긴장감</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본문 핵심 문제 상황과 </a:t>
            </a:r>
            <a:r>
              <a:rPr lang="en-US" altLang="ko-KR" sz="1200" b="1" dirty="0">
                <a:solidFill>
                  <a:srgbClr val="B85042"/>
                </a:solidFill>
                <a:latin typeface="Calibri" pitchFamily="34" charset="0"/>
                <a:ea typeface="Calibri" pitchFamily="34" charset="-122"/>
                <a:cs typeface="Calibri" pitchFamily="34" charset="-120"/>
              </a:rPr>
              <a:t>alt </a:t>
            </a:r>
            <a:r>
              <a:rPr lang="ko-KR" altLang="en-US" sz="1200" b="1" dirty="0">
                <a:solidFill>
                  <a:srgbClr val="B85042"/>
                </a:solidFill>
                <a:latin typeface="Calibri" pitchFamily="34" charset="0"/>
                <a:ea typeface="Calibri" pitchFamily="34" charset="-122"/>
                <a:cs typeface="Calibri" pitchFamily="34" charset="-120"/>
              </a:rPr>
              <a:t>키워드 매칭</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구도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피사체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소품</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분위기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책상 위 시험지 클로즈업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빨간 채점 표시가 여러 개 보이는 장면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아이의 손이 시험지를 살짝 덮는 동작</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약간 어두운 톤의 조명</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색감 가이드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메인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차분한 그레이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서브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빨간 채점 포인트</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배경</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무채색 책상</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텍스트 오버레이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또 틀렸어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이게 맞는 건가</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화면 우측 상단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손글씨</a:t>
            </a:r>
            <a:r>
              <a:rPr lang="ko-KR" altLang="en-US" sz="1200" b="1" dirty="0">
                <a:solidFill>
                  <a:srgbClr val="B85042"/>
                </a:solidFill>
                <a:latin typeface="Calibri" pitchFamily="34" charset="0"/>
                <a:ea typeface="Calibri" pitchFamily="34" charset="-122"/>
                <a:cs typeface="Calibri" pitchFamily="34" charset="-120"/>
              </a:rPr>
              <a:t> 메모 느낌</a:t>
            </a: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AI </a:t>
            </a:r>
            <a:r>
              <a:rPr lang="ko-KR" altLang="en-US" sz="1200" b="1" dirty="0">
                <a:solidFill>
                  <a:srgbClr val="B85042"/>
                </a:solidFill>
                <a:latin typeface="Calibri" pitchFamily="34" charset="0"/>
                <a:ea typeface="Calibri" pitchFamily="34" charset="-122"/>
                <a:cs typeface="Calibri" pitchFamily="34" charset="-120"/>
              </a:rPr>
              <a:t>이미지 프롬프트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영문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"Close-up photo of an elementary school test paper on a desk, multiple red check marks and red pen corrections visible, a child's hand partially covering the paper, slightly dim and serious lighting, realistic documentary photography, no readable text on paper"</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초등 학습습관 </a:t>
            </a:r>
            <a:r>
              <a:rPr lang="ko-KR" altLang="en-US" sz="1200" b="1" dirty="0" err="1">
                <a:solidFill>
                  <a:srgbClr val="B85042"/>
                </a:solidFill>
                <a:latin typeface="Calibri" pitchFamily="34" charset="0"/>
                <a:ea typeface="Calibri" pitchFamily="34" charset="-122"/>
                <a:cs typeface="Calibri" pitchFamily="34" charset="-120"/>
              </a:rPr>
              <a:t>골든타임</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빨간 채점 표시가 많은 시험지</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파일명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초등학습습관골든타임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문제제시</a:t>
            </a:r>
            <a:r>
              <a:rPr lang="en-US" altLang="ko-KR" sz="1200" b="1" dirty="0">
                <a:solidFill>
                  <a:srgbClr val="B85042"/>
                </a:solidFill>
                <a:latin typeface="Calibri" pitchFamily="34" charset="0"/>
                <a:ea typeface="Calibri" pitchFamily="34" charset="-122"/>
                <a:cs typeface="Calibri" pitchFamily="34" charset="-120"/>
              </a:rPr>
              <a:t>-02.jpg</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p>
          <a:p>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단락 </a:t>
            </a:r>
            <a:r>
              <a:rPr lang="en-US" altLang="ko-KR" sz="1200" b="1" dirty="0">
                <a:solidFill>
                  <a:srgbClr val="B85042"/>
                </a:solidFill>
                <a:latin typeface="Calibri" pitchFamily="34" charset="0"/>
                <a:ea typeface="Calibri" pitchFamily="34" charset="-122"/>
                <a:cs typeface="Calibri" pitchFamily="34" charset="-120"/>
              </a:rPr>
              <a:t>3] </a:t>
            </a:r>
            <a:r>
              <a:rPr lang="ko-KR" altLang="en-US" sz="1200" b="1" dirty="0">
                <a:solidFill>
                  <a:srgbClr val="B85042"/>
                </a:solidFill>
                <a:latin typeface="Calibri" pitchFamily="34" charset="0"/>
                <a:ea typeface="Calibri" pitchFamily="34" charset="-122"/>
                <a:cs typeface="Calibri" pitchFamily="34" charset="-120"/>
              </a:rPr>
              <a:t>왜 저학년 시기가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이라고 할까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원인 분석</a:t>
            </a:r>
          </a:p>
          <a:p>
            <a:r>
              <a:rPr lang="ko-KR" altLang="en-US" sz="1200" b="1" dirty="0">
                <a:solidFill>
                  <a:srgbClr val="B85042"/>
                </a:solidFill>
                <a:latin typeface="Calibri" pitchFamily="34" charset="0"/>
                <a:ea typeface="Calibri" pitchFamily="34" charset="-122"/>
                <a:cs typeface="Calibri" pitchFamily="34" charset="-120"/>
              </a:rPr>
              <a:t>자기주도학습은 학습자가 스스로 학습 목표를 정하고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계획을 세우고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그 과정에서 문제를 해결하며 결과를 점검하는 것을 의미합니다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초등 </a:t>
            </a:r>
            <a:r>
              <a:rPr lang="en-US" altLang="ko-KR" sz="1200" b="1" dirty="0">
                <a:solidFill>
                  <a:srgbClr val="B85042"/>
                </a:solidFill>
                <a:latin typeface="Calibri" pitchFamily="34" charset="0"/>
                <a:ea typeface="Calibri" pitchFamily="34" charset="-122"/>
                <a:cs typeface="Calibri" pitchFamily="34" charset="-120"/>
              </a:rPr>
              <a:t>1~2</a:t>
            </a:r>
            <a:r>
              <a:rPr lang="ko-KR" altLang="en-US" sz="1200" b="1" dirty="0">
                <a:solidFill>
                  <a:srgbClr val="B85042"/>
                </a:solidFill>
                <a:latin typeface="Calibri" pitchFamily="34" charset="0"/>
                <a:ea typeface="Calibri" pitchFamily="34" charset="-122"/>
                <a:cs typeface="Calibri" pitchFamily="34" charset="-120"/>
              </a:rPr>
              <a:t>학년 시기는 아직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공부</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라는 개념 자체가 익숙하지 않은 시기입니다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 시기에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책상에 앉는 것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괜찮은 일</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이라는 인식이 자리잡으면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이후 학습량이 늘어나도 그 습관을 기반으로 적응할 수 있습니다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반대로 이 시기에 전적으로 부모가 계획하고 챙겨주는 방식으로만 진행되면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아이는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시키는 사람이 없으면 멈추는</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패턴을 자연스럽게 학습하게 됩니다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이것이 바로 저학년 시기를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습관의 </a:t>
            </a:r>
            <a:r>
              <a:rPr lang="ko-KR" altLang="en-US" sz="1200" b="1" dirty="0" err="1">
                <a:solidFill>
                  <a:srgbClr val="B85042"/>
                </a:solidFill>
                <a:latin typeface="Calibri" pitchFamily="34" charset="0"/>
                <a:ea typeface="Calibri" pitchFamily="34" charset="-122"/>
                <a:cs typeface="Calibri" pitchFamily="34" charset="-120"/>
              </a:rPr>
              <a:t>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이라고 부르는 이유입니다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 이미지 기획</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이미지 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원인 분석</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SEO·</a:t>
            </a:r>
            <a:r>
              <a:rPr lang="ko-KR" altLang="en-US" sz="1200" b="1" dirty="0">
                <a:solidFill>
                  <a:srgbClr val="B85042"/>
                </a:solidFill>
                <a:latin typeface="Calibri" pitchFamily="34" charset="0"/>
                <a:ea typeface="Calibri" pitchFamily="34" charset="-122"/>
                <a:cs typeface="Calibri" pitchFamily="34" charset="-120"/>
              </a:rPr>
              <a:t>노출 근거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정보형 콘텐츠 신뢰도 강화</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인포그래픽은</a:t>
            </a:r>
            <a:r>
              <a:rPr lang="ko-KR" altLang="en-US" sz="1200" b="1" dirty="0">
                <a:solidFill>
                  <a:srgbClr val="B85042"/>
                </a:solidFill>
                <a:latin typeface="Calibri" pitchFamily="34" charset="0"/>
                <a:ea typeface="Calibri" pitchFamily="34" charset="-122"/>
                <a:cs typeface="Calibri" pitchFamily="34" charset="-120"/>
              </a:rPr>
              <a:t> 공유</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저장률에</a:t>
            </a:r>
            <a:r>
              <a:rPr lang="ko-KR" altLang="en-US" sz="1200" b="1" dirty="0">
                <a:solidFill>
                  <a:srgbClr val="B85042"/>
                </a:solidFill>
                <a:latin typeface="Calibri" pitchFamily="34" charset="0"/>
                <a:ea typeface="Calibri" pitchFamily="34" charset="-122"/>
                <a:cs typeface="Calibri" pitchFamily="34" charset="-120"/>
              </a:rPr>
              <a:t> 긍정적 영향</a:t>
            </a:r>
            <a:r>
              <a:rPr lang="en-US" altLang="ko-KR" sz="1200" b="1" dirty="0">
                <a:solidFill>
                  <a:srgbClr val="B85042"/>
                </a:solidFill>
                <a:latin typeface="Calibri" pitchFamily="34" charset="0"/>
                <a:ea typeface="Calibri" pitchFamily="34" charset="-122"/>
                <a:cs typeface="Calibri" pitchFamily="34" charset="-120"/>
              </a:rPr>
              <a:t>, alt</a:t>
            </a:r>
            <a:r>
              <a:rPr lang="ko-KR" altLang="en-US" sz="1200" b="1" dirty="0">
                <a:solidFill>
                  <a:srgbClr val="B85042"/>
                </a:solidFill>
                <a:latin typeface="Calibri" pitchFamily="34" charset="0"/>
                <a:ea typeface="Calibri" pitchFamily="34" charset="-122"/>
                <a:cs typeface="Calibri" pitchFamily="34" charset="-120"/>
              </a:rPr>
              <a:t>에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골든타임</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키워드 강조</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구도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피사체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소품</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분위기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초등 </a:t>
            </a:r>
            <a:r>
              <a:rPr lang="en-US" altLang="ko-KR" sz="1200" b="1" dirty="0">
                <a:solidFill>
                  <a:srgbClr val="B85042"/>
                </a:solidFill>
                <a:latin typeface="Calibri" pitchFamily="34" charset="0"/>
                <a:ea typeface="Calibri" pitchFamily="34" charset="-122"/>
                <a:cs typeface="Calibri" pitchFamily="34" charset="-120"/>
              </a:rPr>
              <a:t>1~2</a:t>
            </a:r>
            <a:r>
              <a:rPr lang="ko-KR" altLang="en-US" sz="1200" b="1" dirty="0">
                <a:solidFill>
                  <a:srgbClr val="B85042"/>
                </a:solidFill>
                <a:latin typeface="Calibri" pitchFamily="34" charset="0"/>
                <a:ea typeface="Calibri" pitchFamily="34" charset="-122"/>
                <a:cs typeface="Calibri" pitchFamily="34" charset="-120"/>
              </a:rPr>
              <a:t>학년 → </a:t>
            </a:r>
            <a:r>
              <a:rPr lang="en-US" altLang="ko-KR" sz="1200" b="1" dirty="0">
                <a:solidFill>
                  <a:srgbClr val="B85042"/>
                </a:solidFill>
                <a:latin typeface="Calibri" pitchFamily="34" charset="0"/>
                <a:ea typeface="Calibri" pitchFamily="34" charset="-122"/>
                <a:cs typeface="Calibri" pitchFamily="34" charset="-120"/>
              </a:rPr>
              <a:t>3~4</a:t>
            </a:r>
            <a:r>
              <a:rPr lang="ko-KR" altLang="en-US" sz="1200" b="1" dirty="0">
                <a:solidFill>
                  <a:srgbClr val="B85042"/>
                </a:solidFill>
                <a:latin typeface="Calibri" pitchFamily="34" charset="0"/>
                <a:ea typeface="Calibri" pitchFamily="34" charset="-122"/>
                <a:cs typeface="Calibri" pitchFamily="34" charset="-120"/>
              </a:rPr>
              <a:t>학년 → </a:t>
            </a:r>
            <a:r>
              <a:rPr lang="en-US" altLang="ko-KR" sz="1200" b="1" dirty="0">
                <a:solidFill>
                  <a:srgbClr val="B85042"/>
                </a:solidFill>
                <a:latin typeface="Calibri" pitchFamily="34" charset="0"/>
                <a:ea typeface="Calibri" pitchFamily="34" charset="-122"/>
                <a:cs typeface="Calibri" pitchFamily="34" charset="-120"/>
              </a:rPr>
              <a:t>5~6</a:t>
            </a:r>
            <a:r>
              <a:rPr lang="ko-KR" altLang="en-US" sz="1200" b="1" dirty="0">
                <a:solidFill>
                  <a:srgbClr val="B85042"/>
                </a:solidFill>
                <a:latin typeface="Calibri" pitchFamily="34" charset="0"/>
                <a:ea typeface="Calibri" pitchFamily="34" charset="-122"/>
                <a:cs typeface="Calibri" pitchFamily="34" charset="-120"/>
              </a:rPr>
              <a:t>학년으로 이어지는 단계별 흐름도</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각 단계에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습관 형성</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여부에 따른 분기 표시</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색감 가이드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메인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블루 계열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서브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그린 포인트</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배경</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화이트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텍스트 오버레이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지금이 학습 습관의 </a:t>
            </a:r>
            <a:r>
              <a:rPr lang="ko-KR" altLang="en-US" sz="1200" b="1" dirty="0" err="1">
                <a:solidFill>
                  <a:srgbClr val="B85042"/>
                </a:solidFill>
                <a:latin typeface="Calibri" pitchFamily="34" charset="0"/>
                <a:ea typeface="Calibri" pitchFamily="34" charset="-122"/>
                <a:cs typeface="Calibri" pitchFamily="34" charset="-120"/>
              </a:rPr>
              <a:t>골든타임</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상단 중앙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깔끔한 </a:t>
            </a:r>
            <a:r>
              <a:rPr lang="ko-KR" altLang="en-US" sz="1200" b="1" dirty="0" err="1">
                <a:solidFill>
                  <a:srgbClr val="B85042"/>
                </a:solidFill>
                <a:latin typeface="Calibri" pitchFamily="34" charset="0"/>
                <a:ea typeface="Calibri" pitchFamily="34" charset="-122"/>
                <a:cs typeface="Calibri" pitchFamily="34" charset="-120"/>
              </a:rPr>
              <a:t>산세리프</a:t>
            </a:r>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AI </a:t>
            </a:r>
            <a:r>
              <a:rPr lang="ko-KR" altLang="en-US" sz="1200" b="1" dirty="0">
                <a:solidFill>
                  <a:srgbClr val="B85042"/>
                </a:solidFill>
                <a:latin typeface="Calibri" pitchFamily="34" charset="0"/>
                <a:ea typeface="Calibri" pitchFamily="34" charset="-122"/>
                <a:cs typeface="Calibri" pitchFamily="34" charset="-120"/>
              </a:rPr>
              <a:t>이미지 프롬프트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영문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"Clean infographic diagram showing a timeline flow from early elementary grades to upper elementary grades, branching paths showing 'habit formed' versus 'habit not formed', simple blue and green color scheme, flat design style, minimal icons, white background, no Korean text, leave empty space for text overlay"</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초등 학습습관 </a:t>
            </a:r>
            <a:r>
              <a:rPr lang="ko-KR" altLang="en-US" sz="1200" b="1" dirty="0" err="1">
                <a:solidFill>
                  <a:srgbClr val="B85042"/>
                </a:solidFill>
                <a:latin typeface="Calibri" pitchFamily="34" charset="0"/>
                <a:ea typeface="Calibri" pitchFamily="34" charset="-122"/>
                <a:cs typeface="Calibri" pitchFamily="34" charset="-120"/>
              </a:rPr>
              <a:t>골든타임</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저학년부터 고학년까지 학습습관 형성 흐름도</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파일명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초등학습습관골든타임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원인분석</a:t>
            </a:r>
            <a:r>
              <a:rPr lang="en-US" altLang="ko-KR" sz="1200" b="1" dirty="0">
                <a:solidFill>
                  <a:srgbClr val="B85042"/>
                </a:solidFill>
                <a:latin typeface="Calibri" pitchFamily="34" charset="0"/>
                <a:ea typeface="Calibri" pitchFamily="34" charset="-122"/>
                <a:cs typeface="Calibri" pitchFamily="34" charset="-120"/>
              </a:rPr>
              <a:t>-03.jpg</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p>
          <a:p>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단락 </a:t>
            </a:r>
            <a:r>
              <a:rPr lang="en-US" altLang="ko-KR" sz="1200" b="1" dirty="0">
                <a:solidFill>
                  <a:srgbClr val="B85042"/>
                </a:solidFill>
                <a:latin typeface="Calibri" pitchFamily="34" charset="0"/>
                <a:ea typeface="Calibri" pitchFamily="34" charset="-122"/>
                <a:cs typeface="Calibri" pitchFamily="34" charset="-120"/>
              </a:rPr>
              <a:t>4] </a:t>
            </a:r>
            <a:r>
              <a:rPr lang="ko-KR" altLang="en-US" sz="1200" b="1" dirty="0">
                <a:solidFill>
                  <a:srgbClr val="B85042"/>
                </a:solidFill>
                <a:latin typeface="Calibri" pitchFamily="34" charset="0"/>
                <a:ea typeface="Calibri" pitchFamily="34" charset="-122"/>
                <a:cs typeface="Calibri" pitchFamily="34" charset="-120"/>
              </a:rPr>
              <a:t>그렇다면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지금부터 무엇을 해야 할까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해결 방향</a:t>
            </a:r>
          </a:p>
          <a:p>
            <a:r>
              <a:rPr lang="ko-KR" altLang="en-US" sz="1200" b="1" dirty="0">
                <a:solidFill>
                  <a:srgbClr val="B85042"/>
                </a:solidFill>
                <a:latin typeface="Calibri" pitchFamily="34" charset="0"/>
                <a:ea typeface="Calibri" pitchFamily="34" charset="-122"/>
                <a:cs typeface="Calibri" pitchFamily="34" charset="-120"/>
              </a:rPr>
              <a:t>이미 고학년인데 습관이 늦었다고 느껴진다면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처음부터 모든 걸 바꾸려 하지 않아도 됩니다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핵심은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작은 단위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로 시작하는 것입니다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예를 들어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하루 </a:t>
            </a:r>
            <a:r>
              <a:rPr lang="en-US" altLang="ko-KR" sz="1200" b="1" dirty="0">
                <a:solidFill>
                  <a:srgbClr val="B85042"/>
                </a:solidFill>
                <a:latin typeface="Calibri" pitchFamily="34" charset="0"/>
                <a:ea typeface="Calibri" pitchFamily="34" charset="-122"/>
                <a:cs typeface="Calibri" pitchFamily="34" charset="-120"/>
              </a:rPr>
              <a:t>30</a:t>
            </a:r>
            <a:r>
              <a:rPr lang="ko-KR" altLang="en-US" sz="1200" b="1" dirty="0">
                <a:solidFill>
                  <a:srgbClr val="B85042"/>
                </a:solidFill>
                <a:latin typeface="Calibri" pitchFamily="34" charset="0"/>
                <a:ea typeface="Calibri" pitchFamily="34" charset="-122"/>
                <a:cs typeface="Calibri" pitchFamily="34" charset="-120"/>
              </a:rPr>
              <a:t>분</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정해진 시간에 책상에 앉기</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부터 시작하면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아이는 점차 그 시간 동안 무엇을 할지 스스로 정하게 됩니다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이 과정에서 중요한 건 결과가 아니라</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스스로 끝까지 해봤다는 경험입니다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또한 틀린 문제를 단순히 다시 풀게 하기보다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어디서 막혔는지</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먼저 짚어보는 과정을 함께 해주면 아이가 자신의 학습을 스스로 점검하는 힘을 기르는 데 도움이 됩니다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 이미지 기획</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이미지 역할</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해결 방향</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SEO·</a:t>
            </a:r>
            <a:r>
              <a:rPr lang="ko-KR" altLang="en-US" sz="1200" b="1" dirty="0">
                <a:solidFill>
                  <a:srgbClr val="B85042"/>
                </a:solidFill>
                <a:latin typeface="Calibri" pitchFamily="34" charset="0"/>
                <a:ea typeface="Calibri" pitchFamily="34" charset="-122"/>
                <a:cs typeface="Calibri" pitchFamily="34" charset="-120"/>
              </a:rPr>
              <a:t>노출 근거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전후 대비 이미지는 체류시간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공유율에 긍정적</a:t>
            </a:r>
            <a:r>
              <a:rPr lang="en-US" altLang="ko-KR" sz="1200" b="1" dirty="0">
                <a:solidFill>
                  <a:srgbClr val="B85042"/>
                </a:solidFill>
                <a:latin typeface="Calibri" pitchFamily="34" charset="0"/>
                <a:ea typeface="Calibri" pitchFamily="34" charset="-122"/>
                <a:cs typeface="Calibri" pitchFamily="34" charset="-120"/>
              </a:rPr>
              <a:t>, alt</a:t>
            </a:r>
            <a:r>
              <a:rPr lang="ko-KR" altLang="en-US" sz="1200" b="1" dirty="0">
                <a:solidFill>
                  <a:srgbClr val="B85042"/>
                </a:solidFill>
                <a:latin typeface="Calibri" pitchFamily="34" charset="0"/>
                <a:ea typeface="Calibri" pitchFamily="34" charset="-122"/>
                <a:cs typeface="Calibri" pitchFamily="34" charset="-120"/>
              </a:rPr>
              <a:t>에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공부습관 만들기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키워드 보강</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구도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피사체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소품</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분위기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아이가 스스로 책상에 앉아 계획표</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또는 체크리스트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에 표시하는 장면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밝은 채광</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환한 표정</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색감 가이드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메인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밝은 옐로우 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서브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화이트</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배경</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채광 좋은 방</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텍스트 오버레이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하루 </a:t>
            </a:r>
            <a:r>
              <a:rPr lang="en-US" altLang="ko-KR" sz="1200" b="1" dirty="0">
                <a:solidFill>
                  <a:srgbClr val="B85042"/>
                </a:solidFill>
                <a:latin typeface="Calibri" pitchFamily="34" charset="0"/>
                <a:ea typeface="Calibri" pitchFamily="34" charset="-122"/>
                <a:cs typeface="Calibri" pitchFamily="34" charset="-120"/>
              </a:rPr>
              <a:t>30</a:t>
            </a:r>
            <a:r>
              <a:rPr lang="ko-KR" altLang="en-US" sz="1200" b="1" dirty="0">
                <a:solidFill>
                  <a:srgbClr val="B85042"/>
                </a:solidFill>
                <a:latin typeface="Calibri" pitchFamily="34" charset="0"/>
                <a:ea typeface="Calibri" pitchFamily="34" charset="-122"/>
                <a:cs typeface="Calibri" pitchFamily="34" charset="-120"/>
              </a:rPr>
              <a:t>분</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작은 습관부터</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화면 하단 중앙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부드러운 </a:t>
            </a:r>
            <a:r>
              <a:rPr lang="ko-KR" altLang="en-US" sz="1200" b="1" dirty="0" err="1">
                <a:solidFill>
                  <a:srgbClr val="B85042"/>
                </a:solidFill>
                <a:latin typeface="Calibri" pitchFamily="34" charset="0"/>
                <a:ea typeface="Calibri" pitchFamily="34" charset="-122"/>
                <a:cs typeface="Calibri" pitchFamily="34" charset="-120"/>
              </a:rPr>
              <a:t>손글씨</a:t>
            </a:r>
            <a:r>
              <a:rPr lang="ko-KR" altLang="en-US" sz="1200" b="1" dirty="0">
                <a:solidFill>
                  <a:srgbClr val="B85042"/>
                </a:solidFill>
                <a:latin typeface="Calibri" pitchFamily="34" charset="0"/>
                <a:ea typeface="Calibri" pitchFamily="34" charset="-122"/>
                <a:cs typeface="Calibri" pitchFamily="34" charset="-120"/>
              </a:rPr>
              <a:t> 폰트</a:t>
            </a: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AI </a:t>
            </a:r>
            <a:r>
              <a:rPr lang="ko-KR" altLang="en-US" sz="1200" b="1" dirty="0">
                <a:solidFill>
                  <a:srgbClr val="B85042"/>
                </a:solidFill>
                <a:latin typeface="Calibri" pitchFamily="34" charset="0"/>
                <a:ea typeface="Calibri" pitchFamily="34" charset="-122"/>
                <a:cs typeface="Calibri" pitchFamily="34" charset="-120"/>
              </a:rPr>
              <a:t>이미지 프롬프트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영문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"Bright and warm photo of an elementary school child sitting at a desk by a sunny window, checking off items on a simple daily checklist, cheerful and calm expression, natural morning light, cozy study room, realistic photography style, no readable text on checklist"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초등 학습습관 </a:t>
            </a:r>
            <a:r>
              <a:rPr lang="ko-KR" altLang="en-US" sz="1200" b="1" dirty="0" err="1">
                <a:solidFill>
                  <a:srgbClr val="B85042"/>
                </a:solidFill>
                <a:latin typeface="Calibri" pitchFamily="34" charset="0"/>
                <a:ea typeface="Calibri" pitchFamily="34" charset="-122"/>
                <a:cs typeface="Calibri" pitchFamily="34" charset="-120"/>
              </a:rPr>
              <a:t>골든타임</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스스로 체크리스트를 작성하는 아이</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파일명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초등학습습관골든타임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해결방향</a:t>
            </a:r>
            <a:r>
              <a:rPr lang="en-US" altLang="ko-KR" sz="1200" b="1" dirty="0">
                <a:solidFill>
                  <a:srgbClr val="B85042"/>
                </a:solidFill>
                <a:latin typeface="Calibri" pitchFamily="34" charset="0"/>
                <a:ea typeface="Calibri" pitchFamily="34" charset="-122"/>
                <a:cs typeface="Calibri" pitchFamily="34" charset="-120"/>
              </a:rPr>
              <a:t>-04.jpg</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p>
          <a:p>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단락 </a:t>
            </a:r>
            <a:r>
              <a:rPr lang="en-US" altLang="ko-KR" sz="1200" b="1" dirty="0">
                <a:solidFill>
                  <a:srgbClr val="B85042"/>
                </a:solidFill>
                <a:latin typeface="Calibri" pitchFamily="34" charset="0"/>
                <a:ea typeface="Calibri" pitchFamily="34" charset="-122"/>
                <a:cs typeface="Calibri" pitchFamily="34" charset="-120"/>
              </a:rPr>
              <a:t>5] </a:t>
            </a:r>
            <a:r>
              <a:rPr lang="ko-KR" altLang="en-US" sz="1200" b="1" dirty="0">
                <a:solidFill>
                  <a:srgbClr val="B85042"/>
                </a:solidFill>
                <a:latin typeface="Calibri" pitchFamily="34" charset="0"/>
                <a:ea typeface="Calibri" pitchFamily="34" charset="-122"/>
                <a:cs typeface="Calibri" pitchFamily="34" charset="-120"/>
              </a:rPr>
              <a:t>오늘 저녁</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딱 하나만 바꿔보세요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역할</a:t>
            </a:r>
            <a:r>
              <a:rPr lang="en-US" altLang="ko-KR" sz="1200" b="1" dirty="0">
                <a:solidFill>
                  <a:srgbClr val="B85042"/>
                </a:solidFill>
                <a:latin typeface="Calibri" pitchFamily="34" charset="0"/>
                <a:ea typeface="Calibri" pitchFamily="34" charset="-122"/>
                <a:cs typeface="Calibri" pitchFamily="34" charset="-120"/>
              </a:rPr>
              <a:t>: CTA</a:t>
            </a:r>
          </a:p>
          <a:p>
            <a:r>
              <a:rPr lang="ko-KR" altLang="en-US" sz="1200" b="1" dirty="0">
                <a:solidFill>
                  <a:srgbClr val="B85042"/>
                </a:solidFill>
                <a:latin typeface="Calibri" pitchFamily="34" charset="0"/>
                <a:ea typeface="Calibri" pitchFamily="34" charset="-122"/>
                <a:cs typeface="Calibri" pitchFamily="34" charset="-120"/>
              </a:rPr>
              <a:t>거창한 계획이 아니어도 괜찮습니다</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오늘 저녁</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몇 시에 책상에 앉을지</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만 아이와 함께 정해보는 것부터 시작해보세요</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이 글이 도움이 되셨다면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비슷한 고민을 하는 다른 학부모님께도 공유해주세요</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댓글로 우리 아이의 학습 습관 고민을 </a:t>
            </a:r>
            <a:r>
              <a:rPr lang="ko-KR" altLang="en-US" sz="1200" b="1" dirty="0" err="1">
                <a:solidFill>
                  <a:srgbClr val="B85042"/>
                </a:solidFill>
                <a:latin typeface="Calibri" pitchFamily="34" charset="0"/>
                <a:ea typeface="Calibri" pitchFamily="34" charset="-122"/>
                <a:cs typeface="Calibri" pitchFamily="34" charset="-120"/>
              </a:rPr>
              <a:t>나눠주시면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다음 글에서 더 구체적인 이야기로 풀어보겠습니다</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a:solidFill>
                  <a:srgbClr val="B85042"/>
                </a:solidFill>
                <a:latin typeface="Calibri" pitchFamily="34" charset="0"/>
                <a:ea typeface="Calibri" pitchFamily="34" charset="-122"/>
                <a:cs typeface="Calibri" pitchFamily="34" charset="-120"/>
              </a:rPr>
              <a:t>📸 이미지 기획</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이미지 역할</a:t>
            </a:r>
            <a:r>
              <a:rPr lang="en-US" altLang="ko-KR" sz="1200" b="1" dirty="0">
                <a:solidFill>
                  <a:srgbClr val="B85042"/>
                </a:solidFill>
                <a:latin typeface="Calibri" pitchFamily="34" charset="0"/>
                <a:ea typeface="Calibri" pitchFamily="34" charset="-122"/>
                <a:cs typeface="Calibri" pitchFamily="34" charset="-120"/>
              </a:rPr>
              <a:t>: CTA</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SEO·</a:t>
            </a:r>
            <a:r>
              <a:rPr lang="ko-KR" altLang="en-US" sz="1200" b="1" dirty="0">
                <a:solidFill>
                  <a:srgbClr val="B85042"/>
                </a:solidFill>
                <a:latin typeface="Calibri" pitchFamily="34" charset="0"/>
                <a:ea typeface="Calibri" pitchFamily="34" charset="-122"/>
                <a:cs typeface="Calibri" pitchFamily="34" charset="-120"/>
              </a:rPr>
              <a:t>노출 근거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마무리 구간 체류 유도 및 댓글</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공유 행동 유발</a:t>
            </a:r>
            <a:r>
              <a:rPr lang="en-US" altLang="ko-KR" sz="1200" b="1" dirty="0">
                <a:solidFill>
                  <a:srgbClr val="B85042"/>
                </a:solidFill>
                <a:latin typeface="Calibri" pitchFamily="34" charset="0"/>
                <a:ea typeface="Calibri" pitchFamily="34" charset="-122"/>
                <a:cs typeface="Calibri" pitchFamily="34" charset="-120"/>
              </a:rPr>
              <a:t>, alt</a:t>
            </a:r>
            <a:r>
              <a:rPr lang="ko-KR" altLang="en-US" sz="1200" b="1" dirty="0">
                <a:solidFill>
                  <a:srgbClr val="B85042"/>
                </a:solidFill>
                <a:latin typeface="Calibri" pitchFamily="34" charset="0"/>
                <a:ea typeface="Calibri" pitchFamily="34" charset="-122"/>
                <a:cs typeface="Calibri" pitchFamily="34" charset="-120"/>
              </a:rPr>
              <a:t>는 자연스러운 마무리 키워드 매칭</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구도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피사체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소품</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분위기</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스마트폰을 든 손이 메모 앱이나 캘린더에 시간을 입력하는 장면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따뜻한 저녁 조명</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색감 가이드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메인</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웜톤</a:t>
            </a:r>
            <a:r>
              <a:rPr lang="ko-KR" altLang="en-US" sz="1200" b="1" dirty="0">
                <a:solidFill>
                  <a:srgbClr val="B85042"/>
                </a:solidFill>
                <a:latin typeface="Calibri" pitchFamily="34" charset="0"/>
                <a:ea typeface="Calibri" pitchFamily="34" charset="-122"/>
                <a:cs typeface="Calibri" pitchFamily="34" charset="-120"/>
              </a:rPr>
              <a:t> 오렌지</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서브</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베이지</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배경</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거실 조명</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텍스트 오버레이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오늘 저녁</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딱 하나만 정해보세요</a:t>
            </a:r>
            <a:r>
              <a:rPr lang="en-US" altLang="ko-KR" sz="1200" b="1" dirty="0">
                <a:solidFill>
                  <a:srgbClr val="B85042"/>
                </a:solidFill>
                <a:latin typeface="Calibri" pitchFamily="34" charset="0"/>
                <a:ea typeface="Calibri" pitchFamily="34" charset="-122"/>
                <a:cs typeface="Calibri" pitchFamily="34" charset="-120"/>
              </a:rPr>
              <a:t>" / </a:t>
            </a:r>
            <a:r>
              <a:rPr lang="ko-KR" altLang="en-US" sz="1200" b="1" dirty="0">
                <a:solidFill>
                  <a:srgbClr val="B85042"/>
                </a:solidFill>
                <a:latin typeface="Calibri" pitchFamily="34" charset="0"/>
                <a:ea typeface="Calibri" pitchFamily="34" charset="-122"/>
                <a:cs typeface="Calibri" pitchFamily="34" charset="-120"/>
              </a:rPr>
              <a:t>화면 중앙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친근한 </a:t>
            </a:r>
            <a:r>
              <a:rPr lang="ko-KR" altLang="en-US" sz="1200" b="1" dirty="0" err="1">
                <a:solidFill>
                  <a:srgbClr val="B85042"/>
                </a:solidFill>
                <a:latin typeface="Calibri" pitchFamily="34" charset="0"/>
                <a:ea typeface="Calibri" pitchFamily="34" charset="-122"/>
                <a:cs typeface="Calibri" pitchFamily="34" charset="-120"/>
              </a:rPr>
              <a:t>손글씨</a:t>
            </a:r>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AI </a:t>
            </a:r>
            <a:r>
              <a:rPr lang="ko-KR" altLang="en-US" sz="1200" b="1" dirty="0">
                <a:solidFill>
                  <a:srgbClr val="B85042"/>
                </a:solidFill>
                <a:latin typeface="Calibri" pitchFamily="34" charset="0"/>
                <a:ea typeface="Calibri" pitchFamily="34" charset="-122"/>
                <a:cs typeface="Calibri" pitchFamily="34" charset="-120"/>
              </a:rPr>
              <a:t>이미지 프롬프트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영문</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"Close-up photo of a hand holding a smartphone displaying a simple calendar or note app, warm evening living room lighting in the background, cozy and friendly atmosphere, realistic photography, shallow depth of field, no readable text on screen"</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alt: "</a:t>
            </a:r>
            <a:r>
              <a:rPr lang="ko-KR" altLang="en-US" sz="1200" b="1" dirty="0">
                <a:solidFill>
                  <a:srgbClr val="B85042"/>
                </a:solidFill>
                <a:latin typeface="Calibri" pitchFamily="34" charset="0"/>
                <a:ea typeface="Calibri" pitchFamily="34" charset="-122"/>
                <a:cs typeface="Calibri" pitchFamily="34" charset="-120"/>
              </a:rPr>
              <a:t>초등 학습습관 </a:t>
            </a:r>
            <a:r>
              <a:rPr lang="ko-KR" altLang="en-US" sz="1200" b="1" dirty="0" err="1">
                <a:solidFill>
                  <a:srgbClr val="B85042"/>
                </a:solidFill>
                <a:latin typeface="Calibri" pitchFamily="34" charset="0"/>
                <a:ea typeface="Calibri" pitchFamily="34" charset="-122"/>
                <a:cs typeface="Calibri" pitchFamily="34" charset="-120"/>
              </a:rPr>
              <a:t>골든타임</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스마트폰으로 학습 시간 정하기</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파일명</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초등학습습관골든타임</a:t>
            </a:r>
            <a:r>
              <a:rPr lang="en-US" altLang="ko-KR" sz="1200" b="1" dirty="0">
                <a:solidFill>
                  <a:srgbClr val="B85042"/>
                </a:solidFill>
                <a:latin typeface="Calibri" pitchFamily="34" charset="0"/>
                <a:ea typeface="Calibri" pitchFamily="34" charset="-122"/>
                <a:cs typeface="Calibri" pitchFamily="34" charset="-120"/>
              </a:rPr>
              <a:t>-CTA-05.jpg</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en-US" altLang="ko-KR" sz="1200" b="1" dirty="0">
                <a:solidFill>
                  <a:srgbClr val="B85042"/>
                </a:solidFill>
                <a:latin typeface="Calibri" pitchFamily="34" charset="0"/>
                <a:ea typeface="Calibri" pitchFamily="34" charset="-122"/>
                <a:cs typeface="Calibri" pitchFamily="34" charset="-120"/>
              </a:rPr>
              <a:t>⑥ </a:t>
            </a:r>
            <a:r>
              <a:rPr lang="ko-KR" altLang="en-US" sz="1200" b="1" dirty="0">
                <a:solidFill>
                  <a:srgbClr val="B85042"/>
                </a:solidFill>
                <a:latin typeface="Calibri" pitchFamily="34" charset="0"/>
                <a:ea typeface="Calibri" pitchFamily="34" charset="-122"/>
                <a:cs typeface="Calibri" pitchFamily="34" charset="-120"/>
              </a:rPr>
              <a:t>비교표</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유입형 콘텐츠 특성상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온리원</a:t>
            </a:r>
            <a:r>
              <a:rPr lang="ko-KR" altLang="en-US" sz="1200" b="1" dirty="0">
                <a:solidFill>
                  <a:srgbClr val="B85042"/>
                </a:solidFill>
                <a:latin typeface="Calibri" pitchFamily="34" charset="0"/>
                <a:ea typeface="Calibri" pitchFamily="34" charset="-122"/>
                <a:cs typeface="Calibri" pitchFamily="34" charset="-120"/>
              </a:rPr>
              <a:t> </a:t>
            </a:r>
            <a:r>
              <a:rPr lang="en-US" altLang="ko-KR" sz="1200" b="1" dirty="0">
                <a:solidFill>
                  <a:srgbClr val="B85042"/>
                </a:solidFill>
                <a:latin typeface="Calibri" pitchFamily="34" charset="0"/>
                <a:ea typeface="Calibri" pitchFamily="34" charset="-122"/>
                <a:cs typeface="Calibri" pitchFamily="34" charset="-120"/>
              </a:rPr>
              <a:t>vs </a:t>
            </a:r>
            <a:r>
              <a:rPr lang="ko-KR" altLang="en-US" sz="1200" b="1" dirty="0">
                <a:solidFill>
                  <a:srgbClr val="B85042"/>
                </a:solidFill>
                <a:latin typeface="Calibri" pitchFamily="34" charset="0"/>
                <a:ea typeface="Calibri" pitchFamily="34" charset="-122"/>
                <a:cs typeface="Calibri" pitchFamily="34" charset="-120"/>
              </a:rPr>
              <a:t>일반</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이 아닌</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습관이 형성된 아이 </a:t>
            </a:r>
            <a:r>
              <a:rPr lang="en-US" altLang="ko-KR" sz="1200" b="1" dirty="0">
                <a:solidFill>
                  <a:srgbClr val="B85042"/>
                </a:solidFill>
                <a:latin typeface="Calibri" pitchFamily="34" charset="0"/>
                <a:ea typeface="Calibri" pitchFamily="34" charset="-122"/>
                <a:cs typeface="Calibri" pitchFamily="34" charset="-120"/>
              </a:rPr>
              <a:t>vs </a:t>
            </a:r>
            <a:r>
              <a:rPr lang="ko-KR" altLang="en-US" sz="1200" b="1" dirty="0">
                <a:solidFill>
                  <a:srgbClr val="B85042"/>
                </a:solidFill>
                <a:latin typeface="Calibri" pitchFamily="34" charset="0"/>
                <a:ea typeface="Calibri" pitchFamily="34" charset="-122"/>
                <a:cs typeface="Calibri" pitchFamily="34" charset="-120"/>
              </a:rPr>
              <a:t>형성되지 않은 아이</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비교로 구성했습니다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err="1">
                <a:solidFill>
                  <a:srgbClr val="B85042"/>
                </a:solidFill>
                <a:latin typeface="Calibri" pitchFamily="34" charset="0"/>
                <a:ea typeface="Calibri" pitchFamily="34" charset="-122"/>
                <a:cs typeface="Calibri" pitchFamily="34" charset="-120"/>
              </a:rPr>
              <a:t>온리원</a:t>
            </a:r>
            <a:r>
              <a:rPr lang="ko-KR" altLang="en-US" sz="1200" b="1" dirty="0">
                <a:solidFill>
                  <a:srgbClr val="B85042"/>
                </a:solidFill>
                <a:latin typeface="Calibri" pitchFamily="34" charset="0"/>
                <a:ea typeface="Calibri" pitchFamily="34" charset="-122"/>
                <a:cs typeface="Calibri" pitchFamily="34" charset="-120"/>
              </a:rPr>
              <a:t> 언급 금지 원칙 준수</a:t>
            </a:r>
            <a:r>
              <a:rPr lang="en-US" altLang="ko-KR" sz="1200" b="1" dirty="0">
                <a:solidFill>
                  <a:srgbClr val="B85042"/>
                </a:solidFill>
                <a:latin typeface="Calibri" pitchFamily="34" charset="0"/>
                <a:ea typeface="Calibri" pitchFamily="34" charset="-122"/>
                <a:cs typeface="Calibri" pitchFamily="34" charset="-120"/>
              </a:rPr>
              <a:t>).</a:t>
            </a:r>
          </a:p>
          <a:p>
            <a:endParaRPr lang="en-US" altLang="ko-KR"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항목학습 습관이 형성된 경우학습 습관이 형성되지 않은 경우학습 </a:t>
            </a:r>
            <a:r>
              <a:rPr lang="ko-KR" altLang="en-US" sz="1200" b="1" dirty="0" err="1">
                <a:solidFill>
                  <a:srgbClr val="B85042"/>
                </a:solidFill>
                <a:latin typeface="Calibri" pitchFamily="34" charset="0"/>
                <a:ea typeface="Calibri" pitchFamily="34" charset="-122"/>
                <a:cs typeface="Calibri" pitchFamily="34" charset="-120"/>
              </a:rPr>
              <a:t>시작정해진</a:t>
            </a:r>
            <a:r>
              <a:rPr lang="ko-KR" altLang="en-US" sz="1200" b="1" dirty="0">
                <a:solidFill>
                  <a:srgbClr val="B85042"/>
                </a:solidFill>
                <a:latin typeface="Calibri" pitchFamily="34" charset="0"/>
                <a:ea typeface="Calibri" pitchFamily="34" charset="-122"/>
                <a:cs typeface="Calibri" pitchFamily="34" charset="-120"/>
              </a:rPr>
              <a:t> 시간에 스스로 책상에 </a:t>
            </a:r>
            <a:r>
              <a:rPr lang="ko-KR" altLang="en-US" sz="1200" b="1" dirty="0" err="1">
                <a:solidFill>
                  <a:srgbClr val="B85042"/>
                </a:solidFill>
                <a:latin typeface="Calibri" pitchFamily="34" charset="0"/>
                <a:ea typeface="Calibri" pitchFamily="34" charset="-122"/>
                <a:cs typeface="Calibri" pitchFamily="34" charset="-120"/>
              </a:rPr>
              <a:t>앉음부모의</a:t>
            </a:r>
            <a:r>
              <a:rPr lang="ko-KR" altLang="en-US" sz="1200" b="1" dirty="0">
                <a:solidFill>
                  <a:srgbClr val="B85042"/>
                </a:solidFill>
                <a:latin typeface="Calibri" pitchFamily="34" charset="0"/>
                <a:ea typeface="Calibri" pitchFamily="34" charset="-122"/>
                <a:cs typeface="Calibri" pitchFamily="34" charset="-120"/>
              </a:rPr>
              <a:t> 안내</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재촉이 있어야 </a:t>
            </a:r>
            <a:r>
              <a:rPr lang="ko-KR" altLang="en-US" sz="1200" b="1" dirty="0" err="1">
                <a:solidFill>
                  <a:srgbClr val="B85042"/>
                </a:solidFill>
                <a:latin typeface="Calibri" pitchFamily="34" charset="0"/>
                <a:ea typeface="Calibri" pitchFamily="34" charset="-122"/>
                <a:cs typeface="Calibri" pitchFamily="34" charset="-120"/>
              </a:rPr>
              <a:t>시작함오답</a:t>
            </a:r>
            <a:r>
              <a:rPr lang="ko-KR" altLang="en-US"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처리어느</a:t>
            </a:r>
            <a:r>
              <a:rPr lang="ko-KR" altLang="en-US" sz="1200" b="1" dirty="0">
                <a:solidFill>
                  <a:srgbClr val="B85042"/>
                </a:solidFill>
                <a:latin typeface="Calibri" pitchFamily="34" charset="0"/>
                <a:ea typeface="Calibri" pitchFamily="34" charset="-122"/>
                <a:cs typeface="Calibri" pitchFamily="34" charset="-120"/>
              </a:rPr>
              <a:t> 부분에서 막혔는지 스스로 확인하려 </a:t>
            </a:r>
            <a:r>
              <a:rPr lang="ko-KR" altLang="en-US" sz="1200" b="1" dirty="0" err="1">
                <a:solidFill>
                  <a:srgbClr val="B85042"/>
                </a:solidFill>
                <a:latin typeface="Calibri" pitchFamily="34" charset="0"/>
                <a:ea typeface="Calibri" pitchFamily="34" charset="-122"/>
                <a:cs typeface="Calibri" pitchFamily="34" charset="-120"/>
              </a:rPr>
              <a:t>함틀린</a:t>
            </a:r>
            <a:r>
              <a:rPr lang="ko-KR" altLang="en-US" sz="1200" b="1" dirty="0">
                <a:solidFill>
                  <a:srgbClr val="B85042"/>
                </a:solidFill>
                <a:latin typeface="Calibri" pitchFamily="34" charset="0"/>
                <a:ea typeface="Calibri" pitchFamily="34" charset="-122"/>
                <a:cs typeface="Calibri" pitchFamily="34" charset="-120"/>
              </a:rPr>
              <a:t> 문제를 다시 풀어도 같은 부분에서 반복 </a:t>
            </a:r>
            <a:r>
              <a:rPr lang="ko-KR" altLang="en-US" sz="1200" b="1" dirty="0" err="1">
                <a:solidFill>
                  <a:srgbClr val="B85042"/>
                </a:solidFill>
                <a:latin typeface="Calibri" pitchFamily="34" charset="0"/>
                <a:ea typeface="Calibri" pitchFamily="34" charset="-122"/>
                <a:cs typeface="Calibri" pitchFamily="34" charset="-120"/>
              </a:rPr>
              <a:t>실수학습량</a:t>
            </a:r>
            <a:r>
              <a:rPr lang="ko-KR" altLang="en-US" sz="1200" b="1" dirty="0">
                <a:solidFill>
                  <a:srgbClr val="B85042"/>
                </a:solidFill>
                <a:latin typeface="Calibri" pitchFamily="34" charset="0"/>
                <a:ea typeface="Calibri" pitchFamily="34" charset="-122"/>
                <a:cs typeface="Calibri" pitchFamily="34" charset="-120"/>
              </a:rPr>
              <a:t> 증가 시기 </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고학년</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늘어난 양에 맞춰 계획을 스스로 </a:t>
            </a:r>
            <a:r>
              <a:rPr lang="ko-KR" altLang="en-US" sz="1200" b="1" dirty="0" err="1">
                <a:solidFill>
                  <a:srgbClr val="B85042"/>
                </a:solidFill>
                <a:latin typeface="Calibri" pitchFamily="34" charset="0"/>
                <a:ea typeface="Calibri" pitchFamily="34" charset="-122"/>
                <a:cs typeface="Calibri" pitchFamily="34" charset="-120"/>
              </a:rPr>
              <a:t>조정갑자기</a:t>
            </a:r>
            <a:r>
              <a:rPr lang="ko-KR" altLang="en-US" sz="1200" b="1" dirty="0">
                <a:solidFill>
                  <a:srgbClr val="B85042"/>
                </a:solidFill>
                <a:latin typeface="Calibri" pitchFamily="34" charset="0"/>
                <a:ea typeface="Calibri" pitchFamily="34" charset="-122"/>
                <a:cs typeface="Calibri" pitchFamily="34" charset="-120"/>
              </a:rPr>
              <a:t> 늘어난 양 앞에서 멈추는 경우가 </a:t>
            </a:r>
            <a:r>
              <a:rPr lang="ko-KR" altLang="en-US" sz="1200" b="1" dirty="0" err="1">
                <a:solidFill>
                  <a:srgbClr val="B85042"/>
                </a:solidFill>
                <a:latin typeface="Calibri" pitchFamily="34" charset="0"/>
                <a:ea typeface="Calibri" pitchFamily="34" charset="-122"/>
                <a:cs typeface="Calibri" pitchFamily="34" charset="-120"/>
              </a:rPr>
              <a:t>많음부모</a:t>
            </a:r>
            <a:r>
              <a:rPr lang="ko-KR" altLang="en-US" sz="1200" b="1" dirty="0">
                <a:solidFill>
                  <a:srgbClr val="B85042"/>
                </a:solidFill>
                <a:latin typeface="Calibri" pitchFamily="34" charset="0"/>
                <a:ea typeface="Calibri" pitchFamily="34" charset="-122"/>
                <a:cs typeface="Calibri" pitchFamily="34" charset="-120"/>
              </a:rPr>
              <a:t> 개입 정도점검 위주로 </a:t>
            </a:r>
            <a:r>
              <a:rPr lang="ko-KR" altLang="en-US" sz="1200" b="1" dirty="0" err="1">
                <a:solidFill>
                  <a:srgbClr val="B85042"/>
                </a:solidFill>
                <a:latin typeface="Calibri" pitchFamily="34" charset="0"/>
                <a:ea typeface="Calibri" pitchFamily="34" charset="-122"/>
                <a:cs typeface="Calibri" pitchFamily="34" charset="-120"/>
              </a:rPr>
              <a:t>줄어듦계획</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실행 전반에 계속 개입 필요학습에 대한 인식</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내가 하는 것</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으로 인식</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시켜서 하는 것</a:t>
            </a:r>
            <a:r>
              <a:rPr lang="en-US" altLang="ko-KR" sz="1200" b="1" dirty="0">
                <a:solidFill>
                  <a:srgbClr val="B85042"/>
                </a:solidFill>
                <a:latin typeface="Calibri" pitchFamily="34" charset="0"/>
                <a:ea typeface="Calibri" pitchFamily="34" charset="-122"/>
                <a:cs typeface="Calibri" pitchFamily="34" charset="-120"/>
              </a:rPr>
              <a:t>"</a:t>
            </a:r>
            <a:r>
              <a:rPr lang="ko-KR" altLang="en-US" sz="1200" b="1" dirty="0">
                <a:solidFill>
                  <a:srgbClr val="B85042"/>
                </a:solidFill>
                <a:latin typeface="Calibri" pitchFamily="34" charset="0"/>
                <a:ea typeface="Calibri" pitchFamily="34" charset="-122"/>
                <a:cs typeface="Calibri" pitchFamily="34" charset="-120"/>
              </a:rPr>
              <a:t>으로 인식변화 </a:t>
            </a:r>
            <a:r>
              <a:rPr lang="ko-KR" altLang="en-US" sz="1200" b="1" dirty="0" err="1">
                <a:solidFill>
                  <a:srgbClr val="B85042"/>
                </a:solidFill>
                <a:latin typeface="Calibri" pitchFamily="34" charset="0"/>
                <a:ea typeface="Calibri" pitchFamily="34" charset="-122"/>
                <a:cs typeface="Calibri" pitchFamily="34" charset="-120"/>
              </a:rPr>
              <a:t>시점저학년부터</a:t>
            </a:r>
            <a:r>
              <a:rPr lang="ko-KR" altLang="en-US" sz="1200" b="1" dirty="0">
                <a:solidFill>
                  <a:srgbClr val="B85042"/>
                </a:solidFill>
                <a:latin typeface="Calibri" pitchFamily="34" charset="0"/>
                <a:ea typeface="Calibri" pitchFamily="34" charset="-122"/>
                <a:cs typeface="Calibri" pitchFamily="34" charset="-120"/>
              </a:rPr>
              <a:t> 누적되어 자연스럽게 </a:t>
            </a:r>
            <a:r>
              <a:rPr lang="ko-KR" altLang="en-US" sz="1200" b="1" dirty="0" err="1">
                <a:solidFill>
                  <a:srgbClr val="B85042"/>
                </a:solidFill>
                <a:latin typeface="Calibri" pitchFamily="34" charset="0"/>
                <a:ea typeface="Calibri" pitchFamily="34" charset="-122"/>
                <a:cs typeface="Calibri" pitchFamily="34" charset="-120"/>
              </a:rPr>
              <a:t>자리잡음고학년</a:t>
            </a:r>
            <a:r>
              <a:rPr lang="ko-KR" altLang="en-US" sz="1200" b="1" dirty="0">
                <a:solidFill>
                  <a:srgbClr val="B85042"/>
                </a:solidFill>
                <a:latin typeface="Calibri" pitchFamily="34" charset="0"/>
                <a:ea typeface="Calibri" pitchFamily="34" charset="-122"/>
                <a:cs typeface="Calibri" pitchFamily="34" charset="-120"/>
              </a:rPr>
              <a:t> 이후 다시 잡으려면 더 많은 시간 필요</a:t>
            </a:r>
          </a:p>
          <a:p>
            <a:endParaRPr lang="ko-KR" altLang="en-US" sz="1200" b="1" dirty="0">
              <a:solidFill>
                <a:srgbClr val="B85042"/>
              </a:solidFill>
              <a:latin typeface="Calibri" pitchFamily="34" charset="0"/>
              <a:ea typeface="Calibri" pitchFamily="34" charset="-122"/>
              <a:cs typeface="Calibri" pitchFamily="34" charset="-120"/>
            </a:endParaRPr>
          </a:p>
          <a:p>
            <a:r>
              <a:rPr lang="ko-KR" altLang="en-US" sz="1200" b="1" dirty="0">
                <a:solidFill>
                  <a:srgbClr val="B85042"/>
                </a:solidFill>
                <a:latin typeface="Calibri" pitchFamily="34" charset="0"/>
                <a:ea typeface="Calibri" pitchFamily="34" charset="-122"/>
                <a:cs typeface="Calibri" pitchFamily="34" charset="-120"/>
              </a:rPr>
              <a:t>⑦ 태그 </a:t>
            </a:r>
            <a:r>
              <a:rPr lang="en-US" altLang="ko-KR" sz="1200" b="1" dirty="0">
                <a:solidFill>
                  <a:srgbClr val="B85042"/>
                </a:solidFill>
                <a:latin typeface="Calibri" pitchFamily="34" charset="0"/>
                <a:ea typeface="Calibri" pitchFamily="34" charset="-122"/>
                <a:cs typeface="Calibri" pitchFamily="34" charset="-120"/>
              </a:rPr>
              <a:t>(10</a:t>
            </a:r>
            <a:r>
              <a:rPr lang="ko-KR" altLang="en-US" sz="1200" b="1" dirty="0">
                <a:solidFill>
                  <a:srgbClr val="B85042"/>
                </a:solidFill>
                <a:latin typeface="Calibri" pitchFamily="34" charset="0"/>
                <a:ea typeface="Calibri" pitchFamily="34" charset="-122"/>
                <a:cs typeface="Calibri" pitchFamily="34" charset="-120"/>
              </a:rPr>
              <a:t>개</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err="1">
                <a:solidFill>
                  <a:srgbClr val="B85042"/>
                </a:solidFill>
                <a:latin typeface="Calibri" pitchFamily="34" charset="0"/>
                <a:ea typeface="Calibri" pitchFamily="34" charset="-122"/>
                <a:cs typeface="Calibri" pitchFamily="34" charset="-120"/>
              </a:rPr>
              <a:t>검색량</a:t>
            </a:r>
            <a:r>
              <a:rPr lang="ko-KR" altLang="en-US" sz="1200" b="1" dirty="0">
                <a:solidFill>
                  <a:srgbClr val="B85042"/>
                </a:solidFill>
                <a:latin typeface="Calibri" pitchFamily="34" charset="0"/>
                <a:ea typeface="Calibri" pitchFamily="34" charset="-122"/>
                <a:cs typeface="Calibri" pitchFamily="34" charset="-120"/>
              </a:rPr>
              <a:t> 순 </a:t>
            </a:r>
            <a:r>
              <a:rPr lang="en-US" altLang="ko-KR" sz="1200" b="1" dirty="0">
                <a:solidFill>
                  <a:srgbClr val="B85042"/>
                </a:solidFill>
                <a:latin typeface="Calibri" pitchFamily="34" charset="0"/>
                <a:ea typeface="Calibri" pitchFamily="34" charset="-122"/>
                <a:cs typeface="Calibri" pitchFamily="34" charset="-120"/>
              </a:rPr>
              <a:t>· </a:t>
            </a:r>
            <a:r>
              <a:rPr lang="ko-KR" altLang="en-US" sz="1200" b="1" dirty="0">
                <a:solidFill>
                  <a:srgbClr val="B85042"/>
                </a:solidFill>
                <a:latin typeface="Calibri" pitchFamily="34" charset="0"/>
                <a:ea typeface="Calibri" pitchFamily="34" charset="-122"/>
                <a:cs typeface="Calibri" pitchFamily="34" charset="-120"/>
              </a:rPr>
              <a:t>추정</a:t>
            </a:r>
            <a:r>
              <a:rPr lang="en-US" altLang="ko-KR" sz="1200" b="1" dirty="0">
                <a:solidFill>
                  <a:srgbClr val="B85042"/>
                </a:solidFill>
                <a:latin typeface="Calibri" pitchFamily="34" charset="0"/>
                <a:ea typeface="Calibri" pitchFamily="34" charset="-122"/>
                <a:cs typeface="Calibri" pitchFamily="34" charset="-120"/>
              </a:rPr>
              <a:t>)</a:t>
            </a:r>
          </a:p>
          <a:p>
            <a:r>
              <a:rPr lang="ko-KR" altLang="en-US" sz="1200" b="1" dirty="0" err="1">
                <a:solidFill>
                  <a:srgbClr val="B85042"/>
                </a:solidFill>
                <a:latin typeface="Calibri" pitchFamily="34" charset="0"/>
                <a:ea typeface="Calibri" pitchFamily="34" charset="-122"/>
                <a:cs typeface="Calibri" pitchFamily="34" charset="-120"/>
              </a:rPr>
              <a:t>순위태그추정</a:t>
            </a:r>
            <a:r>
              <a:rPr lang="ko-KR" altLang="en-US" sz="1200" b="1" dirty="0">
                <a:solidFill>
                  <a:srgbClr val="B85042"/>
                </a:solidFill>
                <a:latin typeface="Calibri" pitchFamily="34" charset="0"/>
                <a:ea typeface="Calibri" pitchFamily="34" charset="-122"/>
                <a:cs typeface="Calibri" pitchFamily="34" charset="-120"/>
              </a:rPr>
              <a:t> 월간 </a:t>
            </a:r>
            <a:r>
              <a:rPr lang="ko-KR" altLang="en-US" sz="1200" b="1" dirty="0" err="1">
                <a:solidFill>
                  <a:srgbClr val="B85042"/>
                </a:solidFill>
                <a:latin typeface="Calibri" pitchFamily="34" charset="0"/>
                <a:ea typeface="Calibri" pitchFamily="34" charset="-122"/>
                <a:cs typeface="Calibri" pitchFamily="34" charset="-120"/>
              </a:rPr>
              <a:t>검색량</a:t>
            </a:r>
            <a:r>
              <a:rPr lang="en-US" altLang="ko-KR" sz="1200" b="1" dirty="0">
                <a:solidFill>
                  <a:srgbClr val="B85042"/>
                </a:solidFill>
                <a:latin typeface="Calibri" pitchFamily="34" charset="0"/>
                <a:ea typeface="Calibri" pitchFamily="34" charset="-122"/>
                <a:cs typeface="Calibri" pitchFamily="34" charset="-120"/>
              </a:rPr>
              <a:t>1</a:t>
            </a:r>
            <a:r>
              <a:rPr lang="ko-KR" altLang="en-US" sz="1200" b="1" dirty="0">
                <a:solidFill>
                  <a:srgbClr val="B85042"/>
                </a:solidFill>
                <a:latin typeface="Calibri" pitchFamily="34" charset="0"/>
                <a:ea typeface="Calibri" pitchFamily="34" charset="-122"/>
                <a:cs typeface="Calibri" pitchFamily="34" charset="-120"/>
              </a:rPr>
              <a:t>초등자기주도학습</a:t>
            </a:r>
            <a:r>
              <a:rPr lang="en-US" altLang="ko-KR" sz="1200" b="1" dirty="0">
                <a:solidFill>
                  <a:srgbClr val="B85042"/>
                </a:solidFill>
                <a:latin typeface="Calibri" pitchFamily="34" charset="0"/>
                <a:ea typeface="Calibri" pitchFamily="34" charset="-122"/>
                <a:cs typeface="Calibri" pitchFamily="34" charset="-120"/>
              </a:rPr>
              <a:t>2,000~3,0002</a:t>
            </a:r>
            <a:r>
              <a:rPr lang="ko-KR" altLang="en-US" sz="1200" b="1" dirty="0">
                <a:solidFill>
                  <a:srgbClr val="B85042"/>
                </a:solidFill>
                <a:latin typeface="Calibri" pitchFamily="34" charset="0"/>
                <a:ea typeface="Calibri" pitchFamily="34" charset="-122"/>
                <a:cs typeface="Calibri" pitchFamily="34" charset="-120"/>
              </a:rPr>
              <a:t>초등학습습관</a:t>
            </a:r>
            <a:r>
              <a:rPr lang="en-US" altLang="ko-KR" sz="1200" b="1" dirty="0">
                <a:solidFill>
                  <a:srgbClr val="B85042"/>
                </a:solidFill>
                <a:latin typeface="Calibri" pitchFamily="34" charset="0"/>
                <a:ea typeface="Calibri" pitchFamily="34" charset="-122"/>
                <a:cs typeface="Calibri" pitchFamily="34" charset="-120"/>
              </a:rPr>
              <a:t>1,200~1,8003</a:t>
            </a:r>
            <a:r>
              <a:rPr lang="ko-KR" altLang="en-US" sz="1200" b="1" dirty="0" err="1">
                <a:solidFill>
                  <a:srgbClr val="B85042"/>
                </a:solidFill>
                <a:latin typeface="Calibri" pitchFamily="34" charset="0"/>
                <a:ea typeface="Calibri" pitchFamily="34" charset="-122"/>
                <a:cs typeface="Calibri" pitchFamily="34" charset="-120"/>
              </a:rPr>
              <a:t>초등저학년공부습관</a:t>
            </a:r>
            <a:r>
              <a:rPr lang="en-US" altLang="ko-KR" sz="1200" b="1" dirty="0">
                <a:solidFill>
                  <a:srgbClr val="B85042"/>
                </a:solidFill>
                <a:latin typeface="Calibri" pitchFamily="34" charset="0"/>
                <a:ea typeface="Calibri" pitchFamily="34" charset="-122"/>
                <a:cs typeface="Calibri" pitchFamily="34" charset="-120"/>
              </a:rPr>
              <a:t>800~1,2004</a:t>
            </a:r>
            <a:r>
              <a:rPr lang="ko-KR" altLang="en-US" sz="1200" b="1" dirty="0">
                <a:solidFill>
                  <a:srgbClr val="B85042"/>
                </a:solidFill>
                <a:latin typeface="Calibri" pitchFamily="34" charset="0"/>
                <a:ea typeface="Calibri" pitchFamily="34" charset="-122"/>
                <a:cs typeface="Calibri" pitchFamily="34" charset="-120"/>
              </a:rPr>
              <a:t>초등</a:t>
            </a:r>
            <a:r>
              <a:rPr lang="en-US" altLang="ko-KR" sz="1200" b="1" dirty="0">
                <a:solidFill>
                  <a:srgbClr val="B85042"/>
                </a:solidFill>
                <a:latin typeface="Calibri" pitchFamily="34" charset="0"/>
                <a:ea typeface="Calibri" pitchFamily="34" charset="-122"/>
                <a:cs typeface="Calibri" pitchFamily="34" charset="-120"/>
              </a:rPr>
              <a:t>1</a:t>
            </a:r>
            <a:r>
              <a:rPr lang="ko-KR" altLang="en-US" sz="1200" b="1" dirty="0">
                <a:solidFill>
                  <a:srgbClr val="B85042"/>
                </a:solidFill>
                <a:latin typeface="Calibri" pitchFamily="34" charset="0"/>
                <a:ea typeface="Calibri" pitchFamily="34" charset="-122"/>
                <a:cs typeface="Calibri" pitchFamily="34" charset="-120"/>
              </a:rPr>
              <a:t>학년공부습관</a:t>
            </a:r>
            <a:r>
              <a:rPr lang="en-US" altLang="ko-KR" sz="1200" b="1" dirty="0">
                <a:solidFill>
                  <a:srgbClr val="B85042"/>
                </a:solidFill>
                <a:latin typeface="Calibri" pitchFamily="34" charset="0"/>
                <a:ea typeface="Calibri" pitchFamily="34" charset="-122"/>
                <a:cs typeface="Calibri" pitchFamily="34" charset="-120"/>
              </a:rPr>
              <a:t>600~9005</a:t>
            </a:r>
            <a:r>
              <a:rPr lang="ko-KR" altLang="en-US" sz="1200" b="1" dirty="0" err="1">
                <a:solidFill>
                  <a:srgbClr val="B85042"/>
                </a:solidFill>
                <a:latin typeface="Calibri" pitchFamily="34" charset="0"/>
                <a:ea typeface="Calibri" pitchFamily="34" charset="-122"/>
                <a:cs typeface="Calibri" pitchFamily="34" charset="-120"/>
              </a:rPr>
              <a:t>공부습관만들기</a:t>
            </a:r>
            <a:r>
              <a:rPr lang="en-US" altLang="ko-KR" sz="1200" b="1" dirty="0">
                <a:solidFill>
                  <a:srgbClr val="B85042"/>
                </a:solidFill>
                <a:latin typeface="Calibri" pitchFamily="34" charset="0"/>
                <a:ea typeface="Calibri" pitchFamily="34" charset="-122"/>
                <a:cs typeface="Calibri" pitchFamily="34" charset="-120"/>
              </a:rPr>
              <a:t>600~9006</a:t>
            </a:r>
            <a:r>
              <a:rPr lang="ko-KR" altLang="en-US" sz="1200" b="1" dirty="0" err="1">
                <a:solidFill>
                  <a:srgbClr val="B85042"/>
                </a:solidFill>
                <a:latin typeface="Calibri" pitchFamily="34" charset="0"/>
                <a:ea typeface="Calibri" pitchFamily="34" charset="-122"/>
                <a:cs typeface="Calibri" pitchFamily="34" charset="-120"/>
              </a:rPr>
              <a:t>초등오답노트</a:t>
            </a:r>
            <a:r>
              <a:rPr lang="en-US" altLang="ko-KR" sz="1200" b="1" dirty="0">
                <a:solidFill>
                  <a:srgbClr val="B85042"/>
                </a:solidFill>
                <a:latin typeface="Calibri" pitchFamily="34" charset="0"/>
                <a:ea typeface="Calibri" pitchFamily="34" charset="-122"/>
                <a:cs typeface="Calibri" pitchFamily="34" charset="-120"/>
              </a:rPr>
              <a:t>500~8007</a:t>
            </a:r>
            <a:r>
              <a:rPr lang="ko-KR" altLang="en-US" sz="1200" b="1" dirty="0" err="1">
                <a:solidFill>
                  <a:srgbClr val="B85042"/>
                </a:solidFill>
                <a:latin typeface="Calibri" pitchFamily="34" charset="0"/>
                <a:ea typeface="Calibri" pitchFamily="34" charset="-122"/>
                <a:cs typeface="Calibri" pitchFamily="34" charset="-120"/>
              </a:rPr>
              <a:t>초등공부습관골든타임</a:t>
            </a:r>
            <a:r>
              <a:rPr lang="en-US" altLang="ko-KR" sz="1200" b="1" dirty="0">
                <a:solidFill>
                  <a:srgbClr val="B85042"/>
                </a:solidFill>
                <a:latin typeface="Calibri" pitchFamily="34" charset="0"/>
                <a:ea typeface="Calibri" pitchFamily="34" charset="-122"/>
                <a:cs typeface="Calibri" pitchFamily="34" charset="-120"/>
              </a:rPr>
              <a:t>300~5008</a:t>
            </a:r>
            <a:r>
              <a:rPr lang="ko-KR" altLang="en-US" sz="1200" b="1" dirty="0" err="1">
                <a:solidFill>
                  <a:srgbClr val="B85042"/>
                </a:solidFill>
                <a:latin typeface="Calibri" pitchFamily="34" charset="0"/>
                <a:ea typeface="Calibri" pitchFamily="34" charset="-122"/>
                <a:cs typeface="Calibri" pitchFamily="34" charset="-120"/>
              </a:rPr>
              <a:t>초등학습지추천</a:t>
            </a:r>
            <a:r>
              <a:rPr lang="en-US" altLang="ko-KR" sz="1200" b="1" dirty="0">
                <a:solidFill>
                  <a:srgbClr val="B85042"/>
                </a:solidFill>
                <a:latin typeface="Calibri" pitchFamily="34" charset="0"/>
                <a:ea typeface="Calibri" pitchFamily="34" charset="-122"/>
                <a:cs typeface="Calibri" pitchFamily="34" charset="-120"/>
              </a:rPr>
              <a:t>800~1,2009</a:t>
            </a:r>
            <a:r>
              <a:rPr lang="ko-KR" altLang="en-US" sz="1200" b="1" dirty="0">
                <a:solidFill>
                  <a:srgbClr val="B85042"/>
                </a:solidFill>
                <a:latin typeface="Calibri" pitchFamily="34" charset="0"/>
                <a:ea typeface="Calibri" pitchFamily="34" charset="-122"/>
                <a:cs typeface="Calibri" pitchFamily="34" charset="-120"/>
              </a:rPr>
              <a:t>초등</a:t>
            </a:r>
            <a:r>
              <a:rPr lang="en-US" altLang="ko-KR" sz="1200" b="1" dirty="0">
                <a:solidFill>
                  <a:srgbClr val="B85042"/>
                </a:solidFill>
                <a:latin typeface="Calibri" pitchFamily="34" charset="0"/>
                <a:ea typeface="Calibri" pitchFamily="34" charset="-122"/>
                <a:cs typeface="Calibri" pitchFamily="34" charset="-120"/>
              </a:rPr>
              <a:t>5</a:t>
            </a:r>
            <a:r>
              <a:rPr lang="ko-KR" altLang="en-US" sz="1200" b="1" dirty="0">
                <a:solidFill>
                  <a:srgbClr val="B85042"/>
                </a:solidFill>
                <a:latin typeface="Calibri" pitchFamily="34" charset="0"/>
                <a:ea typeface="Calibri" pitchFamily="34" charset="-122"/>
                <a:cs typeface="Calibri" pitchFamily="34" charset="-120"/>
              </a:rPr>
              <a:t>학년공부습관</a:t>
            </a:r>
            <a:r>
              <a:rPr lang="en-US" altLang="ko-KR" sz="1200" b="1" dirty="0">
                <a:solidFill>
                  <a:srgbClr val="B85042"/>
                </a:solidFill>
                <a:latin typeface="Calibri" pitchFamily="34" charset="0"/>
                <a:ea typeface="Calibri" pitchFamily="34" charset="-122"/>
                <a:cs typeface="Calibri" pitchFamily="34" charset="-120"/>
              </a:rPr>
              <a:t>400~60010</a:t>
            </a:r>
            <a:r>
              <a:rPr lang="ko-KR" altLang="en-US" sz="1200" b="1" dirty="0">
                <a:solidFill>
                  <a:srgbClr val="B85042"/>
                </a:solidFill>
                <a:latin typeface="Calibri" pitchFamily="34" charset="0"/>
                <a:ea typeface="Calibri" pitchFamily="34" charset="-122"/>
                <a:cs typeface="Calibri" pitchFamily="34" charset="-120"/>
              </a:rPr>
              <a:t>초등학부모고민</a:t>
            </a:r>
            <a:r>
              <a:rPr lang="en-US" altLang="ko-KR" sz="1200" b="1" dirty="0">
                <a:solidFill>
                  <a:srgbClr val="B85042"/>
                </a:solidFill>
                <a:latin typeface="Calibri" pitchFamily="34" charset="0"/>
                <a:ea typeface="Calibri" pitchFamily="34" charset="-122"/>
                <a:cs typeface="Calibri" pitchFamily="34" charset="-120"/>
              </a:rPr>
              <a:t>300~500</a:t>
            </a:r>
            <a:endParaRPr lang="en-US" altLang="ko-KR"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영상제작</a:t>
            </a:r>
            <a:r>
              <a:rPr lang="en-US" dirty="0"/>
              <a:t> </a:t>
            </a:r>
            <a:r>
              <a:rPr lang="en-US" dirty="0" err="1"/>
              <a:t>프롬프트</a:t>
            </a:r>
            <a:r>
              <a:rPr lang="en-US" dirty="0"/>
              <a:t> </a:t>
            </a:r>
          </a:p>
          <a:p>
            <a:endParaRPr lang="en-US" dirty="0"/>
          </a:p>
          <a:p>
            <a:r>
              <a:rPr lang="en-US" dirty="0"/>
              <a:t>[CUT 1] 00:00~00:03 / </a:t>
            </a:r>
            <a:r>
              <a:rPr lang="en-US" dirty="0" err="1"/>
              <a:t>역할</a:t>
            </a:r>
            <a:r>
              <a:rPr lang="en-US" dirty="0"/>
              <a:t>: 훅</a:t>
            </a:r>
          </a:p>
          <a:p>
            <a:r>
              <a:rPr lang="en-US" dirty="0"/>
              <a:t>📝 </a:t>
            </a:r>
            <a:r>
              <a:rPr lang="en-US" dirty="0" err="1"/>
              <a:t>자막</a:t>
            </a:r>
            <a:r>
              <a:rPr lang="en-US" dirty="0"/>
              <a:t>: "★</a:t>
            </a:r>
            <a:r>
              <a:rPr lang="en-US" dirty="0" err="1"/>
              <a:t>사줬는데</a:t>
            </a:r>
            <a:r>
              <a:rPr lang="en-US" dirty="0"/>
              <a:t>, 왜 또 </a:t>
            </a:r>
            <a:r>
              <a:rPr lang="en-US" dirty="0" err="1"/>
              <a:t>제가</a:t>
            </a:r>
            <a:r>
              <a:rPr lang="en-US" dirty="0"/>
              <a:t> </a:t>
            </a:r>
            <a:r>
              <a:rPr lang="en-US" dirty="0" err="1"/>
              <a:t>옆에</a:t>
            </a:r>
            <a:r>
              <a:rPr lang="en-US" dirty="0"/>
              <a:t> </a:t>
            </a:r>
            <a:r>
              <a:rPr lang="en-US" dirty="0" err="1"/>
              <a:t>앉아있죠</a:t>
            </a:r>
            <a:r>
              <a:rPr lang="en-US" dirty="0"/>
              <a:t>?★"</a:t>
            </a:r>
          </a:p>
          <a:p>
            <a:r>
              <a:rPr lang="en-US" dirty="0"/>
              <a:t>🎙 </a:t>
            </a:r>
            <a:r>
              <a:rPr lang="en-US" dirty="0" err="1"/>
              <a:t>나레이션</a:t>
            </a:r>
            <a:r>
              <a:rPr lang="en-US" dirty="0"/>
              <a:t>: "</a:t>
            </a:r>
            <a:r>
              <a:rPr lang="en-US" dirty="0" err="1"/>
              <a:t>분명</a:t>
            </a:r>
            <a:r>
              <a:rPr lang="en-US" dirty="0"/>
              <a:t> </a:t>
            </a:r>
            <a:r>
              <a:rPr lang="en-US" dirty="0" err="1"/>
              <a:t>알아서</a:t>
            </a:r>
            <a:r>
              <a:rPr lang="en-US" dirty="0"/>
              <a:t> 할 줄 </a:t>
            </a:r>
            <a:r>
              <a:rPr lang="en-US" dirty="0" err="1"/>
              <a:t>알았는데</a:t>
            </a:r>
            <a:r>
              <a:rPr lang="en-US" dirty="0"/>
              <a:t>..."</a:t>
            </a:r>
          </a:p>
          <a:p>
            <a:r>
              <a:rPr lang="en-US" dirty="0"/>
              <a:t>🎬 </a:t>
            </a:r>
            <a:r>
              <a:rPr lang="en-US" dirty="0" err="1"/>
              <a:t>장면</a:t>
            </a:r>
            <a:r>
              <a:rPr lang="en-US" dirty="0"/>
              <a:t> </a:t>
            </a:r>
            <a:r>
              <a:rPr lang="en-US" dirty="0" err="1"/>
              <a:t>연출</a:t>
            </a:r>
            <a:endParaRPr lang="en-US" dirty="0"/>
          </a:p>
          <a:p>
            <a:endParaRPr lang="en-US" dirty="0"/>
          </a:p>
          <a:p>
            <a:r>
              <a:rPr lang="en-US" dirty="0" err="1"/>
              <a:t>저녁</a:t>
            </a:r>
            <a:r>
              <a:rPr lang="en-US" dirty="0"/>
              <a:t> </a:t>
            </a:r>
            <a:r>
              <a:rPr lang="en-US" dirty="0" err="1"/>
              <a:t>식탁</a:t>
            </a:r>
            <a:r>
              <a:rPr lang="en-US" dirty="0"/>
              <a:t>, </a:t>
            </a:r>
            <a:r>
              <a:rPr lang="en-US" dirty="0" err="1"/>
              <a:t>펼쳐지지</a:t>
            </a:r>
            <a:r>
              <a:rPr lang="en-US" dirty="0"/>
              <a:t> </a:t>
            </a:r>
            <a:r>
              <a:rPr lang="en-US" dirty="0" err="1"/>
              <a:t>않은</a:t>
            </a:r>
            <a:r>
              <a:rPr lang="en-US" dirty="0"/>
              <a:t> </a:t>
            </a:r>
            <a:r>
              <a:rPr lang="en-US" dirty="0" err="1"/>
              <a:t>문제집을</a:t>
            </a:r>
            <a:r>
              <a:rPr lang="en-US" dirty="0"/>
              <a:t> </a:t>
            </a:r>
            <a:r>
              <a:rPr lang="en-US" dirty="0" err="1"/>
              <a:t>빠르게</a:t>
            </a:r>
            <a:r>
              <a:rPr lang="en-US" dirty="0"/>
              <a:t> </a:t>
            </a:r>
            <a:r>
              <a:rPr lang="en-US" dirty="0" err="1"/>
              <a:t>클로즈업</a:t>
            </a:r>
            <a:endParaRPr lang="en-US" dirty="0"/>
          </a:p>
          <a:p>
            <a:r>
              <a:rPr lang="en-US" dirty="0" err="1"/>
              <a:t>편집</a:t>
            </a:r>
            <a:r>
              <a:rPr lang="en-US" dirty="0"/>
              <a:t> </a:t>
            </a:r>
            <a:r>
              <a:rPr lang="en-US" dirty="0" err="1"/>
              <a:t>포인트</a:t>
            </a:r>
            <a:r>
              <a:rPr lang="en-US" dirty="0"/>
              <a:t>: 0.5초 </a:t>
            </a:r>
            <a:r>
              <a:rPr lang="en-US" dirty="0" err="1"/>
              <a:t>만에</a:t>
            </a:r>
            <a:r>
              <a:rPr lang="en-US" dirty="0"/>
              <a:t> </a:t>
            </a:r>
            <a:r>
              <a:rPr lang="en-US" dirty="0" err="1"/>
              <a:t>자막</a:t>
            </a:r>
            <a:r>
              <a:rPr lang="en-US" dirty="0"/>
              <a:t> </a:t>
            </a:r>
            <a:r>
              <a:rPr lang="en-US" dirty="0" err="1"/>
              <a:t>등장</a:t>
            </a:r>
            <a:r>
              <a:rPr lang="en-US" dirty="0"/>
              <a:t>, </a:t>
            </a:r>
            <a:r>
              <a:rPr lang="en-US" dirty="0" err="1"/>
              <a:t>강렬한</a:t>
            </a:r>
            <a:r>
              <a:rPr lang="en-US" dirty="0"/>
              <a:t> </a:t>
            </a:r>
            <a:r>
              <a:rPr lang="en-US" dirty="0" err="1"/>
              <a:t>시작음</a:t>
            </a:r>
            <a:r>
              <a:rPr lang="en-US" dirty="0"/>
              <a:t>(딱 </a:t>
            </a:r>
            <a:r>
              <a:rPr lang="en-US" dirty="0" err="1"/>
              <a:t>소리</a:t>
            </a:r>
            <a:r>
              <a:rPr lang="en-US" dirty="0"/>
              <a:t>)</a:t>
            </a:r>
            <a:r>
              <a:rPr lang="en-US" dirty="0" err="1"/>
              <a:t>으로</a:t>
            </a:r>
            <a:r>
              <a:rPr lang="en-US" dirty="0"/>
              <a:t> </a:t>
            </a:r>
            <a:r>
              <a:rPr lang="en-US" dirty="0" err="1"/>
              <a:t>시선</a:t>
            </a:r>
            <a:r>
              <a:rPr lang="en-US" dirty="0"/>
              <a:t> </a:t>
            </a:r>
            <a:r>
              <a:rPr lang="en-US" dirty="0" err="1"/>
              <a:t>고정</a:t>
            </a:r>
            <a:endParaRPr lang="en-US" dirty="0"/>
          </a:p>
          <a:p>
            <a:endParaRPr lang="en-US" dirty="0"/>
          </a:p>
          <a:p>
            <a:r>
              <a:rPr lang="en-US" dirty="0"/>
              <a:t>🖼 AI </a:t>
            </a:r>
            <a:r>
              <a:rPr lang="en-US" dirty="0" err="1"/>
              <a:t>영상</a:t>
            </a:r>
            <a:r>
              <a:rPr lang="en-US" dirty="0"/>
              <a:t> </a:t>
            </a:r>
            <a:r>
              <a:rPr lang="en-US" dirty="0" err="1"/>
              <a:t>프롬프트</a:t>
            </a:r>
            <a:r>
              <a:rPr lang="en-US" dirty="0"/>
              <a:t> (</a:t>
            </a:r>
            <a:r>
              <a:rPr lang="en-US" dirty="0" err="1"/>
              <a:t>영문</a:t>
            </a:r>
            <a:r>
              <a:rPr lang="en-US" dirty="0"/>
              <a:t>)</a:t>
            </a:r>
          </a:p>
          <a:p>
            <a:endParaRPr lang="en-US" dirty="0"/>
          </a:p>
          <a:p>
            <a:r>
              <a:rPr lang="en-US" dirty="0"/>
              <a:t>Camera: Handheld smartphone-style vertical shot, close-up angle</a:t>
            </a:r>
          </a:p>
          <a:p>
            <a:r>
              <a:rPr lang="en-US" dirty="0"/>
              <a:t>Lens: 35mm equivalent, shallow depth of field</a:t>
            </a:r>
          </a:p>
          <a:p>
            <a:r>
              <a:rPr lang="en-US" dirty="0"/>
              <a:t>Motion: Quick push-in zoom toward the workbook</a:t>
            </a:r>
          </a:p>
          <a:p>
            <a:r>
              <a:rPr lang="en-US" dirty="0"/>
              <a:t>Lighting: Warm evening kitchen light, slightly dim</a:t>
            </a:r>
          </a:p>
          <a:p>
            <a:r>
              <a:rPr lang="en-US" dirty="0"/>
              <a:t>Subject: Unopened workbook and tablet on a dinner table, no faces shown</a:t>
            </a:r>
          </a:p>
          <a:p>
            <a:r>
              <a:rPr lang="en-US" dirty="0"/>
              <a:t>Environment: Korean home dinner table, evening setting</a:t>
            </a:r>
          </a:p>
          <a:p>
            <a:r>
              <a:rPr lang="en-US" dirty="0"/>
              <a:t>Mood: Slightly tense, relatable, quiet tiredness</a:t>
            </a:r>
          </a:p>
          <a:p>
            <a:endParaRPr lang="en-US" dirty="0"/>
          </a:p>
          <a:p>
            <a:r>
              <a:rPr lang="en-US" dirty="0" err="1"/>
              <a:t>완성</a:t>
            </a:r>
            <a:r>
              <a:rPr lang="en-US" dirty="0"/>
              <a:t> </a:t>
            </a:r>
            <a:r>
              <a:rPr lang="en-US" dirty="0" err="1"/>
              <a:t>프롬프트</a:t>
            </a:r>
            <a:r>
              <a:rPr lang="en-US" dirty="0"/>
              <a:t>: "Vertical 9:16 video, handheld close-up shot with shallow depth of field, quick push-in zoom toward an unopened workbook and tablet on a dinner table, warm dim evening kitchen lighting, no faces visible, realistic home documentary style, quiet and slightly tense mood"</a:t>
            </a:r>
          </a:p>
          <a:p>
            <a:endParaRPr lang="en-US" dirty="0"/>
          </a:p>
          <a:p>
            <a:r>
              <a:rPr lang="en-US" dirty="0"/>
              <a:t>────────────────────────</a:t>
            </a:r>
          </a:p>
          <a:p>
            <a:r>
              <a:rPr lang="en-US" dirty="0"/>
              <a:t>────────────────────────</a:t>
            </a:r>
          </a:p>
          <a:p>
            <a:endParaRPr lang="en-US" dirty="0"/>
          </a:p>
          <a:p>
            <a:r>
              <a:rPr lang="en-US" dirty="0"/>
              <a:t>[CUT 2] 00:03~00:15 / </a:t>
            </a:r>
            <a:r>
              <a:rPr lang="en-US" dirty="0" err="1"/>
              <a:t>역할</a:t>
            </a:r>
            <a:r>
              <a:rPr lang="en-US" dirty="0"/>
              <a:t>: </a:t>
            </a:r>
            <a:r>
              <a:rPr lang="en-US" dirty="0" err="1"/>
              <a:t>공감</a:t>
            </a:r>
            <a:endParaRPr lang="en-US" dirty="0"/>
          </a:p>
          <a:p>
            <a:r>
              <a:rPr lang="en-US" dirty="0"/>
              <a:t>📝 </a:t>
            </a:r>
            <a:r>
              <a:rPr lang="en-US" dirty="0" err="1"/>
              <a:t>자막</a:t>
            </a:r>
            <a:r>
              <a:rPr lang="en-US" dirty="0"/>
              <a:t>: "</a:t>
            </a:r>
            <a:r>
              <a:rPr lang="en-US" dirty="0" err="1"/>
              <a:t>도구만</a:t>
            </a:r>
            <a:r>
              <a:rPr lang="en-US" dirty="0"/>
              <a:t> </a:t>
            </a:r>
            <a:r>
              <a:rPr lang="en-US" dirty="0" err="1"/>
              <a:t>바꾸면</a:t>
            </a:r>
            <a:r>
              <a:rPr lang="en-US" dirty="0"/>
              <a:t> </a:t>
            </a:r>
            <a:r>
              <a:rPr lang="en-US" dirty="0" err="1"/>
              <a:t>달라질</a:t>
            </a:r>
            <a:r>
              <a:rPr lang="en-US" dirty="0"/>
              <a:t> 줄 </a:t>
            </a:r>
            <a:r>
              <a:rPr lang="en-US" dirty="0" err="1"/>
              <a:t>알았는데</a:t>
            </a:r>
            <a:r>
              <a:rPr lang="en-US" dirty="0"/>
              <a:t>... ★</a:t>
            </a:r>
            <a:r>
              <a:rPr lang="en-US" dirty="0" err="1"/>
              <a:t>똑같았어요</a:t>
            </a:r>
            <a:r>
              <a:rPr lang="en-US" dirty="0"/>
              <a:t>★"</a:t>
            </a:r>
          </a:p>
          <a:p>
            <a:r>
              <a:rPr lang="en-US" dirty="0"/>
              <a:t>🎙 </a:t>
            </a:r>
            <a:r>
              <a:rPr lang="en-US" dirty="0" err="1"/>
              <a:t>나레이션</a:t>
            </a:r>
            <a:r>
              <a:rPr lang="en-US" dirty="0"/>
              <a:t>: "</a:t>
            </a:r>
            <a:r>
              <a:rPr lang="en-US" dirty="0" err="1"/>
              <a:t>패드도</a:t>
            </a:r>
            <a:r>
              <a:rPr lang="en-US" dirty="0"/>
              <a:t> </a:t>
            </a:r>
            <a:r>
              <a:rPr lang="en-US" dirty="0" err="1"/>
              <a:t>사주고</a:t>
            </a:r>
            <a:r>
              <a:rPr lang="en-US" dirty="0"/>
              <a:t>, </a:t>
            </a:r>
            <a:r>
              <a:rPr lang="en-US" dirty="0" err="1"/>
              <a:t>문제집도</a:t>
            </a:r>
            <a:r>
              <a:rPr lang="en-US" dirty="0"/>
              <a:t> </a:t>
            </a:r>
            <a:r>
              <a:rPr lang="en-US" dirty="0" err="1"/>
              <a:t>새로</a:t>
            </a:r>
            <a:r>
              <a:rPr lang="en-US" dirty="0"/>
              <a:t> </a:t>
            </a:r>
            <a:r>
              <a:rPr lang="en-US" dirty="0" err="1"/>
              <a:t>바꿔봤는데</a:t>
            </a:r>
            <a:r>
              <a:rPr lang="en-US" dirty="0"/>
              <a:t>... </a:t>
            </a:r>
            <a:r>
              <a:rPr lang="en-US" dirty="0" err="1"/>
              <a:t>결국</a:t>
            </a:r>
            <a:r>
              <a:rPr lang="en-US" dirty="0"/>
              <a:t> </a:t>
            </a:r>
            <a:r>
              <a:rPr lang="en-US" dirty="0" err="1"/>
              <a:t>제가</a:t>
            </a:r>
            <a:r>
              <a:rPr lang="en-US" dirty="0"/>
              <a:t> </a:t>
            </a:r>
            <a:r>
              <a:rPr lang="en-US" dirty="0" err="1"/>
              <a:t>옆에서</a:t>
            </a:r>
            <a:r>
              <a:rPr lang="en-US" dirty="0"/>
              <a:t> </a:t>
            </a:r>
            <a:r>
              <a:rPr lang="en-US" dirty="0" err="1"/>
              <a:t>봐줘야</a:t>
            </a:r>
            <a:r>
              <a:rPr lang="en-US" dirty="0"/>
              <a:t> </a:t>
            </a:r>
            <a:r>
              <a:rPr lang="en-US" dirty="0" err="1"/>
              <a:t>시작하더라고요</a:t>
            </a:r>
            <a:r>
              <a:rPr lang="en-US" dirty="0"/>
              <a:t>."</a:t>
            </a:r>
          </a:p>
          <a:p>
            <a:r>
              <a:rPr lang="en-US" dirty="0"/>
              <a:t>🎬 </a:t>
            </a:r>
            <a:r>
              <a:rPr lang="en-US" dirty="0" err="1"/>
              <a:t>장면</a:t>
            </a:r>
            <a:r>
              <a:rPr lang="en-US" dirty="0"/>
              <a:t> </a:t>
            </a:r>
            <a:r>
              <a:rPr lang="en-US" dirty="0" err="1"/>
              <a:t>연출</a:t>
            </a:r>
            <a:endParaRPr lang="en-US" dirty="0"/>
          </a:p>
          <a:p>
            <a:endParaRPr lang="en-US" dirty="0"/>
          </a:p>
          <a:p>
            <a:r>
              <a:rPr lang="en-US" dirty="0" err="1"/>
              <a:t>엄마가</a:t>
            </a:r>
            <a:r>
              <a:rPr lang="en-US" dirty="0"/>
              <a:t> </a:t>
            </a:r>
            <a:r>
              <a:rPr lang="en-US" dirty="0" err="1"/>
              <a:t>아이</a:t>
            </a:r>
            <a:r>
              <a:rPr lang="en-US" dirty="0"/>
              <a:t> </a:t>
            </a:r>
            <a:r>
              <a:rPr lang="en-US" dirty="0" err="1"/>
              <a:t>옆에</a:t>
            </a:r>
            <a:r>
              <a:rPr lang="en-US" dirty="0"/>
              <a:t> </a:t>
            </a:r>
            <a:r>
              <a:rPr lang="en-US" dirty="0" err="1"/>
              <a:t>앉아</a:t>
            </a:r>
            <a:r>
              <a:rPr lang="en-US" dirty="0"/>
              <a:t> </a:t>
            </a:r>
            <a:r>
              <a:rPr lang="en-US" dirty="0" err="1"/>
              <a:t>문제집을</a:t>
            </a:r>
            <a:r>
              <a:rPr lang="en-US" dirty="0"/>
              <a:t> </a:t>
            </a:r>
            <a:r>
              <a:rPr lang="en-US" dirty="0" err="1"/>
              <a:t>펼쳐주는</a:t>
            </a:r>
            <a:r>
              <a:rPr lang="en-US" dirty="0"/>
              <a:t> </a:t>
            </a:r>
            <a:r>
              <a:rPr lang="en-US" dirty="0" err="1"/>
              <a:t>장면</a:t>
            </a:r>
            <a:r>
              <a:rPr lang="en-US" dirty="0"/>
              <a:t> (</a:t>
            </a:r>
            <a:r>
              <a:rPr lang="en-US" dirty="0" err="1"/>
              <a:t>얼굴</a:t>
            </a:r>
            <a:r>
              <a:rPr lang="en-US" dirty="0"/>
              <a:t> </a:t>
            </a:r>
            <a:r>
              <a:rPr lang="en-US" dirty="0" err="1"/>
              <a:t>노출</a:t>
            </a:r>
            <a:r>
              <a:rPr lang="en-US" dirty="0"/>
              <a:t> </a:t>
            </a:r>
            <a:r>
              <a:rPr lang="en-US" dirty="0" err="1"/>
              <a:t>최소화</a:t>
            </a:r>
            <a:r>
              <a:rPr lang="en-US" dirty="0"/>
              <a:t>, </a:t>
            </a:r>
            <a:r>
              <a:rPr lang="en-US" dirty="0" err="1"/>
              <a:t>손과</a:t>
            </a:r>
            <a:r>
              <a:rPr lang="en-US" dirty="0"/>
              <a:t> </a:t>
            </a:r>
            <a:r>
              <a:rPr lang="en-US" dirty="0" err="1"/>
              <a:t>어깨</a:t>
            </a:r>
            <a:r>
              <a:rPr lang="en-US" dirty="0"/>
              <a:t> </a:t>
            </a:r>
            <a:r>
              <a:rPr lang="en-US" dirty="0" err="1"/>
              <a:t>위주</a:t>
            </a:r>
            <a:r>
              <a:rPr lang="en-US" dirty="0"/>
              <a:t>)</a:t>
            </a:r>
          </a:p>
          <a:p>
            <a:r>
              <a:rPr lang="en-US" dirty="0" err="1"/>
              <a:t>편집</a:t>
            </a:r>
            <a:r>
              <a:rPr lang="en-US" dirty="0"/>
              <a:t> </a:t>
            </a:r>
            <a:r>
              <a:rPr lang="en-US" dirty="0" err="1"/>
              <a:t>포인트</a:t>
            </a:r>
            <a:r>
              <a:rPr lang="en-US" dirty="0"/>
              <a:t>: </a:t>
            </a:r>
            <a:r>
              <a:rPr lang="en-US" dirty="0" err="1"/>
              <a:t>자막은</a:t>
            </a:r>
            <a:r>
              <a:rPr lang="en-US" dirty="0"/>
              <a:t> 2단계로 </a:t>
            </a:r>
            <a:r>
              <a:rPr lang="en-US" dirty="0" err="1"/>
              <a:t>분리</a:t>
            </a:r>
            <a:r>
              <a:rPr lang="en-US" dirty="0"/>
              <a:t> </a:t>
            </a:r>
            <a:r>
              <a:rPr lang="en-US" dirty="0" err="1"/>
              <a:t>등장</a:t>
            </a:r>
            <a:r>
              <a:rPr lang="en-US" dirty="0"/>
              <a:t> ("</a:t>
            </a:r>
            <a:r>
              <a:rPr lang="en-US" dirty="0" err="1"/>
              <a:t>도구만</a:t>
            </a:r>
            <a:r>
              <a:rPr lang="en-US" dirty="0"/>
              <a:t> </a:t>
            </a:r>
            <a:r>
              <a:rPr lang="en-US" dirty="0" err="1"/>
              <a:t>바꾸면</a:t>
            </a:r>
            <a:r>
              <a:rPr lang="en-US" dirty="0"/>
              <a:t>..." → "</a:t>
            </a:r>
            <a:r>
              <a:rPr lang="en-US" dirty="0" err="1"/>
              <a:t>똑같았어요</a:t>
            </a:r>
            <a:r>
              <a:rPr lang="en-US" dirty="0"/>
              <a:t>" </a:t>
            </a:r>
            <a:r>
              <a:rPr lang="en-US" dirty="0" err="1"/>
              <a:t>강조</a:t>
            </a:r>
            <a:r>
              <a:rPr lang="en-US" dirty="0"/>
              <a:t> </a:t>
            </a:r>
            <a:r>
              <a:rPr lang="en-US" dirty="0" err="1"/>
              <a:t>확대</a:t>
            </a:r>
            <a:r>
              <a:rPr lang="en-US" dirty="0"/>
              <a:t>)</a:t>
            </a:r>
          </a:p>
          <a:p>
            <a:endParaRPr lang="en-US" dirty="0"/>
          </a:p>
          <a:p>
            <a:r>
              <a:rPr lang="en-US" dirty="0"/>
              <a:t>🖼 AI </a:t>
            </a:r>
            <a:r>
              <a:rPr lang="en-US" dirty="0" err="1"/>
              <a:t>영상</a:t>
            </a:r>
            <a:r>
              <a:rPr lang="en-US" dirty="0"/>
              <a:t> </a:t>
            </a:r>
            <a:r>
              <a:rPr lang="en-US" dirty="0" err="1"/>
              <a:t>프롬프트</a:t>
            </a:r>
            <a:r>
              <a:rPr lang="en-US" dirty="0"/>
              <a:t> (</a:t>
            </a:r>
            <a:r>
              <a:rPr lang="en-US" dirty="0" err="1"/>
              <a:t>영문</a:t>
            </a:r>
            <a:r>
              <a:rPr lang="en-US" dirty="0"/>
              <a:t>)</a:t>
            </a:r>
          </a:p>
          <a:p>
            <a:endParaRPr lang="en-US" dirty="0"/>
          </a:p>
          <a:p>
            <a:r>
              <a:rPr lang="en-US" dirty="0"/>
              <a:t>Camera: Medium shot, slightly elevated angle</a:t>
            </a:r>
          </a:p>
          <a:p>
            <a:r>
              <a:rPr lang="en-US" dirty="0"/>
              <a:t>Lens: 50mm equivalent, soft focus background</a:t>
            </a:r>
          </a:p>
          <a:p>
            <a:r>
              <a:rPr lang="en-US" dirty="0"/>
              <a:t>Motion: Slow handheld movement, slight sway</a:t>
            </a:r>
          </a:p>
          <a:p>
            <a:r>
              <a:rPr lang="en-US" dirty="0"/>
              <a:t>Lighting: Warm table lamp lighting, soft shadows</a:t>
            </a:r>
          </a:p>
          <a:p>
            <a:r>
              <a:rPr lang="en-US" dirty="0"/>
              <a:t>Subject: A parent's hand opening a workbook next to a child, faces not fully shown</a:t>
            </a:r>
          </a:p>
          <a:p>
            <a:r>
              <a:rPr lang="en-US" dirty="0"/>
              <a:t>Environment: Home study table, evening</a:t>
            </a:r>
          </a:p>
          <a:p>
            <a:r>
              <a:rPr lang="en-US" dirty="0"/>
              <a:t>Mood: Warm, tired but caring, relatable</a:t>
            </a:r>
          </a:p>
          <a:p>
            <a:endParaRPr lang="en-US" dirty="0"/>
          </a:p>
          <a:p>
            <a:r>
              <a:rPr lang="en-US" dirty="0" err="1"/>
              <a:t>완성</a:t>
            </a:r>
            <a:r>
              <a:rPr lang="en-US" dirty="0"/>
              <a:t> </a:t>
            </a:r>
            <a:r>
              <a:rPr lang="en-US" dirty="0" err="1"/>
              <a:t>프롬프트</a:t>
            </a:r>
            <a:r>
              <a:rPr lang="en-US" dirty="0"/>
              <a:t>: "Vertical 9:16 video, medium shot from a slightly elevated angle with soft 50mm-style focus, slow handheld movement, warm table lamp lighting with soft shadows, a parent's hand opening a workbook next to a child at a home study table in the evening, faces not fully shown, warm and relatable mood"</a:t>
            </a:r>
          </a:p>
          <a:p>
            <a:endParaRPr lang="en-US" dirty="0"/>
          </a:p>
          <a:p>
            <a:r>
              <a:rPr lang="en-US" dirty="0"/>
              <a:t>────────────────────────</a:t>
            </a:r>
          </a:p>
          <a:p>
            <a:r>
              <a:rPr lang="en-US" dirty="0"/>
              <a:t>────────────────────────</a:t>
            </a:r>
          </a:p>
          <a:p>
            <a:endParaRPr lang="en-US" dirty="0"/>
          </a:p>
          <a:p>
            <a:r>
              <a:rPr lang="en-US" dirty="0"/>
              <a:t>[CUT 3] 00:15~00:35 / </a:t>
            </a:r>
            <a:r>
              <a:rPr lang="en-US" dirty="0" err="1"/>
              <a:t>역할</a:t>
            </a:r>
            <a:r>
              <a:rPr lang="en-US" dirty="0"/>
              <a:t>: </a:t>
            </a:r>
            <a:r>
              <a:rPr lang="en-US" dirty="0" err="1"/>
              <a:t>문제</a:t>
            </a:r>
            <a:endParaRPr lang="en-US" dirty="0"/>
          </a:p>
          <a:p>
            <a:r>
              <a:rPr lang="en-US" dirty="0"/>
              <a:t>📝 </a:t>
            </a:r>
            <a:r>
              <a:rPr lang="en-US" dirty="0" err="1"/>
              <a:t>자막</a:t>
            </a:r>
            <a:r>
              <a:rPr lang="en-US" dirty="0"/>
              <a:t>: "</a:t>
            </a:r>
            <a:r>
              <a:rPr lang="en-US" dirty="0" err="1"/>
              <a:t>이대로</a:t>
            </a:r>
            <a:r>
              <a:rPr lang="en-US" dirty="0"/>
              <a:t> </a:t>
            </a:r>
            <a:r>
              <a:rPr lang="en-US" dirty="0" err="1"/>
              <a:t>고학년</a:t>
            </a:r>
            <a:r>
              <a:rPr lang="en-US" dirty="0"/>
              <a:t> </a:t>
            </a:r>
            <a:r>
              <a:rPr lang="en-US" dirty="0" err="1"/>
              <a:t>되면</a:t>
            </a:r>
            <a:r>
              <a:rPr lang="en-US" dirty="0"/>
              <a:t>... ★</a:t>
            </a:r>
            <a:r>
              <a:rPr lang="en-US" dirty="0" err="1"/>
              <a:t>혼자</a:t>
            </a:r>
            <a:r>
              <a:rPr lang="en-US" dirty="0"/>
              <a:t> 못 </a:t>
            </a:r>
            <a:r>
              <a:rPr lang="en-US" dirty="0" err="1"/>
              <a:t>챙길</a:t>
            </a:r>
            <a:r>
              <a:rPr lang="en-US" dirty="0"/>
              <a:t> 것 </a:t>
            </a:r>
            <a:r>
              <a:rPr lang="en-US" dirty="0" err="1"/>
              <a:t>같은데</a:t>
            </a:r>
            <a:r>
              <a:rPr lang="en-US" dirty="0"/>
              <a:t>★"</a:t>
            </a:r>
          </a:p>
          <a:p>
            <a:r>
              <a:rPr lang="en-US" dirty="0"/>
              <a:t>🎙 </a:t>
            </a:r>
            <a:r>
              <a:rPr lang="en-US" dirty="0" err="1"/>
              <a:t>나레이션</a:t>
            </a:r>
            <a:r>
              <a:rPr lang="en-US" dirty="0"/>
              <a:t>: "</a:t>
            </a:r>
            <a:r>
              <a:rPr lang="en-US" dirty="0" err="1"/>
              <a:t>지금은</a:t>
            </a:r>
            <a:r>
              <a:rPr lang="en-US" dirty="0"/>
              <a:t> </a:t>
            </a:r>
            <a:r>
              <a:rPr lang="en-US" dirty="0" err="1"/>
              <a:t>그래도</a:t>
            </a:r>
            <a:r>
              <a:rPr lang="en-US" dirty="0"/>
              <a:t> </a:t>
            </a:r>
            <a:r>
              <a:rPr lang="en-US" dirty="0" err="1"/>
              <a:t>옆에서</a:t>
            </a:r>
            <a:r>
              <a:rPr lang="en-US" dirty="0"/>
              <a:t> </a:t>
            </a:r>
            <a:r>
              <a:rPr lang="en-US" dirty="0" err="1"/>
              <a:t>봐주니까</a:t>
            </a:r>
            <a:r>
              <a:rPr lang="en-US" dirty="0"/>
              <a:t> </a:t>
            </a:r>
            <a:r>
              <a:rPr lang="en-US" dirty="0" err="1"/>
              <a:t>어떻게든</a:t>
            </a:r>
            <a:r>
              <a:rPr lang="en-US" dirty="0"/>
              <a:t> </a:t>
            </a:r>
            <a:r>
              <a:rPr lang="en-US" dirty="0" err="1"/>
              <a:t>되는데</a:t>
            </a:r>
            <a:r>
              <a:rPr lang="en-US" dirty="0"/>
              <a:t>, </a:t>
            </a:r>
            <a:r>
              <a:rPr lang="en-US" dirty="0" err="1"/>
              <a:t>학년</a:t>
            </a:r>
            <a:r>
              <a:rPr lang="en-US" dirty="0"/>
              <a:t> </a:t>
            </a:r>
            <a:r>
              <a:rPr lang="en-US" dirty="0" err="1"/>
              <a:t>올라가서</a:t>
            </a:r>
            <a:r>
              <a:rPr lang="en-US" dirty="0"/>
              <a:t> 양 </a:t>
            </a:r>
            <a:r>
              <a:rPr lang="en-US" dirty="0" err="1"/>
              <a:t>많아지면</a:t>
            </a:r>
            <a:r>
              <a:rPr lang="en-US" dirty="0"/>
              <a:t>... </a:t>
            </a:r>
            <a:r>
              <a:rPr lang="en-US" dirty="0" err="1"/>
              <a:t>그때도</a:t>
            </a:r>
            <a:r>
              <a:rPr lang="en-US" dirty="0"/>
              <a:t> </a:t>
            </a:r>
            <a:r>
              <a:rPr lang="en-US" dirty="0" err="1"/>
              <a:t>제가</a:t>
            </a:r>
            <a:r>
              <a:rPr lang="en-US" dirty="0"/>
              <a:t> 다 </a:t>
            </a:r>
            <a:r>
              <a:rPr lang="en-US" dirty="0" err="1"/>
              <a:t>봐줄</a:t>
            </a:r>
            <a:r>
              <a:rPr lang="en-US" dirty="0"/>
              <a:t> 수 </a:t>
            </a:r>
            <a:r>
              <a:rPr lang="en-US" dirty="0" err="1"/>
              <a:t>있을까요</a:t>
            </a:r>
            <a:r>
              <a:rPr lang="en-US" dirty="0"/>
              <a:t>?"</a:t>
            </a:r>
          </a:p>
          <a:p>
            <a:r>
              <a:rPr lang="en-US" dirty="0"/>
              <a:t>🎬 </a:t>
            </a:r>
            <a:r>
              <a:rPr lang="en-US" dirty="0" err="1"/>
              <a:t>장면</a:t>
            </a:r>
            <a:r>
              <a:rPr lang="en-US" dirty="0"/>
              <a:t> </a:t>
            </a:r>
            <a:r>
              <a:rPr lang="en-US" dirty="0" err="1"/>
              <a:t>연출</a:t>
            </a:r>
            <a:endParaRPr lang="en-US" dirty="0"/>
          </a:p>
          <a:p>
            <a:endParaRPr lang="en-US" dirty="0"/>
          </a:p>
          <a:p>
            <a:r>
              <a:rPr lang="en-US" dirty="0" err="1"/>
              <a:t>시험지에</a:t>
            </a:r>
            <a:r>
              <a:rPr lang="en-US" dirty="0"/>
              <a:t> </a:t>
            </a:r>
            <a:r>
              <a:rPr lang="en-US" dirty="0" err="1"/>
              <a:t>빨간</a:t>
            </a:r>
            <a:r>
              <a:rPr lang="en-US" dirty="0"/>
              <a:t> </a:t>
            </a:r>
            <a:r>
              <a:rPr lang="en-US" dirty="0" err="1"/>
              <a:t>채점</a:t>
            </a:r>
            <a:r>
              <a:rPr lang="en-US" dirty="0"/>
              <a:t> </a:t>
            </a:r>
            <a:r>
              <a:rPr lang="en-US" dirty="0" err="1"/>
              <a:t>표시가</a:t>
            </a:r>
            <a:r>
              <a:rPr lang="en-US" dirty="0"/>
              <a:t> </a:t>
            </a:r>
            <a:r>
              <a:rPr lang="en-US" dirty="0" err="1"/>
              <a:t>있는</a:t>
            </a:r>
            <a:r>
              <a:rPr lang="en-US" dirty="0"/>
              <a:t> </a:t>
            </a:r>
            <a:r>
              <a:rPr lang="en-US" dirty="0" err="1"/>
              <a:t>장면</a:t>
            </a:r>
            <a:r>
              <a:rPr lang="en-US" dirty="0"/>
              <a:t> </a:t>
            </a:r>
            <a:r>
              <a:rPr lang="en-US" dirty="0" err="1"/>
              <a:t>클로즈업</a:t>
            </a:r>
            <a:r>
              <a:rPr lang="en-US" dirty="0"/>
              <a:t> → </a:t>
            </a:r>
            <a:r>
              <a:rPr lang="en-US" dirty="0" err="1"/>
              <a:t>아이가</a:t>
            </a:r>
            <a:r>
              <a:rPr lang="en-US" dirty="0"/>
              <a:t> </a:t>
            </a:r>
            <a:r>
              <a:rPr lang="en-US" dirty="0" err="1"/>
              <a:t>책상에서</a:t>
            </a:r>
            <a:r>
              <a:rPr lang="en-US" dirty="0"/>
              <a:t> </a:t>
            </a:r>
            <a:r>
              <a:rPr lang="en-US" dirty="0" err="1"/>
              <a:t>머뭇거리는</a:t>
            </a:r>
            <a:r>
              <a:rPr lang="en-US" dirty="0"/>
              <a:t> </a:t>
            </a:r>
            <a:r>
              <a:rPr lang="en-US" dirty="0" err="1"/>
              <a:t>뒷모습</a:t>
            </a:r>
            <a:endParaRPr lang="en-US" dirty="0"/>
          </a:p>
          <a:p>
            <a:r>
              <a:rPr lang="en-US" dirty="0" err="1"/>
              <a:t>편집</a:t>
            </a:r>
            <a:r>
              <a:rPr lang="en-US" dirty="0"/>
              <a:t> </a:t>
            </a:r>
            <a:r>
              <a:rPr lang="en-US" dirty="0" err="1"/>
              <a:t>포인트</a:t>
            </a:r>
            <a:r>
              <a:rPr lang="en-US" dirty="0"/>
              <a:t>: 두 </a:t>
            </a:r>
            <a:r>
              <a:rPr lang="en-US" dirty="0" err="1"/>
              <a:t>장면을</a:t>
            </a:r>
            <a:r>
              <a:rPr lang="en-US" dirty="0"/>
              <a:t> </a:t>
            </a:r>
            <a:r>
              <a:rPr lang="en-US" dirty="0" err="1"/>
              <a:t>빠른</a:t>
            </a:r>
            <a:r>
              <a:rPr lang="en-US" dirty="0"/>
              <a:t> 컷(1.5초씩)</a:t>
            </a:r>
            <a:r>
              <a:rPr lang="en-US" dirty="0" err="1"/>
              <a:t>으로</a:t>
            </a:r>
            <a:r>
              <a:rPr lang="en-US" dirty="0"/>
              <a:t> </a:t>
            </a:r>
            <a:r>
              <a:rPr lang="en-US" dirty="0" err="1"/>
              <a:t>교차</a:t>
            </a:r>
            <a:r>
              <a:rPr lang="en-US" dirty="0"/>
              <a:t> </a:t>
            </a:r>
            <a:r>
              <a:rPr lang="en-US" dirty="0" err="1"/>
              <a:t>편집</a:t>
            </a:r>
            <a:r>
              <a:rPr lang="en-US" dirty="0"/>
              <a:t>, </a:t>
            </a:r>
            <a:r>
              <a:rPr lang="en-US" dirty="0" err="1"/>
              <a:t>배경음악</a:t>
            </a:r>
            <a:r>
              <a:rPr lang="en-US" dirty="0"/>
              <a:t> </a:t>
            </a:r>
            <a:r>
              <a:rPr lang="en-US" dirty="0" err="1"/>
              <a:t>비트</a:t>
            </a:r>
            <a:r>
              <a:rPr lang="en-US" dirty="0"/>
              <a:t> </a:t>
            </a:r>
            <a:r>
              <a:rPr lang="en-US" dirty="0" err="1"/>
              <a:t>다운</a:t>
            </a:r>
            <a:endParaRPr lang="en-US" dirty="0"/>
          </a:p>
          <a:p>
            <a:endParaRPr lang="en-US" dirty="0"/>
          </a:p>
          <a:p>
            <a:r>
              <a:rPr lang="en-US" dirty="0"/>
              <a:t>🖼 AI </a:t>
            </a:r>
            <a:r>
              <a:rPr lang="en-US" dirty="0" err="1"/>
              <a:t>영상</a:t>
            </a:r>
            <a:r>
              <a:rPr lang="en-US" dirty="0"/>
              <a:t> </a:t>
            </a:r>
            <a:r>
              <a:rPr lang="en-US" dirty="0" err="1"/>
              <a:t>프롬프트</a:t>
            </a:r>
            <a:r>
              <a:rPr lang="en-US" dirty="0"/>
              <a:t> (</a:t>
            </a:r>
            <a:r>
              <a:rPr lang="en-US" dirty="0" err="1"/>
              <a:t>영문</a:t>
            </a:r>
            <a:r>
              <a:rPr lang="en-US" dirty="0"/>
              <a:t>)</a:t>
            </a:r>
          </a:p>
          <a:p>
            <a:endParaRPr lang="en-US" dirty="0"/>
          </a:p>
          <a:p>
            <a:r>
              <a:rPr lang="en-US" dirty="0"/>
              <a:t>Camera: Close-up to medium shot, quick cuts between two angles</a:t>
            </a:r>
          </a:p>
          <a:p>
            <a:r>
              <a:rPr lang="en-US" dirty="0"/>
              <a:t>Lens: 35mm, slightly desaturated color grading</a:t>
            </a:r>
          </a:p>
          <a:p>
            <a:r>
              <a:rPr lang="en-US" dirty="0"/>
              <a:t>Motion: Static close-up on test paper, then slow pan to child's back at desk</a:t>
            </a:r>
          </a:p>
          <a:p>
            <a:r>
              <a:rPr lang="en-US" dirty="0"/>
              <a:t>Lighting: Slightly dim, cool-toned evening light</a:t>
            </a:r>
          </a:p>
          <a:p>
            <a:r>
              <a:rPr lang="en-US" dirty="0"/>
              <a:t>Subject: A test paper with red correction marks; a child's back hesitating at a desk</a:t>
            </a:r>
          </a:p>
          <a:p>
            <a:r>
              <a:rPr lang="en-US" dirty="0"/>
              <a:t>Environment: Home study room, evening</a:t>
            </a:r>
          </a:p>
          <a:p>
            <a:r>
              <a:rPr lang="en-US" dirty="0"/>
              <a:t>Mood: Slightly heavy, worried, realistic</a:t>
            </a:r>
          </a:p>
          <a:p>
            <a:endParaRPr lang="en-US" dirty="0"/>
          </a:p>
          <a:p>
            <a:r>
              <a:rPr lang="en-US" dirty="0" err="1"/>
              <a:t>완성</a:t>
            </a:r>
            <a:r>
              <a:rPr lang="en-US" dirty="0"/>
              <a:t> </a:t>
            </a:r>
            <a:r>
              <a:rPr lang="en-US" dirty="0" err="1"/>
              <a:t>프롬프트</a:t>
            </a:r>
            <a:r>
              <a:rPr lang="en-US" dirty="0"/>
              <a:t>: "Vertical 9:16 video, quick cross-cut editing between a close-up of a test paper with red correction marks and a slow pan to a child's back hesitating at a desk, slightly desaturated cool-toned evening lighting, realistic home documentary style, slightly heavy and worried mood"</a:t>
            </a:r>
          </a:p>
          <a:p>
            <a:endParaRPr lang="en-US" dirty="0"/>
          </a:p>
          <a:p>
            <a:r>
              <a:rPr lang="en-US" dirty="0"/>
              <a:t>────────────────────────</a:t>
            </a:r>
          </a:p>
          <a:p>
            <a:r>
              <a:rPr lang="en-US" dirty="0"/>
              <a:t>────────────────────────</a:t>
            </a:r>
          </a:p>
          <a:p>
            <a:endParaRPr lang="en-US" dirty="0"/>
          </a:p>
          <a:p>
            <a:r>
              <a:rPr lang="en-US" dirty="0"/>
              <a:t>[CUT 4] 00:35~00:42 / </a:t>
            </a:r>
            <a:r>
              <a:rPr lang="en-US" dirty="0" err="1"/>
              <a:t>역할</a:t>
            </a:r>
            <a:r>
              <a:rPr lang="en-US" dirty="0"/>
              <a:t>: </a:t>
            </a:r>
            <a:r>
              <a:rPr lang="en-US" dirty="0" err="1"/>
              <a:t>마무리</a:t>
            </a:r>
            <a:r>
              <a:rPr lang="en-US" dirty="0"/>
              <a:t>(</a:t>
            </a:r>
            <a:r>
              <a:rPr lang="en-US" dirty="0" err="1"/>
              <a:t>블로그</a:t>
            </a:r>
            <a:r>
              <a:rPr lang="en-US" dirty="0"/>
              <a:t> </a:t>
            </a:r>
            <a:r>
              <a:rPr lang="en-US" dirty="0" err="1"/>
              <a:t>유도</a:t>
            </a:r>
            <a:r>
              <a:rPr lang="en-US" dirty="0"/>
              <a:t>)</a:t>
            </a:r>
          </a:p>
          <a:p>
            <a:r>
              <a:rPr lang="en-US" dirty="0"/>
              <a:t>📝 </a:t>
            </a:r>
            <a:r>
              <a:rPr lang="en-US" dirty="0" err="1"/>
              <a:t>자막</a:t>
            </a:r>
            <a:r>
              <a:rPr lang="en-US" dirty="0"/>
              <a:t>: "</a:t>
            </a:r>
            <a:r>
              <a:rPr lang="en-US" dirty="0" err="1"/>
              <a:t>사실</a:t>
            </a:r>
            <a:r>
              <a:rPr lang="en-US" dirty="0"/>
              <a:t>, </a:t>
            </a:r>
            <a:r>
              <a:rPr lang="en-US" dirty="0" err="1"/>
              <a:t>지금이</a:t>
            </a:r>
            <a:r>
              <a:rPr lang="en-US" dirty="0"/>
              <a:t> ★</a:t>
            </a:r>
            <a:r>
              <a:rPr lang="en-US" dirty="0" err="1"/>
              <a:t>습관을</a:t>
            </a:r>
            <a:r>
              <a:rPr lang="en-US" dirty="0"/>
              <a:t> </a:t>
            </a:r>
            <a:r>
              <a:rPr lang="en-US" dirty="0" err="1"/>
              <a:t>잡는</a:t>
            </a:r>
            <a:r>
              <a:rPr lang="en-US" dirty="0"/>
              <a:t> </a:t>
            </a:r>
            <a:r>
              <a:rPr lang="en-US" dirty="0" err="1"/>
              <a:t>골든타임★이래요</a:t>
            </a:r>
            <a:r>
              <a:rPr lang="en-US" dirty="0"/>
              <a:t>"</a:t>
            </a:r>
          </a:p>
          <a:p>
            <a:r>
              <a:rPr lang="en-US" dirty="0"/>
              <a:t>🎙 </a:t>
            </a:r>
            <a:r>
              <a:rPr lang="en-US" dirty="0" err="1"/>
              <a:t>나레이션</a:t>
            </a:r>
            <a:r>
              <a:rPr lang="en-US" dirty="0"/>
              <a:t>: "왜 </a:t>
            </a:r>
            <a:r>
              <a:rPr lang="en-US" dirty="0" err="1"/>
              <a:t>지금이</a:t>
            </a:r>
            <a:r>
              <a:rPr lang="en-US" dirty="0"/>
              <a:t> </a:t>
            </a:r>
            <a:r>
              <a:rPr lang="en-US" dirty="0" err="1"/>
              <a:t>중요한지</a:t>
            </a:r>
            <a:r>
              <a:rPr lang="en-US" dirty="0"/>
              <a:t>, </a:t>
            </a:r>
            <a:r>
              <a:rPr lang="en-US" dirty="0" err="1"/>
              <a:t>그리고</a:t>
            </a:r>
            <a:r>
              <a:rPr lang="en-US" dirty="0"/>
              <a:t> </a:t>
            </a:r>
            <a:r>
              <a:rPr lang="en-US" dirty="0" err="1"/>
              <a:t>뭐부터</a:t>
            </a:r>
            <a:r>
              <a:rPr lang="en-US" dirty="0"/>
              <a:t> </a:t>
            </a:r>
            <a:r>
              <a:rPr lang="en-US" dirty="0" err="1"/>
              <a:t>시작하면</a:t>
            </a:r>
            <a:r>
              <a:rPr lang="en-US" dirty="0"/>
              <a:t> </a:t>
            </a:r>
            <a:r>
              <a:rPr lang="en-US" dirty="0" err="1"/>
              <a:t>되는지</a:t>
            </a:r>
            <a:r>
              <a:rPr lang="en-US" dirty="0"/>
              <a:t>... </a:t>
            </a:r>
            <a:r>
              <a:rPr lang="en-US" dirty="0" err="1"/>
              <a:t>블로그에</a:t>
            </a:r>
            <a:r>
              <a:rPr lang="en-US" dirty="0"/>
              <a:t> </a:t>
            </a:r>
            <a:r>
              <a:rPr lang="en-US" dirty="0" err="1"/>
              <a:t>자세히</a:t>
            </a:r>
            <a:r>
              <a:rPr lang="en-US" dirty="0"/>
              <a:t> </a:t>
            </a:r>
            <a:r>
              <a:rPr lang="en-US" dirty="0" err="1"/>
              <a:t>정리해뒀어요</a:t>
            </a:r>
            <a:r>
              <a:rPr lang="en-US" dirty="0"/>
              <a:t>."</a:t>
            </a:r>
          </a:p>
          <a:p>
            <a:r>
              <a:rPr lang="en-US" dirty="0"/>
              <a:t>🎬 </a:t>
            </a:r>
            <a:r>
              <a:rPr lang="en-US" dirty="0" err="1"/>
              <a:t>장면</a:t>
            </a:r>
            <a:r>
              <a:rPr lang="en-US" dirty="0"/>
              <a:t> </a:t>
            </a:r>
            <a:r>
              <a:rPr lang="en-US" dirty="0" err="1"/>
              <a:t>연출</a:t>
            </a:r>
            <a:endParaRPr lang="en-US" dirty="0"/>
          </a:p>
          <a:p>
            <a:endParaRPr lang="en-US" dirty="0"/>
          </a:p>
          <a:p>
            <a:r>
              <a:rPr lang="en-US" dirty="0" err="1"/>
              <a:t>밝은</a:t>
            </a:r>
            <a:r>
              <a:rPr lang="en-US" dirty="0"/>
              <a:t> </a:t>
            </a:r>
            <a:r>
              <a:rPr lang="en-US" dirty="0" err="1"/>
              <a:t>조명으로</a:t>
            </a:r>
            <a:r>
              <a:rPr lang="en-US" dirty="0"/>
              <a:t> </a:t>
            </a:r>
            <a:r>
              <a:rPr lang="en-US" dirty="0" err="1"/>
              <a:t>전환</a:t>
            </a:r>
            <a:r>
              <a:rPr lang="en-US" dirty="0"/>
              <a:t>, </a:t>
            </a:r>
            <a:r>
              <a:rPr lang="en-US" dirty="0" err="1"/>
              <a:t>다이어리에</a:t>
            </a:r>
            <a:r>
              <a:rPr lang="en-US" dirty="0"/>
              <a:t> </a:t>
            </a:r>
            <a:r>
              <a:rPr lang="en-US" dirty="0" err="1"/>
              <a:t>체크</a:t>
            </a:r>
            <a:r>
              <a:rPr lang="en-US" dirty="0"/>
              <a:t> </a:t>
            </a:r>
            <a:r>
              <a:rPr lang="en-US" dirty="0" err="1"/>
              <a:t>표시하는</a:t>
            </a:r>
            <a:r>
              <a:rPr lang="en-US" dirty="0"/>
              <a:t> 손 </a:t>
            </a:r>
            <a:r>
              <a:rPr lang="en-US" dirty="0" err="1"/>
              <a:t>클로즈업</a:t>
            </a:r>
            <a:endParaRPr lang="en-US" dirty="0"/>
          </a:p>
          <a:p>
            <a:r>
              <a:rPr lang="en-US" dirty="0" err="1"/>
              <a:t>편집</a:t>
            </a:r>
            <a:r>
              <a:rPr lang="en-US" dirty="0"/>
              <a:t> </a:t>
            </a:r>
            <a:r>
              <a:rPr lang="en-US" dirty="0" err="1"/>
              <a:t>포인트</a:t>
            </a:r>
            <a:r>
              <a:rPr lang="en-US" dirty="0"/>
              <a:t>: </a:t>
            </a:r>
            <a:r>
              <a:rPr lang="en-US" dirty="0" err="1"/>
              <a:t>톤이</a:t>
            </a:r>
            <a:r>
              <a:rPr lang="en-US" dirty="0"/>
              <a:t> </a:t>
            </a:r>
            <a:r>
              <a:rPr lang="en-US" dirty="0" err="1"/>
              <a:t>어둡고</a:t>
            </a:r>
            <a:r>
              <a:rPr lang="en-US" dirty="0"/>
              <a:t> </a:t>
            </a:r>
            <a:r>
              <a:rPr lang="en-US" dirty="0" err="1"/>
              <a:t>무거운</a:t>
            </a:r>
            <a:r>
              <a:rPr lang="en-US" dirty="0"/>
              <a:t> </a:t>
            </a:r>
            <a:r>
              <a:rPr lang="en-US" dirty="0" err="1"/>
              <a:t>분위기에서</a:t>
            </a:r>
            <a:r>
              <a:rPr lang="en-US" dirty="0"/>
              <a:t> </a:t>
            </a:r>
            <a:r>
              <a:rPr lang="en-US" dirty="0" err="1"/>
              <a:t>밝은</a:t>
            </a:r>
            <a:r>
              <a:rPr lang="en-US" dirty="0"/>
              <a:t> </a:t>
            </a:r>
            <a:r>
              <a:rPr lang="en-US" dirty="0" err="1"/>
              <a:t>분위기로</a:t>
            </a:r>
            <a:r>
              <a:rPr lang="en-US" dirty="0"/>
              <a:t> </a:t>
            </a:r>
            <a:r>
              <a:rPr lang="en-US" dirty="0" err="1"/>
              <a:t>전환되는</a:t>
            </a:r>
            <a:r>
              <a:rPr lang="en-US" dirty="0"/>
              <a:t> </a:t>
            </a:r>
            <a:r>
              <a:rPr lang="en-US" dirty="0" err="1"/>
              <a:t>컬러</a:t>
            </a:r>
            <a:r>
              <a:rPr lang="en-US" dirty="0"/>
              <a:t> </a:t>
            </a:r>
            <a:r>
              <a:rPr lang="en-US" dirty="0" err="1"/>
              <a:t>그레이딩</a:t>
            </a:r>
            <a:r>
              <a:rPr lang="en-US" dirty="0"/>
              <a:t> </a:t>
            </a:r>
            <a:r>
              <a:rPr lang="en-US" dirty="0" err="1"/>
              <a:t>변화</a:t>
            </a:r>
            <a:endParaRPr lang="en-US" dirty="0"/>
          </a:p>
          <a:p>
            <a:endParaRPr lang="en-US" dirty="0"/>
          </a:p>
          <a:p>
            <a:r>
              <a:rPr lang="en-US" dirty="0"/>
              <a:t>🖼 AI </a:t>
            </a:r>
            <a:r>
              <a:rPr lang="en-US" dirty="0" err="1"/>
              <a:t>영상</a:t>
            </a:r>
            <a:r>
              <a:rPr lang="en-US" dirty="0"/>
              <a:t> </a:t>
            </a:r>
            <a:r>
              <a:rPr lang="en-US" dirty="0" err="1"/>
              <a:t>프롬프트</a:t>
            </a:r>
            <a:r>
              <a:rPr lang="en-US" dirty="0"/>
              <a:t> (</a:t>
            </a:r>
            <a:r>
              <a:rPr lang="en-US" dirty="0" err="1"/>
              <a:t>영문</a:t>
            </a:r>
            <a:r>
              <a:rPr lang="en-US" dirty="0"/>
              <a:t>)</a:t>
            </a:r>
          </a:p>
          <a:p>
            <a:endParaRPr lang="en-US" dirty="0"/>
          </a:p>
          <a:p>
            <a:r>
              <a:rPr lang="en-US" dirty="0"/>
              <a:t>Camera: Close-up, static</a:t>
            </a:r>
          </a:p>
          <a:p>
            <a:r>
              <a:rPr lang="en-US" dirty="0"/>
              <a:t>Lens: 50mm, shallow depth of field</a:t>
            </a:r>
          </a:p>
          <a:p>
            <a:r>
              <a:rPr lang="en-US" dirty="0"/>
              <a:t>Motion: Slow handheld, slight upward tilt revealing a checklist</a:t>
            </a:r>
          </a:p>
          <a:p>
            <a:r>
              <a:rPr lang="en-US" dirty="0"/>
              <a:t>Lighting: Bright warm morning light, transition from cool to warm tone</a:t>
            </a:r>
          </a:p>
          <a:p>
            <a:r>
              <a:rPr lang="en-US" dirty="0"/>
              <a:t>Subject: A hand checking off items on a simple planner</a:t>
            </a:r>
          </a:p>
          <a:p>
            <a:r>
              <a:rPr lang="en-US" dirty="0"/>
              <a:t>Environment: Home desk near a window</a:t>
            </a:r>
          </a:p>
          <a:p>
            <a:r>
              <a:rPr lang="en-US" dirty="0"/>
              <a:t>Mood: Hopeful, calm, transitioning from heavy to light</a:t>
            </a:r>
          </a:p>
          <a:p>
            <a:endParaRPr lang="en-US" dirty="0"/>
          </a:p>
          <a:p>
            <a:r>
              <a:rPr lang="en-US" dirty="0" err="1"/>
              <a:t>완성</a:t>
            </a:r>
            <a:r>
              <a:rPr lang="en-US" dirty="0"/>
              <a:t> </a:t>
            </a:r>
            <a:r>
              <a:rPr lang="en-US" dirty="0" err="1"/>
              <a:t>프롬프트</a:t>
            </a:r>
            <a:r>
              <a:rPr lang="en-US" dirty="0"/>
              <a:t>: "Vertical 9:16 video, close-up static shot with shallow depth of field, slow handheld upward tilt revealing a hand checking off items on a simple planner, bright warm morning light with a color grading transition from cool to warm tone, hopeful and calm mood"</a:t>
            </a:r>
          </a:p>
          <a:p>
            <a:endParaRPr lang="en-US" dirty="0"/>
          </a:p>
          <a:p>
            <a:r>
              <a:rPr lang="en-US" dirty="0"/>
              <a:t>────────────────────────</a:t>
            </a:r>
          </a:p>
          <a:p>
            <a:r>
              <a:rPr lang="en-US" dirty="0"/>
              <a:t>────────────────────────</a:t>
            </a:r>
          </a:p>
          <a:p>
            <a:endParaRPr lang="en-US" dirty="0"/>
          </a:p>
          <a:p>
            <a:r>
              <a:rPr lang="en-US" dirty="0"/>
              <a:t>[CUT 5] 00:42~00:45 / </a:t>
            </a:r>
            <a:r>
              <a:rPr lang="en-US" dirty="0" err="1"/>
              <a:t>역할</a:t>
            </a:r>
            <a:r>
              <a:rPr lang="en-US" dirty="0"/>
              <a:t>: CTA</a:t>
            </a:r>
          </a:p>
          <a:p>
            <a:r>
              <a:rPr lang="en-US" dirty="0"/>
              <a:t>📝 </a:t>
            </a:r>
            <a:r>
              <a:rPr lang="en-US" dirty="0" err="1"/>
              <a:t>자막</a:t>
            </a:r>
            <a:r>
              <a:rPr lang="en-US" dirty="0"/>
              <a:t>: "★</a:t>
            </a:r>
            <a:r>
              <a:rPr lang="en-US" dirty="0" err="1"/>
              <a:t>우리</a:t>
            </a:r>
            <a:r>
              <a:rPr lang="en-US" dirty="0"/>
              <a:t> </a:t>
            </a:r>
            <a:r>
              <a:rPr lang="en-US" dirty="0" err="1"/>
              <a:t>아이는</a:t>
            </a:r>
            <a:r>
              <a:rPr lang="en-US" dirty="0"/>
              <a:t> 몇 </a:t>
            </a:r>
            <a:r>
              <a:rPr lang="en-US" dirty="0" err="1"/>
              <a:t>살부터</a:t>
            </a:r>
            <a:r>
              <a:rPr lang="en-US" dirty="0"/>
              <a:t> </a:t>
            </a:r>
            <a:r>
              <a:rPr lang="en-US" dirty="0" err="1"/>
              <a:t>책상</a:t>
            </a:r>
            <a:r>
              <a:rPr lang="en-US" dirty="0"/>
              <a:t> </a:t>
            </a:r>
            <a:r>
              <a:rPr lang="en-US" dirty="0" err="1"/>
              <a:t>습관</a:t>
            </a:r>
            <a:r>
              <a:rPr lang="en-US" dirty="0"/>
              <a:t> </a:t>
            </a:r>
            <a:r>
              <a:rPr lang="en-US" dirty="0" err="1"/>
              <a:t>시작했나요</a:t>
            </a:r>
            <a:r>
              <a:rPr lang="en-US" dirty="0"/>
              <a:t>?★ </a:t>
            </a:r>
            <a:r>
              <a:rPr lang="en-US" dirty="0" err="1"/>
              <a:t>댓글로</a:t>
            </a:r>
            <a:r>
              <a:rPr lang="en-US" dirty="0"/>
              <a:t> </a:t>
            </a:r>
            <a:r>
              <a:rPr lang="en-US" dirty="0" err="1"/>
              <a:t>알려주세요</a:t>
            </a:r>
            <a:r>
              <a:rPr lang="en-US" dirty="0"/>
              <a:t> / </a:t>
            </a:r>
            <a:r>
              <a:rPr lang="en-US" dirty="0" err="1"/>
              <a:t>블로그</a:t>
            </a:r>
            <a:r>
              <a:rPr lang="en-US" dirty="0"/>
              <a:t> ↑ </a:t>
            </a:r>
            <a:r>
              <a:rPr lang="en-US" dirty="0" err="1"/>
              <a:t>링크</a:t>
            </a:r>
            <a:r>
              <a:rPr lang="en-US" dirty="0"/>
              <a:t>"</a:t>
            </a:r>
          </a:p>
          <a:p>
            <a:r>
              <a:rPr lang="en-US" dirty="0"/>
              <a:t>🎙 </a:t>
            </a:r>
            <a:r>
              <a:rPr lang="en-US" dirty="0" err="1"/>
              <a:t>나레이션</a:t>
            </a:r>
            <a:r>
              <a:rPr lang="en-US" dirty="0"/>
              <a:t>: "</a:t>
            </a:r>
            <a:r>
              <a:rPr lang="en-US" dirty="0" err="1"/>
              <a:t>여러분은</a:t>
            </a:r>
            <a:r>
              <a:rPr lang="en-US" dirty="0"/>
              <a:t> </a:t>
            </a:r>
            <a:r>
              <a:rPr lang="en-US" dirty="0" err="1"/>
              <a:t>어떠셨어요</a:t>
            </a:r>
            <a:r>
              <a:rPr lang="en-US" dirty="0"/>
              <a:t>? </a:t>
            </a:r>
            <a:r>
              <a:rPr lang="en-US" dirty="0" err="1"/>
              <a:t>댓글로</a:t>
            </a:r>
            <a:r>
              <a:rPr lang="en-US" dirty="0"/>
              <a:t> </a:t>
            </a:r>
            <a:r>
              <a:rPr lang="en-US" dirty="0" err="1"/>
              <a:t>알려주세요</a:t>
            </a:r>
            <a:r>
              <a:rPr lang="en-US" dirty="0"/>
              <a:t>!"</a:t>
            </a:r>
          </a:p>
          <a:p>
            <a:r>
              <a:rPr lang="en-US" dirty="0"/>
              <a:t>🎬 </a:t>
            </a:r>
            <a:r>
              <a:rPr lang="en-US" dirty="0" err="1"/>
              <a:t>장면</a:t>
            </a:r>
            <a:r>
              <a:rPr lang="en-US" dirty="0"/>
              <a:t> </a:t>
            </a:r>
            <a:r>
              <a:rPr lang="en-US" dirty="0" err="1"/>
              <a:t>연출</a:t>
            </a:r>
            <a:endParaRPr lang="en-US" dirty="0"/>
          </a:p>
          <a:p>
            <a:endParaRPr lang="en-US" dirty="0"/>
          </a:p>
          <a:p>
            <a:r>
              <a:rPr lang="en-US" dirty="0" err="1"/>
              <a:t>화면</a:t>
            </a:r>
            <a:r>
              <a:rPr lang="en-US" dirty="0"/>
              <a:t> </a:t>
            </a:r>
            <a:r>
              <a:rPr lang="en-US" dirty="0" err="1"/>
              <a:t>정지</a:t>
            </a:r>
            <a:r>
              <a:rPr lang="en-US" dirty="0"/>
              <a:t> + </a:t>
            </a:r>
            <a:r>
              <a:rPr lang="en-US" dirty="0" err="1"/>
              <a:t>텍스트</a:t>
            </a:r>
            <a:r>
              <a:rPr lang="en-US" dirty="0"/>
              <a:t> </a:t>
            </a:r>
            <a:r>
              <a:rPr lang="en-US" dirty="0" err="1"/>
              <a:t>카드</a:t>
            </a:r>
            <a:r>
              <a:rPr lang="en-US" dirty="0"/>
              <a:t> </a:t>
            </a:r>
            <a:r>
              <a:rPr lang="en-US" dirty="0" err="1"/>
              <a:t>형태로</a:t>
            </a:r>
            <a:r>
              <a:rPr lang="en-US" dirty="0"/>
              <a:t> </a:t>
            </a:r>
            <a:r>
              <a:rPr lang="en-US" dirty="0" err="1"/>
              <a:t>마무리</a:t>
            </a:r>
            <a:endParaRPr lang="en-US" dirty="0"/>
          </a:p>
          <a:p>
            <a:r>
              <a:rPr lang="en-US" dirty="0" err="1"/>
              <a:t>편집</a:t>
            </a:r>
            <a:r>
              <a:rPr lang="en-US" dirty="0"/>
              <a:t> </a:t>
            </a:r>
            <a:r>
              <a:rPr lang="en-US" dirty="0" err="1"/>
              <a:t>포인트</a:t>
            </a:r>
            <a:r>
              <a:rPr lang="en-US" dirty="0"/>
              <a:t>: </a:t>
            </a:r>
            <a:r>
              <a:rPr lang="en-US" dirty="0" err="1"/>
              <a:t>마지막</a:t>
            </a:r>
            <a:r>
              <a:rPr lang="en-US" dirty="0"/>
              <a:t> 1초 </a:t>
            </a:r>
            <a:r>
              <a:rPr lang="en-US" dirty="0" err="1"/>
              <a:t>페이드아웃</a:t>
            </a:r>
            <a:r>
              <a:rPr lang="en-US" dirty="0"/>
              <a:t>, </a:t>
            </a:r>
            <a:r>
              <a:rPr lang="en-US" dirty="0" err="1"/>
              <a:t>블로그</a:t>
            </a:r>
            <a:r>
              <a:rPr lang="en-US" dirty="0"/>
              <a:t> </a:t>
            </a:r>
            <a:r>
              <a:rPr lang="en-US" dirty="0" err="1"/>
              <a:t>링크</a:t>
            </a:r>
            <a:r>
              <a:rPr lang="en-US" dirty="0"/>
              <a:t> </a:t>
            </a:r>
            <a:r>
              <a:rPr lang="en-US" dirty="0" err="1"/>
              <a:t>영역</a:t>
            </a:r>
            <a:r>
              <a:rPr lang="en-US" dirty="0"/>
              <a:t> </a:t>
            </a:r>
            <a:r>
              <a:rPr lang="en-US" dirty="0" err="1"/>
              <a:t>강조</a:t>
            </a:r>
            <a:r>
              <a:rPr lang="en-US" dirty="0"/>
              <a:t>(</a:t>
            </a:r>
            <a:r>
              <a:rPr lang="en-US" dirty="0" err="1"/>
              <a:t>클립</a:t>
            </a:r>
            <a:r>
              <a:rPr lang="en-US" dirty="0"/>
              <a:t> </a:t>
            </a:r>
            <a:r>
              <a:rPr lang="en-US" dirty="0" err="1"/>
              <a:t>상단</a:t>
            </a:r>
            <a:r>
              <a:rPr lang="en-US" dirty="0"/>
              <a:t> </a:t>
            </a:r>
            <a:r>
              <a:rPr lang="en-US" dirty="0" err="1"/>
              <a:t>링크</a:t>
            </a:r>
            <a:r>
              <a:rPr lang="en-US" dirty="0"/>
              <a:t> </a:t>
            </a:r>
            <a:r>
              <a:rPr lang="en-US" dirty="0" err="1"/>
              <a:t>위치</a:t>
            </a:r>
            <a:r>
              <a:rPr lang="en-US" dirty="0"/>
              <a:t> </a:t>
            </a:r>
            <a:r>
              <a:rPr lang="en-US" dirty="0" err="1"/>
              <a:t>안내</a:t>
            </a:r>
            <a:r>
              <a:rPr lang="en-US" dirty="0"/>
              <a:t>)</a:t>
            </a:r>
          </a:p>
          <a:p>
            <a:endParaRPr lang="en-US" dirty="0"/>
          </a:p>
          <a:p>
            <a:r>
              <a:rPr lang="en-US" dirty="0"/>
              <a:t>🖼 AI </a:t>
            </a:r>
            <a:r>
              <a:rPr lang="en-US" dirty="0" err="1"/>
              <a:t>영상</a:t>
            </a:r>
            <a:r>
              <a:rPr lang="en-US" dirty="0"/>
              <a:t> </a:t>
            </a:r>
            <a:r>
              <a:rPr lang="en-US" dirty="0" err="1"/>
              <a:t>프롬프트</a:t>
            </a:r>
            <a:r>
              <a:rPr lang="en-US" dirty="0"/>
              <a:t> (</a:t>
            </a:r>
            <a:r>
              <a:rPr lang="en-US" dirty="0" err="1"/>
              <a:t>영문</a:t>
            </a:r>
            <a:r>
              <a:rPr lang="en-US" dirty="0"/>
              <a:t>)</a:t>
            </a:r>
          </a:p>
          <a:p>
            <a:endParaRPr lang="en-US" dirty="0"/>
          </a:p>
          <a:p>
            <a:r>
              <a:rPr lang="en-US" dirty="0"/>
              <a:t>Camera: Static frame, simple text card overlay</a:t>
            </a:r>
          </a:p>
          <a:p>
            <a:r>
              <a:rPr lang="en-US" dirty="0"/>
              <a:t>Lens: N/A (graphic overlay)</a:t>
            </a:r>
          </a:p>
          <a:p>
            <a:r>
              <a:rPr lang="en-US" dirty="0"/>
              <a:t>Motion: Gentle fade-out</a:t>
            </a:r>
          </a:p>
          <a:p>
            <a:r>
              <a:rPr lang="en-US" dirty="0"/>
              <a:t>Lighting: Bright, clean background</a:t>
            </a:r>
          </a:p>
          <a:p>
            <a:r>
              <a:rPr lang="en-US" dirty="0"/>
              <a:t>Subject: Simple text card with a question prompt</a:t>
            </a:r>
          </a:p>
          <a:p>
            <a:r>
              <a:rPr lang="en-US" dirty="0"/>
              <a:t>Environment: Minimal clean background</a:t>
            </a:r>
          </a:p>
          <a:p>
            <a:r>
              <a:rPr lang="en-US" dirty="0"/>
              <a:t>Mood: Friendly, inviting, light</a:t>
            </a:r>
          </a:p>
          <a:p>
            <a:endParaRPr lang="en-US" dirty="0"/>
          </a:p>
          <a:p>
            <a:r>
              <a:rPr lang="en-US" dirty="0" err="1"/>
              <a:t>완성</a:t>
            </a:r>
            <a:r>
              <a:rPr lang="en-US" dirty="0"/>
              <a:t> </a:t>
            </a:r>
            <a:r>
              <a:rPr lang="en-US" dirty="0" err="1"/>
              <a:t>프롬프트</a:t>
            </a:r>
            <a:r>
              <a:rPr lang="en-US" dirty="0"/>
              <a:t>: "Vertical 9:16 video, static simple text card overlay on a clean bright background, gentle fade-out transition, friendly and inviting mood, minimal graphic design style, no realistic faces"</a:t>
            </a:r>
          </a:p>
          <a:p>
            <a:endParaRPr lang="en-US" dirty="0"/>
          </a:p>
          <a:p>
            <a:r>
              <a:rPr lang="en-US" dirty="0"/>
              <a:t>────────────────────────</a:t>
            </a:r>
          </a:p>
          <a:p>
            <a:endParaRPr lang="en-US" dirty="0"/>
          </a:p>
          <a:p>
            <a:r>
              <a:rPr lang="en-US" dirty="0"/>
              <a:t>⑤ </a:t>
            </a:r>
            <a:r>
              <a:rPr lang="en-US" dirty="0" err="1"/>
              <a:t>자막</a:t>
            </a:r>
            <a:r>
              <a:rPr lang="en-US" dirty="0"/>
              <a:t> (</a:t>
            </a:r>
            <a:r>
              <a:rPr lang="en-US" dirty="0" err="1"/>
              <a:t>전체</a:t>
            </a:r>
            <a:r>
              <a:rPr lang="en-US" dirty="0"/>
              <a:t> </a:t>
            </a:r>
            <a:r>
              <a:rPr lang="en-US" dirty="0" err="1"/>
              <a:t>통합본</a:t>
            </a:r>
            <a:r>
              <a:rPr lang="en-US" dirty="0"/>
              <a:t>)</a:t>
            </a:r>
          </a:p>
          <a:p>
            <a:r>
              <a:rPr lang="en-US" dirty="0"/>
              <a:t>00:00 ★</a:t>
            </a:r>
            <a:r>
              <a:rPr lang="en-US" dirty="0" err="1"/>
              <a:t>사줬는데</a:t>
            </a:r>
            <a:r>
              <a:rPr lang="en-US" dirty="0"/>
              <a:t>, 왜 또 </a:t>
            </a:r>
            <a:r>
              <a:rPr lang="en-US" dirty="0" err="1"/>
              <a:t>제가</a:t>
            </a:r>
            <a:r>
              <a:rPr lang="en-US" dirty="0"/>
              <a:t> </a:t>
            </a:r>
            <a:r>
              <a:rPr lang="en-US" dirty="0" err="1"/>
              <a:t>옆에</a:t>
            </a:r>
            <a:r>
              <a:rPr lang="en-US" dirty="0"/>
              <a:t> </a:t>
            </a:r>
            <a:r>
              <a:rPr lang="en-US" dirty="0" err="1"/>
              <a:t>앉아있죠</a:t>
            </a:r>
            <a:r>
              <a:rPr lang="en-US" dirty="0"/>
              <a:t>?★</a:t>
            </a:r>
          </a:p>
          <a:p>
            <a:r>
              <a:rPr lang="en-US" dirty="0"/>
              <a:t>00:03 </a:t>
            </a:r>
            <a:r>
              <a:rPr lang="en-US" dirty="0" err="1"/>
              <a:t>도구만</a:t>
            </a:r>
            <a:r>
              <a:rPr lang="en-US" dirty="0"/>
              <a:t> </a:t>
            </a:r>
            <a:r>
              <a:rPr lang="en-US" dirty="0" err="1"/>
              <a:t>바꾸면</a:t>
            </a:r>
            <a:r>
              <a:rPr lang="en-US" dirty="0"/>
              <a:t> </a:t>
            </a:r>
            <a:r>
              <a:rPr lang="en-US" dirty="0" err="1"/>
              <a:t>달라질</a:t>
            </a:r>
            <a:r>
              <a:rPr lang="en-US" dirty="0"/>
              <a:t> 줄 </a:t>
            </a:r>
            <a:r>
              <a:rPr lang="en-US" dirty="0" err="1"/>
              <a:t>알았는데</a:t>
            </a:r>
            <a:r>
              <a:rPr lang="en-US" dirty="0"/>
              <a:t>... ★</a:t>
            </a:r>
            <a:r>
              <a:rPr lang="en-US" dirty="0" err="1"/>
              <a:t>똑같았어요</a:t>
            </a:r>
            <a:r>
              <a:rPr lang="en-US" dirty="0"/>
              <a:t>★</a:t>
            </a:r>
          </a:p>
          <a:p>
            <a:r>
              <a:rPr lang="en-US" dirty="0"/>
              <a:t>00:15 </a:t>
            </a:r>
            <a:r>
              <a:rPr lang="en-US" dirty="0" err="1"/>
              <a:t>이대로</a:t>
            </a:r>
            <a:r>
              <a:rPr lang="en-US" dirty="0"/>
              <a:t> </a:t>
            </a:r>
            <a:r>
              <a:rPr lang="en-US" dirty="0" err="1"/>
              <a:t>고학년</a:t>
            </a:r>
            <a:r>
              <a:rPr lang="en-US" dirty="0"/>
              <a:t> </a:t>
            </a:r>
            <a:r>
              <a:rPr lang="en-US" dirty="0" err="1"/>
              <a:t>되면</a:t>
            </a:r>
            <a:r>
              <a:rPr lang="en-US" dirty="0"/>
              <a:t>... ★</a:t>
            </a:r>
            <a:r>
              <a:rPr lang="en-US" dirty="0" err="1"/>
              <a:t>혼자</a:t>
            </a:r>
            <a:r>
              <a:rPr lang="en-US" dirty="0"/>
              <a:t> 못 </a:t>
            </a:r>
            <a:r>
              <a:rPr lang="en-US" dirty="0" err="1"/>
              <a:t>챙길</a:t>
            </a:r>
            <a:r>
              <a:rPr lang="en-US" dirty="0"/>
              <a:t> 것 </a:t>
            </a:r>
            <a:r>
              <a:rPr lang="en-US" dirty="0" err="1"/>
              <a:t>같은데</a:t>
            </a:r>
            <a:r>
              <a:rPr lang="en-US" dirty="0"/>
              <a:t>★</a:t>
            </a:r>
          </a:p>
          <a:p>
            <a:r>
              <a:rPr lang="en-US" dirty="0"/>
              <a:t>00:35 </a:t>
            </a:r>
            <a:r>
              <a:rPr lang="en-US" dirty="0" err="1"/>
              <a:t>사실</a:t>
            </a:r>
            <a:r>
              <a:rPr lang="en-US" dirty="0"/>
              <a:t>, </a:t>
            </a:r>
            <a:r>
              <a:rPr lang="en-US" dirty="0" err="1"/>
              <a:t>지금이</a:t>
            </a:r>
            <a:r>
              <a:rPr lang="en-US" dirty="0"/>
              <a:t> ★</a:t>
            </a:r>
            <a:r>
              <a:rPr lang="en-US" dirty="0" err="1"/>
              <a:t>습관을</a:t>
            </a:r>
            <a:r>
              <a:rPr lang="en-US" dirty="0"/>
              <a:t> </a:t>
            </a:r>
            <a:r>
              <a:rPr lang="en-US" dirty="0" err="1"/>
              <a:t>잡는</a:t>
            </a:r>
            <a:r>
              <a:rPr lang="en-US" dirty="0"/>
              <a:t> </a:t>
            </a:r>
            <a:r>
              <a:rPr lang="en-US" dirty="0" err="1"/>
              <a:t>골든타임★이래요</a:t>
            </a:r>
            <a:endParaRPr lang="en-US" dirty="0"/>
          </a:p>
          <a:p>
            <a:r>
              <a:rPr lang="en-US" dirty="0"/>
              <a:t>00:42 ★</a:t>
            </a:r>
            <a:r>
              <a:rPr lang="en-US" dirty="0" err="1"/>
              <a:t>우리</a:t>
            </a:r>
            <a:r>
              <a:rPr lang="en-US" dirty="0"/>
              <a:t> </a:t>
            </a:r>
            <a:r>
              <a:rPr lang="en-US" dirty="0" err="1"/>
              <a:t>아이는</a:t>
            </a:r>
            <a:r>
              <a:rPr lang="en-US" dirty="0"/>
              <a:t> 몇 </a:t>
            </a:r>
            <a:r>
              <a:rPr lang="en-US" dirty="0" err="1"/>
              <a:t>살부터</a:t>
            </a:r>
            <a:r>
              <a:rPr lang="en-US" dirty="0"/>
              <a:t> </a:t>
            </a:r>
            <a:r>
              <a:rPr lang="en-US" dirty="0" err="1"/>
              <a:t>책상</a:t>
            </a:r>
            <a:r>
              <a:rPr lang="en-US" dirty="0"/>
              <a:t> </a:t>
            </a:r>
            <a:r>
              <a:rPr lang="en-US" dirty="0" err="1"/>
              <a:t>습관</a:t>
            </a:r>
            <a:r>
              <a:rPr lang="en-US" dirty="0"/>
              <a:t> </a:t>
            </a:r>
            <a:r>
              <a:rPr lang="en-US" dirty="0" err="1"/>
              <a:t>시작했나요</a:t>
            </a:r>
            <a:r>
              <a:rPr lang="en-US" dirty="0"/>
              <a:t>?★</a:t>
            </a:r>
          </a:p>
          <a:p>
            <a:r>
              <a:rPr lang="en-US" dirty="0"/>
              <a:t>       </a:t>
            </a:r>
            <a:r>
              <a:rPr lang="en-US" dirty="0" err="1"/>
              <a:t>댓글로</a:t>
            </a:r>
            <a:r>
              <a:rPr lang="en-US" dirty="0"/>
              <a:t> </a:t>
            </a:r>
            <a:r>
              <a:rPr lang="en-US" dirty="0" err="1"/>
              <a:t>알려주세요</a:t>
            </a:r>
            <a:r>
              <a:rPr lang="en-US" dirty="0"/>
              <a:t> / </a:t>
            </a:r>
            <a:r>
              <a:rPr lang="en-US" dirty="0" err="1"/>
              <a:t>블로그</a:t>
            </a:r>
            <a:r>
              <a:rPr lang="en-US" dirty="0"/>
              <a:t> ↑ </a:t>
            </a:r>
            <a:r>
              <a:rPr lang="en-US" dirty="0" err="1"/>
              <a:t>링크</a:t>
            </a:r>
            <a:endParaRPr lang="en-US" dirty="0"/>
          </a:p>
          <a:p>
            <a:endParaRPr lang="en-US" dirty="0"/>
          </a:p>
          <a:p>
            <a:endParaRPr lang="en-US" dirty="0"/>
          </a:p>
          <a:p>
            <a:r>
              <a:rPr lang="en-US" dirty="0" err="1"/>
              <a:t>제목</a:t>
            </a:r>
            <a:r>
              <a:rPr lang="en-US" dirty="0"/>
              <a:t> (</a:t>
            </a:r>
            <a:r>
              <a:rPr lang="en-US" dirty="0" err="1"/>
              <a:t>네이버</a:t>
            </a:r>
            <a:r>
              <a:rPr lang="en-US" dirty="0"/>
              <a:t> </a:t>
            </a:r>
            <a:r>
              <a:rPr lang="en-US" dirty="0" err="1"/>
              <a:t>클립용</a:t>
            </a:r>
            <a:r>
              <a:rPr lang="en-US" dirty="0"/>
              <a:t>)</a:t>
            </a:r>
          </a:p>
          <a:p>
            <a:endParaRPr lang="en-US" dirty="0"/>
          </a:p>
          <a:p>
            <a:r>
              <a:rPr lang="en-US" dirty="0"/>
              <a:t>"</a:t>
            </a:r>
            <a:r>
              <a:rPr lang="en-US" dirty="0" err="1"/>
              <a:t>사줬는데</a:t>
            </a:r>
            <a:r>
              <a:rPr lang="en-US" dirty="0"/>
              <a:t> 왜 또 </a:t>
            </a:r>
            <a:r>
              <a:rPr lang="en-US" dirty="0" err="1"/>
              <a:t>제가</a:t>
            </a:r>
            <a:r>
              <a:rPr lang="en-US" dirty="0"/>
              <a:t> </a:t>
            </a:r>
            <a:r>
              <a:rPr lang="en-US" dirty="0" err="1"/>
              <a:t>옆에</a:t>
            </a:r>
            <a:r>
              <a:rPr lang="en-US" dirty="0"/>
              <a:t> </a:t>
            </a:r>
            <a:r>
              <a:rPr lang="en-US" dirty="0" err="1"/>
              <a:t>있어야</a:t>
            </a:r>
            <a:r>
              <a:rPr lang="en-US" dirty="0"/>
              <a:t> </a:t>
            </a:r>
            <a:r>
              <a:rPr lang="en-US" dirty="0" err="1"/>
              <a:t>하죠</a:t>
            </a:r>
            <a:r>
              <a:rPr lang="en-US" dirty="0"/>
              <a:t>? (feat. </a:t>
            </a:r>
            <a:r>
              <a:rPr lang="en-US" dirty="0" err="1"/>
              <a:t>초등</a:t>
            </a:r>
            <a:r>
              <a:rPr lang="en-US" dirty="0"/>
              <a:t> </a:t>
            </a:r>
            <a:r>
              <a:rPr lang="en-US" dirty="0" err="1"/>
              <a:t>학습습관</a:t>
            </a:r>
            <a:r>
              <a:rPr lang="en-US" dirty="0"/>
              <a:t> </a:t>
            </a:r>
            <a:r>
              <a:rPr lang="en-US" dirty="0" err="1"/>
              <a:t>골든타임</a:t>
            </a:r>
            <a:r>
              <a:rPr lang="en-US" dirty="0"/>
              <a:t>)"</a:t>
            </a:r>
          </a:p>
          <a:p>
            <a:r>
              <a:rPr lang="en-US" dirty="0" err="1"/>
              <a:t>설명란</a:t>
            </a:r>
            <a:endParaRPr lang="en-US" dirty="0"/>
          </a:p>
          <a:p>
            <a:endParaRPr lang="en-US" dirty="0"/>
          </a:p>
          <a:p>
            <a:r>
              <a:rPr lang="en-US" dirty="0"/>
              <a:t>"</a:t>
            </a:r>
            <a:r>
              <a:rPr lang="en-US" dirty="0" err="1"/>
              <a:t>패드도</a:t>
            </a:r>
            <a:r>
              <a:rPr lang="en-US" dirty="0"/>
              <a:t> </a:t>
            </a:r>
            <a:r>
              <a:rPr lang="en-US" dirty="0" err="1"/>
              <a:t>사주고</a:t>
            </a:r>
            <a:r>
              <a:rPr lang="en-US" dirty="0"/>
              <a:t> </a:t>
            </a:r>
            <a:r>
              <a:rPr lang="en-US" dirty="0" err="1"/>
              <a:t>문제집도</a:t>
            </a:r>
            <a:r>
              <a:rPr lang="en-US" dirty="0"/>
              <a:t> </a:t>
            </a:r>
            <a:r>
              <a:rPr lang="en-US" dirty="0" err="1"/>
              <a:t>바꿔봤는데</a:t>
            </a:r>
            <a:r>
              <a:rPr lang="en-US" dirty="0"/>
              <a:t>... </a:t>
            </a:r>
            <a:r>
              <a:rPr lang="en-US" dirty="0" err="1"/>
              <a:t>결국</a:t>
            </a:r>
            <a:r>
              <a:rPr lang="en-US" dirty="0"/>
              <a:t> </a:t>
            </a:r>
            <a:r>
              <a:rPr lang="en-US" dirty="0" err="1"/>
              <a:t>똑같더라고요</a:t>
            </a:r>
            <a:r>
              <a:rPr lang="en-US" dirty="0"/>
              <a:t>. </a:t>
            </a:r>
            <a:r>
              <a:rPr lang="en-US" dirty="0" err="1"/>
              <a:t>사실</a:t>
            </a:r>
            <a:r>
              <a:rPr lang="en-US" dirty="0"/>
              <a:t> </a:t>
            </a:r>
            <a:r>
              <a:rPr lang="en-US" dirty="0" err="1"/>
              <a:t>지금이</a:t>
            </a:r>
            <a:r>
              <a:rPr lang="en-US" dirty="0"/>
              <a:t> '</a:t>
            </a:r>
            <a:r>
              <a:rPr lang="en-US" dirty="0" err="1"/>
              <a:t>습관'을</a:t>
            </a:r>
            <a:r>
              <a:rPr lang="en-US" dirty="0"/>
              <a:t> </a:t>
            </a:r>
            <a:r>
              <a:rPr lang="en-US" dirty="0" err="1"/>
              <a:t>잡는</a:t>
            </a:r>
            <a:r>
              <a:rPr lang="en-US" dirty="0"/>
              <a:t> </a:t>
            </a:r>
            <a:r>
              <a:rPr lang="en-US" dirty="0" err="1"/>
              <a:t>골든타임이래요</a:t>
            </a:r>
            <a:r>
              <a:rPr lang="en-US" dirty="0"/>
              <a:t>. </a:t>
            </a:r>
            <a:r>
              <a:rPr lang="en-US" dirty="0" err="1"/>
              <a:t>자세한</a:t>
            </a:r>
            <a:r>
              <a:rPr lang="en-US" dirty="0"/>
              <a:t> </a:t>
            </a:r>
            <a:r>
              <a:rPr lang="en-US" dirty="0" err="1"/>
              <a:t>이야기는</a:t>
            </a:r>
            <a:r>
              <a:rPr lang="en-US" dirty="0"/>
              <a:t> </a:t>
            </a:r>
            <a:r>
              <a:rPr lang="en-US" dirty="0" err="1"/>
              <a:t>블로그에</a:t>
            </a:r>
            <a:r>
              <a:rPr lang="en-US" dirty="0"/>
              <a:t> </a:t>
            </a:r>
            <a:r>
              <a:rPr lang="en-US" dirty="0" err="1"/>
              <a:t>정리해뒀어요</a:t>
            </a:r>
            <a:r>
              <a:rPr lang="en-US" dirty="0"/>
              <a:t> 👇"</a:t>
            </a:r>
          </a:p>
          <a:p>
            <a:r>
              <a:rPr lang="en-US" dirty="0" err="1"/>
              <a:t>해시태그</a:t>
            </a:r>
            <a:endParaRPr lang="en-US" dirty="0"/>
          </a:p>
          <a:p>
            <a:endParaRPr lang="en-US" dirty="0"/>
          </a:p>
          <a:p>
            <a:r>
              <a:rPr lang="en-US" dirty="0"/>
              <a:t>#초등자기주도학습 #초등학습습관 #초등저학년공부습관 #공부습관만들기 #초등학습습관골든타임 #초등맘공감 #육아맘일상 #초등엄마</a:t>
            </a:r>
          </a:p>
          <a:p>
            <a:r>
              <a:rPr lang="en-US" dirty="0" err="1"/>
              <a:t>블로그</a:t>
            </a:r>
            <a:r>
              <a:rPr lang="en-US" dirty="0"/>
              <a:t> </a:t>
            </a:r>
            <a:r>
              <a:rPr lang="en-US" dirty="0" err="1"/>
              <a:t>연결</a:t>
            </a:r>
            <a:r>
              <a:rPr lang="en-US" dirty="0"/>
              <a:t> CTA </a:t>
            </a:r>
            <a:r>
              <a:rPr lang="en-US" dirty="0" err="1"/>
              <a:t>위치</a:t>
            </a:r>
            <a:endParaRPr lang="en-US" dirty="0"/>
          </a:p>
          <a:p>
            <a:endParaRPr lang="en-US" dirty="0"/>
          </a:p>
          <a:p>
            <a:r>
              <a:rPr lang="en-US" dirty="0" err="1"/>
              <a:t>클립</a:t>
            </a:r>
            <a:r>
              <a:rPr lang="en-US" dirty="0"/>
              <a:t> </a:t>
            </a:r>
            <a:r>
              <a:rPr lang="en-US" dirty="0" err="1"/>
              <a:t>상단</a:t>
            </a:r>
            <a:r>
              <a:rPr lang="en-US" dirty="0"/>
              <a:t> </a:t>
            </a:r>
            <a:r>
              <a:rPr lang="en-US" dirty="0" err="1"/>
              <a:t>링크</a:t>
            </a:r>
            <a:r>
              <a:rPr lang="en-US" dirty="0"/>
              <a:t>(</a:t>
            </a:r>
            <a:r>
              <a:rPr lang="en-US" dirty="0" err="1"/>
              <a:t>또는</a:t>
            </a:r>
            <a:r>
              <a:rPr lang="en-US" dirty="0"/>
              <a:t> </a:t>
            </a:r>
            <a:r>
              <a:rPr lang="en-US" dirty="0" err="1"/>
              <a:t>프로필</a:t>
            </a:r>
            <a:r>
              <a:rPr lang="en-US" dirty="0"/>
              <a:t> </a:t>
            </a:r>
            <a:r>
              <a:rPr lang="en-US" dirty="0" err="1"/>
              <a:t>링크</a:t>
            </a:r>
            <a:r>
              <a:rPr lang="en-US" dirty="0"/>
              <a:t>)에 </a:t>
            </a:r>
            <a:r>
              <a:rPr lang="en-US" dirty="0" err="1"/>
              <a:t>블로그</a:t>
            </a:r>
            <a:r>
              <a:rPr lang="en-US" dirty="0"/>
              <a:t> 글 </a:t>
            </a:r>
            <a:r>
              <a:rPr lang="en-US" dirty="0" err="1"/>
              <a:t>연결</a:t>
            </a:r>
            <a:endParaRPr lang="en-US" dirty="0"/>
          </a:p>
          <a:p>
            <a:r>
              <a:rPr lang="en-US" dirty="0" err="1"/>
              <a:t>클립</a:t>
            </a:r>
            <a:r>
              <a:rPr lang="en-US" dirty="0"/>
              <a:t> </a:t>
            </a:r>
            <a:r>
              <a:rPr lang="en-US" dirty="0" err="1"/>
              <a:t>설명란</a:t>
            </a:r>
            <a:r>
              <a:rPr lang="en-US" dirty="0"/>
              <a:t> 첫 </a:t>
            </a:r>
            <a:r>
              <a:rPr lang="en-US" dirty="0" err="1"/>
              <a:t>줄에</a:t>
            </a:r>
            <a:r>
              <a:rPr lang="en-US" dirty="0"/>
              <a:t> "</a:t>
            </a:r>
            <a:r>
              <a:rPr lang="en-US" dirty="0" err="1"/>
              <a:t>자세한</a:t>
            </a:r>
            <a:r>
              <a:rPr lang="en-US" dirty="0"/>
              <a:t> </a:t>
            </a:r>
            <a:r>
              <a:rPr lang="en-US" dirty="0" err="1"/>
              <a:t>이야기는</a:t>
            </a:r>
            <a:r>
              <a:rPr lang="en-US" dirty="0"/>
              <a:t> ↓ </a:t>
            </a:r>
            <a:r>
              <a:rPr lang="en-US" dirty="0" err="1"/>
              <a:t>링크에서</a:t>
            </a:r>
            <a:r>
              <a:rPr lang="en-US" dirty="0"/>
              <a:t>" </a:t>
            </a:r>
            <a:r>
              <a:rPr lang="en-US" dirty="0" err="1"/>
              <a:t>명시</a:t>
            </a:r>
            <a:endParaRPr lang="en-US" dirty="0"/>
          </a:p>
          <a:p>
            <a:endParaRPr lang="en-US" dirty="0"/>
          </a:p>
          <a:p>
            <a:endParaRPr lang="en-US" dirty="0"/>
          </a:p>
          <a:p>
            <a:endParaRPr lang="en-US" dirty="0"/>
          </a:p>
          <a:p>
            <a:r>
              <a:rPr lang="en-US" dirty="0"/>
              <a:t>----------------------</a:t>
            </a:r>
          </a:p>
          <a:p>
            <a:endParaRPr lang="en-US" dirty="0"/>
          </a:p>
          <a:p>
            <a:r>
              <a:rPr lang="en-US" dirty="0" err="1"/>
              <a:t>CUT별</a:t>
            </a:r>
            <a:r>
              <a:rPr lang="en-US" dirty="0"/>
              <a:t> </a:t>
            </a:r>
            <a:r>
              <a:rPr lang="en-US" dirty="0" err="1"/>
              <a:t>이미지·모션</a:t>
            </a:r>
            <a:r>
              <a:rPr lang="en-US" dirty="0"/>
              <a:t> </a:t>
            </a:r>
            <a:r>
              <a:rPr lang="en-US" dirty="0" err="1"/>
              <a:t>프롬프트</a:t>
            </a:r>
            <a:r>
              <a:rPr lang="en-US" dirty="0"/>
              <a:t> (</a:t>
            </a:r>
            <a:r>
              <a:rPr lang="en-US" dirty="0" err="1"/>
              <a:t>영문</a:t>
            </a:r>
            <a:r>
              <a:rPr lang="en-US" dirty="0"/>
              <a:t> + </a:t>
            </a:r>
            <a:r>
              <a:rPr lang="en-US" dirty="0" err="1"/>
              <a:t>한글</a:t>
            </a:r>
            <a:r>
              <a:rPr lang="en-US" dirty="0"/>
              <a:t> </a:t>
            </a:r>
            <a:r>
              <a:rPr lang="en-US" dirty="0" err="1"/>
              <a:t>번역</a:t>
            </a:r>
            <a:r>
              <a:rPr lang="en-US" dirty="0"/>
              <a:t>)</a:t>
            </a:r>
          </a:p>
          <a:p>
            <a:r>
              <a:rPr lang="en-US" dirty="0"/>
              <a:t>────────────────────────</a:t>
            </a:r>
          </a:p>
          <a:p>
            <a:endParaRPr lang="en-US" dirty="0"/>
          </a:p>
          <a:p>
            <a:r>
              <a:rPr lang="en-US" dirty="0"/>
              <a:t>[CUT 1] 0~3초 / 훅</a:t>
            </a:r>
          </a:p>
          <a:p>
            <a:r>
              <a:rPr lang="en-US" dirty="0" err="1"/>
              <a:t>이미지</a:t>
            </a:r>
            <a:r>
              <a:rPr lang="en-US" dirty="0"/>
              <a:t> </a:t>
            </a:r>
            <a:r>
              <a:rPr lang="en-US" dirty="0" err="1"/>
              <a:t>프롬프트</a:t>
            </a:r>
            <a:endParaRPr lang="en-US" dirty="0"/>
          </a:p>
          <a:p>
            <a:endParaRPr lang="en-US" dirty="0"/>
          </a:p>
          <a:p>
            <a:r>
              <a:rPr lang="en-US" dirty="0"/>
              <a:t>EN: "Vertical 9:16 photo, warm dim evening kitchen lighting, close-up of an unopened workbook and a tablet placed on a dinner table, no faces visible, realistic home documentary photography style, slightly tense and quiet mood, shallow depth of field"</a:t>
            </a:r>
          </a:p>
          <a:p>
            <a:r>
              <a:rPr lang="en-US" dirty="0"/>
              <a:t>KR: "</a:t>
            </a:r>
            <a:r>
              <a:rPr lang="en-US" dirty="0" err="1"/>
              <a:t>세로</a:t>
            </a:r>
            <a:r>
              <a:rPr lang="en-US" dirty="0"/>
              <a:t> 9:16 </a:t>
            </a:r>
            <a:r>
              <a:rPr lang="en-US" dirty="0" err="1"/>
              <a:t>사진</a:t>
            </a:r>
            <a:r>
              <a:rPr lang="en-US" dirty="0"/>
              <a:t>, </a:t>
            </a:r>
            <a:r>
              <a:rPr lang="en-US" dirty="0" err="1"/>
              <a:t>따뜻하고</a:t>
            </a:r>
            <a:r>
              <a:rPr lang="en-US" dirty="0"/>
              <a:t> </a:t>
            </a:r>
            <a:r>
              <a:rPr lang="en-US" dirty="0" err="1"/>
              <a:t>어두운</a:t>
            </a:r>
            <a:r>
              <a:rPr lang="en-US" dirty="0"/>
              <a:t> </a:t>
            </a:r>
            <a:r>
              <a:rPr lang="en-US" dirty="0" err="1"/>
              <a:t>저녁</a:t>
            </a:r>
            <a:r>
              <a:rPr lang="en-US" dirty="0"/>
              <a:t> </a:t>
            </a:r>
            <a:r>
              <a:rPr lang="en-US" dirty="0" err="1"/>
              <a:t>주방</a:t>
            </a:r>
            <a:r>
              <a:rPr lang="en-US" dirty="0"/>
              <a:t> </a:t>
            </a:r>
            <a:r>
              <a:rPr lang="en-US" dirty="0" err="1"/>
              <a:t>조명</a:t>
            </a:r>
            <a:r>
              <a:rPr lang="en-US" dirty="0"/>
              <a:t>, </a:t>
            </a:r>
            <a:r>
              <a:rPr lang="en-US" dirty="0" err="1"/>
              <a:t>식탁</a:t>
            </a:r>
            <a:r>
              <a:rPr lang="en-US" dirty="0"/>
              <a:t> </a:t>
            </a:r>
            <a:r>
              <a:rPr lang="en-US" dirty="0" err="1"/>
              <a:t>위에</a:t>
            </a:r>
            <a:r>
              <a:rPr lang="en-US" dirty="0"/>
              <a:t> </a:t>
            </a:r>
            <a:r>
              <a:rPr lang="en-US" dirty="0" err="1"/>
              <a:t>놓인</a:t>
            </a:r>
            <a:r>
              <a:rPr lang="en-US" dirty="0"/>
              <a:t> </a:t>
            </a:r>
            <a:r>
              <a:rPr lang="en-US" dirty="0" err="1"/>
              <a:t>펼치지</a:t>
            </a:r>
            <a:r>
              <a:rPr lang="en-US" dirty="0"/>
              <a:t> </a:t>
            </a:r>
            <a:r>
              <a:rPr lang="en-US" dirty="0" err="1"/>
              <a:t>않은</a:t>
            </a:r>
            <a:r>
              <a:rPr lang="en-US" dirty="0"/>
              <a:t> </a:t>
            </a:r>
            <a:r>
              <a:rPr lang="en-US" dirty="0" err="1"/>
              <a:t>문제집과</a:t>
            </a:r>
            <a:r>
              <a:rPr lang="en-US" dirty="0"/>
              <a:t> </a:t>
            </a:r>
            <a:r>
              <a:rPr lang="en-US" dirty="0" err="1"/>
              <a:t>태블릿</a:t>
            </a:r>
            <a:r>
              <a:rPr lang="en-US" dirty="0"/>
              <a:t> </a:t>
            </a:r>
            <a:r>
              <a:rPr lang="en-US" dirty="0" err="1"/>
              <a:t>클로즈업</a:t>
            </a:r>
            <a:r>
              <a:rPr lang="en-US" dirty="0"/>
              <a:t>, </a:t>
            </a:r>
            <a:r>
              <a:rPr lang="en-US" dirty="0" err="1"/>
              <a:t>얼굴</a:t>
            </a:r>
            <a:r>
              <a:rPr lang="en-US" dirty="0"/>
              <a:t> </a:t>
            </a:r>
            <a:r>
              <a:rPr lang="en-US" dirty="0" err="1"/>
              <a:t>노출</a:t>
            </a:r>
            <a:r>
              <a:rPr lang="en-US" dirty="0"/>
              <a:t> </a:t>
            </a:r>
            <a:r>
              <a:rPr lang="en-US" dirty="0" err="1"/>
              <a:t>없음</a:t>
            </a:r>
            <a:r>
              <a:rPr lang="en-US" dirty="0"/>
              <a:t>, </a:t>
            </a:r>
            <a:r>
              <a:rPr lang="en-US" dirty="0" err="1"/>
              <a:t>사실적인</a:t>
            </a:r>
            <a:r>
              <a:rPr lang="en-US" dirty="0"/>
              <a:t> </a:t>
            </a:r>
            <a:r>
              <a:rPr lang="en-US" dirty="0" err="1"/>
              <a:t>가정</a:t>
            </a:r>
            <a:r>
              <a:rPr lang="en-US" dirty="0"/>
              <a:t> </a:t>
            </a:r>
            <a:r>
              <a:rPr lang="en-US" dirty="0" err="1"/>
              <a:t>다큐멘터리</a:t>
            </a:r>
            <a:r>
              <a:rPr lang="en-US" dirty="0"/>
              <a:t> </a:t>
            </a:r>
            <a:r>
              <a:rPr lang="en-US" dirty="0" err="1"/>
              <a:t>사진</a:t>
            </a:r>
            <a:r>
              <a:rPr lang="en-US" dirty="0"/>
              <a:t> </a:t>
            </a:r>
            <a:r>
              <a:rPr lang="en-US" dirty="0" err="1"/>
              <a:t>스타일</a:t>
            </a:r>
            <a:r>
              <a:rPr lang="en-US" dirty="0"/>
              <a:t>, </a:t>
            </a:r>
            <a:r>
              <a:rPr lang="en-US" dirty="0" err="1"/>
              <a:t>약간</a:t>
            </a:r>
            <a:r>
              <a:rPr lang="en-US" dirty="0"/>
              <a:t> </a:t>
            </a:r>
            <a:r>
              <a:rPr lang="en-US" dirty="0" err="1"/>
              <a:t>긴장되고</a:t>
            </a:r>
            <a:r>
              <a:rPr lang="en-US" dirty="0"/>
              <a:t> </a:t>
            </a:r>
            <a:r>
              <a:rPr lang="en-US" dirty="0" err="1"/>
              <a:t>조용한</a:t>
            </a:r>
            <a:r>
              <a:rPr lang="en-US" dirty="0"/>
              <a:t> </a:t>
            </a:r>
            <a:r>
              <a:rPr lang="en-US" dirty="0" err="1"/>
              <a:t>분위기</a:t>
            </a:r>
            <a:r>
              <a:rPr lang="en-US" dirty="0"/>
              <a:t>, </a:t>
            </a:r>
            <a:r>
              <a:rPr lang="en-US" dirty="0" err="1"/>
              <a:t>얕은</a:t>
            </a:r>
            <a:r>
              <a:rPr lang="en-US" dirty="0"/>
              <a:t> </a:t>
            </a:r>
            <a:r>
              <a:rPr lang="en-US" dirty="0" err="1"/>
              <a:t>심도</a:t>
            </a:r>
            <a:r>
              <a:rPr lang="en-US" dirty="0"/>
              <a:t>"</a:t>
            </a:r>
          </a:p>
          <a:p>
            <a:endParaRPr lang="en-US" dirty="0"/>
          </a:p>
          <a:p>
            <a:r>
              <a:rPr lang="en-US" dirty="0" err="1"/>
              <a:t>모션</a:t>
            </a:r>
            <a:r>
              <a:rPr lang="en-US" dirty="0"/>
              <a:t> </a:t>
            </a:r>
            <a:r>
              <a:rPr lang="en-US" dirty="0" err="1"/>
              <a:t>프롬프트</a:t>
            </a:r>
            <a:endParaRPr lang="en-US" dirty="0"/>
          </a:p>
          <a:p>
            <a:endParaRPr lang="en-US" dirty="0"/>
          </a:p>
          <a:p>
            <a:r>
              <a:rPr lang="en-US" dirty="0"/>
              <a:t>EN: "Subtle slow zoom-in toward the workbook, very slight ambient light flicker, no camera movement otherwise"</a:t>
            </a:r>
          </a:p>
          <a:p>
            <a:r>
              <a:rPr lang="en-US" dirty="0"/>
              <a:t>KR: "</a:t>
            </a:r>
            <a:r>
              <a:rPr lang="en-US" dirty="0" err="1"/>
              <a:t>문제집</a:t>
            </a:r>
            <a:r>
              <a:rPr lang="en-US" dirty="0"/>
              <a:t> </a:t>
            </a:r>
            <a:r>
              <a:rPr lang="en-US" dirty="0" err="1"/>
              <a:t>쪽으로</a:t>
            </a:r>
            <a:r>
              <a:rPr lang="en-US" dirty="0"/>
              <a:t> </a:t>
            </a:r>
            <a:r>
              <a:rPr lang="en-US" dirty="0" err="1"/>
              <a:t>미세하고</a:t>
            </a:r>
            <a:r>
              <a:rPr lang="en-US" dirty="0"/>
              <a:t> </a:t>
            </a:r>
            <a:r>
              <a:rPr lang="en-US" dirty="0" err="1"/>
              <a:t>느린</a:t>
            </a:r>
            <a:r>
              <a:rPr lang="en-US" dirty="0"/>
              <a:t> </a:t>
            </a:r>
            <a:r>
              <a:rPr lang="en-US" dirty="0" err="1"/>
              <a:t>줌인</a:t>
            </a:r>
            <a:r>
              <a:rPr lang="en-US" dirty="0"/>
              <a:t>, </a:t>
            </a:r>
            <a:r>
              <a:rPr lang="en-US" dirty="0" err="1"/>
              <a:t>매우</a:t>
            </a:r>
            <a:r>
              <a:rPr lang="en-US" dirty="0"/>
              <a:t> </a:t>
            </a:r>
            <a:r>
              <a:rPr lang="en-US" dirty="0" err="1"/>
              <a:t>약한</a:t>
            </a:r>
            <a:r>
              <a:rPr lang="en-US" dirty="0"/>
              <a:t> </a:t>
            </a:r>
            <a:r>
              <a:rPr lang="en-US" dirty="0" err="1"/>
              <a:t>주변광</a:t>
            </a:r>
            <a:r>
              <a:rPr lang="en-US" dirty="0"/>
              <a:t> </a:t>
            </a:r>
            <a:r>
              <a:rPr lang="en-US" dirty="0" err="1"/>
              <a:t>흔들림</a:t>
            </a:r>
            <a:r>
              <a:rPr lang="en-US" dirty="0"/>
              <a:t>, 그 외 </a:t>
            </a:r>
            <a:r>
              <a:rPr lang="en-US" dirty="0" err="1"/>
              <a:t>카메라</a:t>
            </a:r>
            <a:r>
              <a:rPr lang="en-US" dirty="0"/>
              <a:t> </a:t>
            </a:r>
            <a:r>
              <a:rPr lang="en-US" dirty="0" err="1"/>
              <a:t>움직임</a:t>
            </a:r>
            <a:r>
              <a:rPr lang="en-US" dirty="0"/>
              <a:t> </a:t>
            </a:r>
            <a:r>
              <a:rPr lang="en-US" dirty="0" err="1"/>
              <a:t>없음</a:t>
            </a:r>
            <a:r>
              <a:rPr lang="en-US" dirty="0"/>
              <a:t>"</a:t>
            </a:r>
          </a:p>
          <a:p>
            <a:endParaRPr lang="en-US" dirty="0"/>
          </a:p>
          <a:p>
            <a:r>
              <a:rPr lang="en-US" dirty="0"/>
              <a:t>────────────────────────</a:t>
            </a:r>
          </a:p>
          <a:p>
            <a:endParaRPr lang="en-US" dirty="0"/>
          </a:p>
          <a:p>
            <a:r>
              <a:rPr lang="en-US" dirty="0"/>
              <a:t>[CUT 2] 3~15초 / </a:t>
            </a:r>
            <a:r>
              <a:rPr lang="en-US" dirty="0" err="1"/>
              <a:t>공감</a:t>
            </a:r>
            <a:endParaRPr lang="en-US" dirty="0"/>
          </a:p>
          <a:p>
            <a:r>
              <a:rPr lang="en-US" dirty="0" err="1"/>
              <a:t>이미지</a:t>
            </a:r>
            <a:r>
              <a:rPr lang="en-US" dirty="0"/>
              <a:t> </a:t>
            </a:r>
            <a:r>
              <a:rPr lang="en-US" dirty="0" err="1"/>
              <a:t>프롬프트</a:t>
            </a:r>
            <a:endParaRPr lang="en-US" dirty="0"/>
          </a:p>
          <a:p>
            <a:endParaRPr lang="en-US" dirty="0"/>
          </a:p>
          <a:p>
            <a:r>
              <a:rPr lang="en-US" dirty="0"/>
              <a:t>EN: "Vertical 9:16 photo, same warm documentary photo style as previous, medium shot at home study table in the evening, a parent's hand opening a workbook next to a child, faces not fully shown, warm table lamp lighting with soft shadows, cozy and tired but caring mood"</a:t>
            </a:r>
          </a:p>
          <a:p>
            <a:r>
              <a:rPr lang="en-US" dirty="0"/>
              <a:t>KR: "</a:t>
            </a:r>
            <a:r>
              <a:rPr lang="en-US" dirty="0" err="1"/>
              <a:t>세로</a:t>
            </a:r>
            <a:r>
              <a:rPr lang="en-US" dirty="0"/>
              <a:t> 9:16 </a:t>
            </a:r>
            <a:r>
              <a:rPr lang="en-US" dirty="0" err="1"/>
              <a:t>사진</a:t>
            </a:r>
            <a:r>
              <a:rPr lang="en-US" dirty="0"/>
              <a:t>, </a:t>
            </a:r>
            <a:r>
              <a:rPr lang="en-US" dirty="0" err="1"/>
              <a:t>이전과</a:t>
            </a:r>
            <a:r>
              <a:rPr lang="en-US" dirty="0"/>
              <a:t> </a:t>
            </a:r>
            <a:r>
              <a:rPr lang="en-US" dirty="0" err="1"/>
              <a:t>동일한</a:t>
            </a:r>
            <a:r>
              <a:rPr lang="en-US" dirty="0"/>
              <a:t> </a:t>
            </a:r>
            <a:r>
              <a:rPr lang="en-US" dirty="0" err="1"/>
              <a:t>따뜻한</a:t>
            </a:r>
            <a:r>
              <a:rPr lang="en-US" dirty="0"/>
              <a:t> </a:t>
            </a:r>
            <a:r>
              <a:rPr lang="en-US" dirty="0" err="1"/>
              <a:t>다큐멘터리</a:t>
            </a:r>
            <a:r>
              <a:rPr lang="en-US" dirty="0"/>
              <a:t> </a:t>
            </a:r>
            <a:r>
              <a:rPr lang="en-US" dirty="0" err="1"/>
              <a:t>사진</a:t>
            </a:r>
            <a:r>
              <a:rPr lang="en-US" dirty="0"/>
              <a:t> </a:t>
            </a:r>
            <a:r>
              <a:rPr lang="en-US" dirty="0" err="1"/>
              <a:t>스타일</a:t>
            </a:r>
            <a:r>
              <a:rPr lang="en-US" dirty="0"/>
              <a:t>, </a:t>
            </a:r>
            <a:r>
              <a:rPr lang="en-US" dirty="0" err="1"/>
              <a:t>저녁</a:t>
            </a:r>
            <a:r>
              <a:rPr lang="en-US" dirty="0"/>
              <a:t> </a:t>
            </a:r>
            <a:r>
              <a:rPr lang="en-US" dirty="0" err="1"/>
              <a:t>시간</a:t>
            </a:r>
            <a:r>
              <a:rPr lang="en-US" dirty="0"/>
              <a:t> </a:t>
            </a:r>
            <a:r>
              <a:rPr lang="en-US" dirty="0" err="1"/>
              <a:t>가정</a:t>
            </a:r>
            <a:r>
              <a:rPr lang="en-US" dirty="0"/>
              <a:t> </a:t>
            </a:r>
            <a:r>
              <a:rPr lang="en-US" dirty="0" err="1"/>
              <a:t>학습</a:t>
            </a:r>
            <a:r>
              <a:rPr lang="en-US" dirty="0"/>
              <a:t> </a:t>
            </a:r>
            <a:r>
              <a:rPr lang="en-US" dirty="0" err="1"/>
              <a:t>테이블의</a:t>
            </a:r>
            <a:r>
              <a:rPr lang="en-US" dirty="0"/>
              <a:t> </a:t>
            </a:r>
            <a:r>
              <a:rPr lang="en-US" dirty="0" err="1"/>
              <a:t>미디엄</a:t>
            </a:r>
            <a:r>
              <a:rPr lang="en-US" dirty="0"/>
              <a:t> 샷, </a:t>
            </a:r>
            <a:r>
              <a:rPr lang="en-US" dirty="0" err="1"/>
              <a:t>아이</a:t>
            </a:r>
            <a:r>
              <a:rPr lang="en-US" dirty="0"/>
              <a:t> </a:t>
            </a:r>
            <a:r>
              <a:rPr lang="en-US" dirty="0" err="1"/>
              <a:t>옆에서</a:t>
            </a:r>
            <a:r>
              <a:rPr lang="en-US" dirty="0"/>
              <a:t> </a:t>
            </a:r>
            <a:r>
              <a:rPr lang="en-US" dirty="0" err="1"/>
              <a:t>문제집을</a:t>
            </a:r>
            <a:r>
              <a:rPr lang="en-US" dirty="0"/>
              <a:t> </a:t>
            </a:r>
            <a:r>
              <a:rPr lang="en-US" dirty="0" err="1"/>
              <a:t>펼쳐주는</a:t>
            </a:r>
            <a:r>
              <a:rPr lang="en-US" dirty="0"/>
              <a:t> </a:t>
            </a:r>
            <a:r>
              <a:rPr lang="en-US" dirty="0" err="1"/>
              <a:t>부모의</a:t>
            </a:r>
            <a:r>
              <a:rPr lang="en-US" dirty="0"/>
              <a:t> 손, </a:t>
            </a:r>
            <a:r>
              <a:rPr lang="en-US" dirty="0" err="1"/>
              <a:t>얼굴은</a:t>
            </a:r>
            <a:r>
              <a:rPr lang="en-US" dirty="0"/>
              <a:t> </a:t>
            </a:r>
            <a:r>
              <a:rPr lang="en-US" dirty="0" err="1"/>
              <a:t>완전히</a:t>
            </a:r>
            <a:r>
              <a:rPr lang="en-US" dirty="0"/>
              <a:t> </a:t>
            </a:r>
            <a:r>
              <a:rPr lang="en-US" dirty="0" err="1"/>
              <a:t>노출되지</a:t>
            </a:r>
            <a:r>
              <a:rPr lang="en-US" dirty="0"/>
              <a:t> </a:t>
            </a:r>
            <a:r>
              <a:rPr lang="en-US" dirty="0" err="1"/>
              <a:t>않음</a:t>
            </a:r>
            <a:r>
              <a:rPr lang="en-US" dirty="0"/>
              <a:t>, </a:t>
            </a:r>
            <a:r>
              <a:rPr lang="en-US" dirty="0" err="1"/>
              <a:t>부드러운</a:t>
            </a:r>
            <a:r>
              <a:rPr lang="en-US" dirty="0"/>
              <a:t> </a:t>
            </a:r>
            <a:r>
              <a:rPr lang="en-US" dirty="0" err="1"/>
              <a:t>그림자가</a:t>
            </a:r>
            <a:r>
              <a:rPr lang="en-US" dirty="0"/>
              <a:t> </a:t>
            </a:r>
            <a:r>
              <a:rPr lang="en-US" dirty="0" err="1"/>
              <a:t>있는</a:t>
            </a:r>
            <a:r>
              <a:rPr lang="en-US" dirty="0"/>
              <a:t> </a:t>
            </a:r>
            <a:r>
              <a:rPr lang="en-US" dirty="0" err="1"/>
              <a:t>따뜻한</a:t>
            </a:r>
            <a:r>
              <a:rPr lang="en-US" dirty="0"/>
              <a:t> </a:t>
            </a:r>
            <a:r>
              <a:rPr lang="en-US" dirty="0" err="1"/>
              <a:t>스탠드</a:t>
            </a:r>
            <a:r>
              <a:rPr lang="en-US" dirty="0"/>
              <a:t> </a:t>
            </a:r>
            <a:r>
              <a:rPr lang="en-US" dirty="0" err="1"/>
              <a:t>조명</a:t>
            </a:r>
            <a:r>
              <a:rPr lang="en-US" dirty="0"/>
              <a:t>, </a:t>
            </a:r>
            <a:r>
              <a:rPr lang="en-US" dirty="0" err="1"/>
              <a:t>따뜻하지만</a:t>
            </a:r>
            <a:r>
              <a:rPr lang="en-US" dirty="0"/>
              <a:t> </a:t>
            </a:r>
            <a:r>
              <a:rPr lang="en-US" dirty="0" err="1"/>
              <a:t>지친</a:t>
            </a:r>
            <a:r>
              <a:rPr lang="en-US" dirty="0"/>
              <a:t> </a:t>
            </a:r>
            <a:r>
              <a:rPr lang="en-US" dirty="0" err="1"/>
              <a:t>듯한</a:t>
            </a:r>
            <a:r>
              <a:rPr lang="en-US" dirty="0"/>
              <a:t> </a:t>
            </a:r>
            <a:r>
              <a:rPr lang="en-US" dirty="0" err="1"/>
              <a:t>보살핌의</a:t>
            </a:r>
            <a:r>
              <a:rPr lang="en-US" dirty="0"/>
              <a:t> </a:t>
            </a:r>
            <a:r>
              <a:rPr lang="en-US" dirty="0" err="1"/>
              <a:t>분위기</a:t>
            </a:r>
            <a:r>
              <a:rPr lang="en-US" dirty="0"/>
              <a:t>"</a:t>
            </a:r>
          </a:p>
          <a:p>
            <a:endParaRPr lang="en-US" dirty="0"/>
          </a:p>
          <a:p>
            <a:r>
              <a:rPr lang="en-US" dirty="0" err="1"/>
              <a:t>모션</a:t>
            </a:r>
            <a:r>
              <a:rPr lang="en-US" dirty="0"/>
              <a:t> </a:t>
            </a:r>
            <a:r>
              <a:rPr lang="en-US" dirty="0" err="1"/>
              <a:t>프롬프트</a:t>
            </a:r>
            <a:endParaRPr lang="en-US" dirty="0"/>
          </a:p>
          <a:p>
            <a:endParaRPr lang="en-US" dirty="0"/>
          </a:p>
          <a:p>
            <a:r>
              <a:rPr lang="en-US" dirty="0"/>
              <a:t>EN: "Very slight handheld sway, gentle hand movement turning a page, soft lamp light flicker"</a:t>
            </a:r>
          </a:p>
          <a:p>
            <a:r>
              <a:rPr lang="en-US" dirty="0"/>
              <a:t>KR: "</a:t>
            </a:r>
            <a:r>
              <a:rPr lang="en-US" dirty="0" err="1"/>
              <a:t>매우</a:t>
            </a:r>
            <a:r>
              <a:rPr lang="en-US" dirty="0"/>
              <a:t> </a:t>
            </a:r>
            <a:r>
              <a:rPr lang="en-US" dirty="0" err="1"/>
              <a:t>약한</a:t>
            </a:r>
            <a:r>
              <a:rPr lang="en-US" dirty="0"/>
              <a:t> </a:t>
            </a:r>
            <a:r>
              <a:rPr lang="en-US" dirty="0" err="1"/>
              <a:t>핸드헬드</a:t>
            </a:r>
            <a:r>
              <a:rPr lang="en-US" dirty="0"/>
              <a:t> </a:t>
            </a:r>
            <a:r>
              <a:rPr lang="en-US" dirty="0" err="1"/>
              <a:t>흔들림</a:t>
            </a:r>
            <a:r>
              <a:rPr lang="en-US" dirty="0"/>
              <a:t>, </a:t>
            </a:r>
            <a:r>
              <a:rPr lang="en-US" dirty="0" err="1"/>
              <a:t>페이지를</a:t>
            </a:r>
            <a:r>
              <a:rPr lang="en-US" dirty="0"/>
              <a:t> </a:t>
            </a:r>
            <a:r>
              <a:rPr lang="en-US" dirty="0" err="1"/>
              <a:t>넘기는</a:t>
            </a:r>
            <a:r>
              <a:rPr lang="en-US" dirty="0"/>
              <a:t> </a:t>
            </a:r>
            <a:r>
              <a:rPr lang="en-US" dirty="0" err="1"/>
              <a:t>부드러운</a:t>
            </a:r>
            <a:r>
              <a:rPr lang="en-US" dirty="0"/>
              <a:t> 손 </a:t>
            </a:r>
            <a:r>
              <a:rPr lang="en-US" dirty="0" err="1"/>
              <a:t>움직임</a:t>
            </a:r>
            <a:r>
              <a:rPr lang="en-US" dirty="0"/>
              <a:t>, </a:t>
            </a:r>
            <a:r>
              <a:rPr lang="en-US" dirty="0" err="1"/>
              <a:t>스탠드</a:t>
            </a:r>
            <a:r>
              <a:rPr lang="en-US" dirty="0"/>
              <a:t> </a:t>
            </a:r>
            <a:r>
              <a:rPr lang="en-US" dirty="0" err="1"/>
              <a:t>조명의</a:t>
            </a:r>
            <a:r>
              <a:rPr lang="en-US" dirty="0"/>
              <a:t> </a:t>
            </a:r>
            <a:r>
              <a:rPr lang="en-US" dirty="0" err="1"/>
              <a:t>약한</a:t>
            </a:r>
            <a:r>
              <a:rPr lang="en-US" dirty="0"/>
              <a:t> </a:t>
            </a:r>
            <a:r>
              <a:rPr lang="en-US" dirty="0" err="1"/>
              <a:t>깜빡임</a:t>
            </a:r>
            <a:r>
              <a:rPr lang="en-US" dirty="0"/>
              <a:t>"</a:t>
            </a:r>
          </a:p>
          <a:p>
            <a:endParaRPr lang="en-US" dirty="0"/>
          </a:p>
          <a:p>
            <a:r>
              <a:rPr lang="en-US" dirty="0"/>
              <a:t>────────────────────────</a:t>
            </a:r>
          </a:p>
          <a:p>
            <a:endParaRPr lang="en-US" dirty="0"/>
          </a:p>
          <a:p>
            <a:r>
              <a:rPr lang="en-US" dirty="0"/>
              <a:t>[CUT 3] 15~35초 / </a:t>
            </a:r>
            <a:r>
              <a:rPr lang="en-US" dirty="0" err="1"/>
              <a:t>문제</a:t>
            </a:r>
            <a:endParaRPr lang="en-US" dirty="0"/>
          </a:p>
          <a:p>
            <a:r>
              <a:rPr lang="en-US" dirty="0" err="1"/>
              <a:t>이미지</a:t>
            </a:r>
            <a:r>
              <a:rPr lang="en-US" dirty="0"/>
              <a:t> </a:t>
            </a:r>
            <a:r>
              <a:rPr lang="en-US" dirty="0" err="1"/>
              <a:t>프롬프트</a:t>
            </a:r>
            <a:endParaRPr lang="en-US" dirty="0"/>
          </a:p>
          <a:p>
            <a:endParaRPr lang="en-US" dirty="0"/>
          </a:p>
          <a:p>
            <a:r>
              <a:rPr lang="en-US" dirty="0"/>
              <a:t>EN: "Vertical 9:16 photo, same documentary photo style, close-up of a test paper with red correction marks on a desk, slightly desaturated cool-toned evening light, realistic home study room, slightly heavy and worried mood, no readable text on paper"</a:t>
            </a:r>
          </a:p>
          <a:p>
            <a:r>
              <a:rPr lang="en-US" dirty="0"/>
              <a:t>KR: "</a:t>
            </a:r>
            <a:r>
              <a:rPr lang="en-US" dirty="0" err="1"/>
              <a:t>세로</a:t>
            </a:r>
            <a:r>
              <a:rPr lang="en-US" dirty="0"/>
              <a:t> 9:16 </a:t>
            </a:r>
            <a:r>
              <a:rPr lang="en-US" dirty="0" err="1"/>
              <a:t>사진</a:t>
            </a:r>
            <a:r>
              <a:rPr lang="en-US" dirty="0"/>
              <a:t>, </a:t>
            </a:r>
            <a:r>
              <a:rPr lang="en-US" dirty="0" err="1"/>
              <a:t>동일한</a:t>
            </a:r>
            <a:r>
              <a:rPr lang="en-US" dirty="0"/>
              <a:t> </a:t>
            </a:r>
            <a:r>
              <a:rPr lang="en-US" dirty="0" err="1"/>
              <a:t>다큐멘터리</a:t>
            </a:r>
            <a:r>
              <a:rPr lang="en-US" dirty="0"/>
              <a:t> </a:t>
            </a:r>
            <a:r>
              <a:rPr lang="en-US" dirty="0" err="1"/>
              <a:t>사진</a:t>
            </a:r>
            <a:r>
              <a:rPr lang="en-US" dirty="0"/>
              <a:t> </a:t>
            </a:r>
            <a:r>
              <a:rPr lang="en-US" dirty="0" err="1"/>
              <a:t>스타일</a:t>
            </a:r>
            <a:r>
              <a:rPr lang="en-US" dirty="0"/>
              <a:t>, </a:t>
            </a:r>
            <a:r>
              <a:rPr lang="en-US" dirty="0" err="1"/>
              <a:t>빨간</a:t>
            </a:r>
            <a:r>
              <a:rPr lang="en-US" dirty="0"/>
              <a:t> </a:t>
            </a:r>
            <a:r>
              <a:rPr lang="en-US" dirty="0" err="1"/>
              <a:t>채점</a:t>
            </a:r>
            <a:r>
              <a:rPr lang="en-US" dirty="0"/>
              <a:t> </a:t>
            </a:r>
            <a:r>
              <a:rPr lang="en-US" dirty="0" err="1"/>
              <a:t>표시가</a:t>
            </a:r>
            <a:r>
              <a:rPr lang="en-US" dirty="0"/>
              <a:t> </a:t>
            </a:r>
            <a:r>
              <a:rPr lang="en-US" dirty="0" err="1"/>
              <a:t>있는</a:t>
            </a:r>
            <a:r>
              <a:rPr lang="en-US" dirty="0"/>
              <a:t> </a:t>
            </a:r>
            <a:r>
              <a:rPr lang="en-US" dirty="0" err="1"/>
              <a:t>시험지를</a:t>
            </a:r>
            <a:r>
              <a:rPr lang="en-US" dirty="0"/>
              <a:t> </a:t>
            </a:r>
            <a:r>
              <a:rPr lang="en-US" dirty="0" err="1"/>
              <a:t>책상</a:t>
            </a:r>
            <a:r>
              <a:rPr lang="en-US" dirty="0"/>
              <a:t> </a:t>
            </a:r>
            <a:r>
              <a:rPr lang="en-US" dirty="0" err="1"/>
              <a:t>위에서</a:t>
            </a:r>
            <a:r>
              <a:rPr lang="en-US" dirty="0"/>
              <a:t> </a:t>
            </a:r>
            <a:r>
              <a:rPr lang="en-US" dirty="0" err="1"/>
              <a:t>클로즈업</a:t>
            </a:r>
            <a:r>
              <a:rPr lang="en-US" dirty="0"/>
              <a:t>, </a:t>
            </a:r>
            <a:r>
              <a:rPr lang="en-US" dirty="0" err="1"/>
              <a:t>약간</a:t>
            </a:r>
            <a:r>
              <a:rPr lang="en-US" dirty="0"/>
              <a:t> </a:t>
            </a:r>
            <a:r>
              <a:rPr lang="en-US" dirty="0" err="1"/>
              <a:t>채도가</a:t>
            </a:r>
            <a:r>
              <a:rPr lang="en-US" dirty="0"/>
              <a:t> </a:t>
            </a:r>
            <a:r>
              <a:rPr lang="en-US" dirty="0" err="1"/>
              <a:t>낮은</a:t>
            </a:r>
            <a:r>
              <a:rPr lang="en-US" dirty="0"/>
              <a:t> </a:t>
            </a:r>
            <a:r>
              <a:rPr lang="en-US" dirty="0" err="1"/>
              <a:t>차가운</a:t>
            </a:r>
            <a:r>
              <a:rPr lang="en-US" dirty="0"/>
              <a:t> </a:t>
            </a:r>
            <a:r>
              <a:rPr lang="en-US" dirty="0" err="1"/>
              <a:t>톤의</a:t>
            </a:r>
            <a:r>
              <a:rPr lang="en-US" dirty="0"/>
              <a:t> </a:t>
            </a:r>
            <a:r>
              <a:rPr lang="en-US" dirty="0" err="1"/>
              <a:t>저녁</a:t>
            </a:r>
            <a:r>
              <a:rPr lang="en-US" dirty="0"/>
              <a:t> </a:t>
            </a:r>
            <a:r>
              <a:rPr lang="en-US" dirty="0" err="1"/>
              <a:t>조명</a:t>
            </a:r>
            <a:r>
              <a:rPr lang="en-US" dirty="0"/>
              <a:t>, </a:t>
            </a:r>
            <a:r>
              <a:rPr lang="en-US" dirty="0" err="1"/>
              <a:t>사실적인</a:t>
            </a:r>
            <a:r>
              <a:rPr lang="en-US" dirty="0"/>
              <a:t> </a:t>
            </a:r>
            <a:r>
              <a:rPr lang="en-US" dirty="0" err="1"/>
              <a:t>가정</a:t>
            </a:r>
            <a:r>
              <a:rPr lang="en-US" dirty="0"/>
              <a:t> </a:t>
            </a:r>
            <a:r>
              <a:rPr lang="en-US" dirty="0" err="1"/>
              <a:t>학습</a:t>
            </a:r>
            <a:r>
              <a:rPr lang="en-US" dirty="0"/>
              <a:t> </a:t>
            </a:r>
            <a:r>
              <a:rPr lang="en-US" dirty="0" err="1"/>
              <a:t>공간</a:t>
            </a:r>
            <a:r>
              <a:rPr lang="en-US" dirty="0"/>
              <a:t>, </a:t>
            </a:r>
            <a:r>
              <a:rPr lang="en-US" dirty="0" err="1"/>
              <a:t>약간</a:t>
            </a:r>
            <a:r>
              <a:rPr lang="en-US" dirty="0"/>
              <a:t> </a:t>
            </a:r>
            <a:r>
              <a:rPr lang="en-US" dirty="0" err="1"/>
              <a:t>무겁고</a:t>
            </a:r>
            <a:r>
              <a:rPr lang="en-US" dirty="0"/>
              <a:t> </a:t>
            </a:r>
            <a:r>
              <a:rPr lang="en-US" dirty="0" err="1"/>
              <a:t>걱정스러운</a:t>
            </a:r>
            <a:r>
              <a:rPr lang="en-US" dirty="0"/>
              <a:t> </a:t>
            </a:r>
            <a:r>
              <a:rPr lang="en-US" dirty="0" err="1"/>
              <a:t>분위기</a:t>
            </a:r>
            <a:r>
              <a:rPr lang="en-US" dirty="0"/>
              <a:t>, </a:t>
            </a:r>
            <a:r>
              <a:rPr lang="en-US" dirty="0" err="1"/>
              <a:t>시험지에는</a:t>
            </a:r>
            <a:r>
              <a:rPr lang="en-US" dirty="0"/>
              <a:t> </a:t>
            </a:r>
            <a:r>
              <a:rPr lang="en-US" dirty="0" err="1"/>
              <a:t>읽을</a:t>
            </a:r>
            <a:r>
              <a:rPr lang="en-US" dirty="0"/>
              <a:t> 수 </a:t>
            </a:r>
            <a:r>
              <a:rPr lang="en-US" dirty="0" err="1"/>
              <a:t>있는</a:t>
            </a:r>
            <a:r>
              <a:rPr lang="en-US" dirty="0"/>
              <a:t> </a:t>
            </a:r>
            <a:r>
              <a:rPr lang="en-US" dirty="0" err="1"/>
              <a:t>텍스트</a:t>
            </a:r>
            <a:r>
              <a:rPr lang="en-US" dirty="0"/>
              <a:t> </a:t>
            </a:r>
            <a:r>
              <a:rPr lang="en-US" dirty="0" err="1"/>
              <a:t>없음</a:t>
            </a:r>
            <a:r>
              <a:rPr lang="en-US" dirty="0"/>
              <a:t>"</a:t>
            </a:r>
          </a:p>
          <a:p>
            <a:endParaRPr lang="en-US" dirty="0"/>
          </a:p>
          <a:p>
            <a:r>
              <a:rPr lang="en-US" dirty="0" err="1"/>
              <a:t>모션</a:t>
            </a:r>
            <a:r>
              <a:rPr lang="en-US" dirty="0"/>
              <a:t> </a:t>
            </a:r>
            <a:r>
              <a:rPr lang="en-US" dirty="0" err="1"/>
              <a:t>프롬프트</a:t>
            </a:r>
            <a:endParaRPr lang="en-US" dirty="0"/>
          </a:p>
          <a:p>
            <a:endParaRPr lang="en-US" dirty="0"/>
          </a:p>
          <a:p>
            <a:r>
              <a:rPr lang="en-US" dirty="0"/>
              <a:t>EN: "Minimal motion: slow subtle pan across the test paper, faint shadow movement from ambient light, no major camera move"</a:t>
            </a:r>
          </a:p>
          <a:p>
            <a:r>
              <a:rPr lang="en-US" dirty="0"/>
              <a:t>KR: "</a:t>
            </a:r>
            <a:r>
              <a:rPr lang="en-US" dirty="0" err="1"/>
              <a:t>최소한의</a:t>
            </a:r>
            <a:r>
              <a:rPr lang="en-US" dirty="0"/>
              <a:t> </a:t>
            </a:r>
            <a:r>
              <a:rPr lang="en-US" dirty="0" err="1"/>
              <a:t>움직임</a:t>
            </a:r>
            <a:r>
              <a:rPr lang="en-US" dirty="0"/>
              <a:t>: </a:t>
            </a:r>
            <a:r>
              <a:rPr lang="en-US" dirty="0" err="1"/>
              <a:t>시험지를</a:t>
            </a:r>
            <a:r>
              <a:rPr lang="en-US" dirty="0"/>
              <a:t> </a:t>
            </a:r>
            <a:r>
              <a:rPr lang="en-US" dirty="0" err="1"/>
              <a:t>천천히</a:t>
            </a:r>
            <a:r>
              <a:rPr lang="en-US" dirty="0"/>
              <a:t> </a:t>
            </a:r>
            <a:r>
              <a:rPr lang="en-US" dirty="0" err="1"/>
              <a:t>미세하게</a:t>
            </a:r>
            <a:r>
              <a:rPr lang="en-US" dirty="0"/>
              <a:t> </a:t>
            </a:r>
            <a:r>
              <a:rPr lang="en-US" dirty="0" err="1"/>
              <a:t>패닝</a:t>
            </a:r>
            <a:r>
              <a:rPr lang="en-US" dirty="0"/>
              <a:t>, </a:t>
            </a:r>
            <a:r>
              <a:rPr lang="en-US" dirty="0" err="1"/>
              <a:t>주변광에</a:t>
            </a:r>
            <a:r>
              <a:rPr lang="en-US" dirty="0"/>
              <a:t> </a:t>
            </a:r>
            <a:r>
              <a:rPr lang="en-US" dirty="0" err="1"/>
              <a:t>의한</a:t>
            </a:r>
            <a:r>
              <a:rPr lang="en-US" dirty="0"/>
              <a:t> </a:t>
            </a:r>
            <a:r>
              <a:rPr lang="en-US" dirty="0" err="1"/>
              <a:t>약한</a:t>
            </a:r>
            <a:r>
              <a:rPr lang="en-US" dirty="0"/>
              <a:t> </a:t>
            </a:r>
            <a:r>
              <a:rPr lang="en-US" dirty="0" err="1"/>
              <a:t>그림자</a:t>
            </a:r>
            <a:r>
              <a:rPr lang="en-US" dirty="0"/>
              <a:t> </a:t>
            </a:r>
            <a:r>
              <a:rPr lang="en-US" dirty="0" err="1"/>
              <a:t>움직임</a:t>
            </a:r>
            <a:r>
              <a:rPr lang="en-US" dirty="0"/>
              <a:t>, 큰 </a:t>
            </a:r>
            <a:r>
              <a:rPr lang="en-US" dirty="0" err="1"/>
              <a:t>카메라</a:t>
            </a:r>
            <a:r>
              <a:rPr lang="en-US" dirty="0"/>
              <a:t> </a:t>
            </a:r>
            <a:r>
              <a:rPr lang="en-US" dirty="0" err="1"/>
              <a:t>이동</a:t>
            </a:r>
            <a:r>
              <a:rPr lang="en-US" dirty="0"/>
              <a:t> </a:t>
            </a:r>
            <a:r>
              <a:rPr lang="en-US" dirty="0" err="1"/>
              <a:t>없음</a:t>
            </a:r>
            <a:r>
              <a:rPr lang="en-US" dirty="0"/>
              <a:t>"</a:t>
            </a:r>
          </a:p>
          <a:p>
            <a:endParaRPr lang="en-US" dirty="0"/>
          </a:p>
          <a:p>
            <a:r>
              <a:rPr lang="en-US" dirty="0"/>
              <a:t>────────────────────────</a:t>
            </a:r>
          </a:p>
          <a:p>
            <a:endParaRPr lang="en-US" dirty="0"/>
          </a:p>
          <a:p>
            <a:r>
              <a:rPr lang="en-US" dirty="0"/>
              <a:t>[CUT 4] 35~42초 / </a:t>
            </a:r>
            <a:r>
              <a:rPr lang="en-US" dirty="0" err="1"/>
              <a:t>마무리</a:t>
            </a:r>
            <a:r>
              <a:rPr lang="en-US" dirty="0"/>
              <a:t>(</a:t>
            </a:r>
            <a:r>
              <a:rPr lang="en-US" dirty="0" err="1"/>
              <a:t>블로그</a:t>
            </a:r>
            <a:r>
              <a:rPr lang="en-US" dirty="0"/>
              <a:t> </a:t>
            </a:r>
            <a:r>
              <a:rPr lang="en-US" dirty="0" err="1"/>
              <a:t>유도</a:t>
            </a:r>
            <a:r>
              <a:rPr lang="en-US" dirty="0"/>
              <a:t>)</a:t>
            </a:r>
          </a:p>
          <a:p>
            <a:r>
              <a:rPr lang="en-US" dirty="0" err="1"/>
              <a:t>이미지</a:t>
            </a:r>
            <a:r>
              <a:rPr lang="en-US" dirty="0"/>
              <a:t> </a:t>
            </a:r>
            <a:r>
              <a:rPr lang="en-US" dirty="0" err="1"/>
              <a:t>프롬프트</a:t>
            </a:r>
            <a:endParaRPr lang="en-US" dirty="0"/>
          </a:p>
          <a:p>
            <a:endParaRPr lang="en-US" dirty="0"/>
          </a:p>
          <a:p>
            <a:r>
              <a:rPr lang="en-US" dirty="0"/>
              <a:t>EN: "Vertical 9:16 photo, same documentary photo style but transitioning to bright warm morning light, close-up of a hand checking off items on a simple planner on a desk near a window, hopeful and calm mood, shallow depth of field, no readable text on planner"</a:t>
            </a:r>
          </a:p>
          <a:p>
            <a:r>
              <a:rPr lang="en-US" dirty="0"/>
              <a:t>KR: "</a:t>
            </a:r>
            <a:r>
              <a:rPr lang="en-US" dirty="0" err="1"/>
              <a:t>세로</a:t>
            </a:r>
            <a:r>
              <a:rPr lang="en-US" dirty="0"/>
              <a:t> 9:16 </a:t>
            </a:r>
            <a:r>
              <a:rPr lang="en-US" dirty="0" err="1"/>
              <a:t>사진</a:t>
            </a:r>
            <a:r>
              <a:rPr lang="en-US" dirty="0"/>
              <a:t>, </a:t>
            </a:r>
            <a:r>
              <a:rPr lang="en-US" dirty="0" err="1"/>
              <a:t>동일한</a:t>
            </a:r>
            <a:r>
              <a:rPr lang="en-US" dirty="0"/>
              <a:t> </a:t>
            </a:r>
            <a:r>
              <a:rPr lang="en-US" dirty="0" err="1"/>
              <a:t>다큐멘터리</a:t>
            </a:r>
            <a:r>
              <a:rPr lang="en-US" dirty="0"/>
              <a:t> </a:t>
            </a:r>
            <a:r>
              <a:rPr lang="en-US" dirty="0" err="1"/>
              <a:t>사진</a:t>
            </a:r>
            <a:r>
              <a:rPr lang="en-US" dirty="0"/>
              <a:t> </a:t>
            </a:r>
            <a:r>
              <a:rPr lang="en-US" dirty="0" err="1"/>
              <a:t>스타일이나</a:t>
            </a:r>
            <a:r>
              <a:rPr lang="en-US" dirty="0"/>
              <a:t> </a:t>
            </a:r>
            <a:r>
              <a:rPr lang="en-US" dirty="0" err="1"/>
              <a:t>밝고</a:t>
            </a:r>
            <a:r>
              <a:rPr lang="en-US" dirty="0"/>
              <a:t> </a:t>
            </a:r>
            <a:r>
              <a:rPr lang="en-US" dirty="0" err="1"/>
              <a:t>따뜻한</a:t>
            </a:r>
            <a:r>
              <a:rPr lang="en-US" dirty="0"/>
              <a:t> </a:t>
            </a:r>
            <a:r>
              <a:rPr lang="en-US" dirty="0" err="1"/>
              <a:t>아침</a:t>
            </a:r>
            <a:r>
              <a:rPr lang="en-US" dirty="0"/>
              <a:t> </a:t>
            </a:r>
            <a:r>
              <a:rPr lang="en-US" dirty="0" err="1"/>
              <a:t>조명으로</a:t>
            </a:r>
            <a:r>
              <a:rPr lang="en-US" dirty="0"/>
              <a:t> </a:t>
            </a:r>
            <a:r>
              <a:rPr lang="en-US" dirty="0" err="1"/>
              <a:t>전환</a:t>
            </a:r>
            <a:r>
              <a:rPr lang="en-US" dirty="0"/>
              <a:t>, </a:t>
            </a:r>
            <a:r>
              <a:rPr lang="en-US" dirty="0" err="1"/>
              <a:t>창가</a:t>
            </a:r>
            <a:r>
              <a:rPr lang="en-US" dirty="0"/>
              <a:t> </a:t>
            </a:r>
            <a:r>
              <a:rPr lang="en-US" dirty="0" err="1"/>
              <a:t>책상</a:t>
            </a:r>
            <a:r>
              <a:rPr lang="en-US" dirty="0"/>
              <a:t> 위 </a:t>
            </a:r>
            <a:r>
              <a:rPr lang="en-US" dirty="0" err="1"/>
              <a:t>다이어리에</a:t>
            </a:r>
            <a:r>
              <a:rPr lang="en-US" dirty="0"/>
              <a:t> </a:t>
            </a:r>
            <a:r>
              <a:rPr lang="en-US" dirty="0" err="1"/>
              <a:t>체크</a:t>
            </a:r>
            <a:r>
              <a:rPr lang="en-US" dirty="0"/>
              <a:t> </a:t>
            </a:r>
            <a:r>
              <a:rPr lang="en-US" dirty="0" err="1"/>
              <a:t>표시를</a:t>
            </a:r>
            <a:r>
              <a:rPr lang="en-US" dirty="0"/>
              <a:t> </a:t>
            </a:r>
            <a:r>
              <a:rPr lang="en-US" dirty="0" err="1"/>
              <a:t>하는</a:t>
            </a:r>
            <a:r>
              <a:rPr lang="en-US" dirty="0"/>
              <a:t> 손 </a:t>
            </a:r>
            <a:r>
              <a:rPr lang="en-US" dirty="0" err="1"/>
              <a:t>클로즈업</a:t>
            </a:r>
            <a:r>
              <a:rPr lang="en-US" dirty="0"/>
              <a:t>, </a:t>
            </a:r>
            <a:r>
              <a:rPr lang="en-US" dirty="0" err="1"/>
              <a:t>희망적이고</a:t>
            </a:r>
            <a:r>
              <a:rPr lang="en-US" dirty="0"/>
              <a:t> </a:t>
            </a:r>
            <a:r>
              <a:rPr lang="en-US" dirty="0" err="1"/>
              <a:t>차분한</a:t>
            </a:r>
            <a:r>
              <a:rPr lang="en-US" dirty="0"/>
              <a:t> </a:t>
            </a:r>
            <a:r>
              <a:rPr lang="en-US" dirty="0" err="1"/>
              <a:t>분위기</a:t>
            </a:r>
            <a:r>
              <a:rPr lang="en-US" dirty="0"/>
              <a:t>, </a:t>
            </a:r>
            <a:r>
              <a:rPr lang="en-US" dirty="0" err="1"/>
              <a:t>얕은</a:t>
            </a:r>
            <a:r>
              <a:rPr lang="en-US" dirty="0"/>
              <a:t> </a:t>
            </a:r>
            <a:r>
              <a:rPr lang="en-US" dirty="0" err="1"/>
              <a:t>심도</a:t>
            </a:r>
            <a:r>
              <a:rPr lang="en-US" dirty="0"/>
              <a:t>, </a:t>
            </a:r>
            <a:r>
              <a:rPr lang="en-US" dirty="0" err="1"/>
              <a:t>다이어리에는</a:t>
            </a:r>
            <a:r>
              <a:rPr lang="en-US" dirty="0"/>
              <a:t> </a:t>
            </a:r>
            <a:r>
              <a:rPr lang="en-US" dirty="0" err="1"/>
              <a:t>읽을</a:t>
            </a:r>
            <a:r>
              <a:rPr lang="en-US" dirty="0"/>
              <a:t> 수 </a:t>
            </a:r>
            <a:r>
              <a:rPr lang="en-US" dirty="0" err="1"/>
              <a:t>있는</a:t>
            </a:r>
            <a:r>
              <a:rPr lang="en-US" dirty="0"/>
              <a:t> </a:t>
            </a:r>
            <a:r>
              <a:rPr lang="en-US" dirty="0" err="1"/>
              <a:t>텍스트</a:t>
            </a:r>
            <a:r>
              <a:rPr lang="en-US" dirty="0"/>
              <a:t> </a:t>
            </a:r>
            <a:r>
              <a:rPr lang="en-US" dirty="0" err="1"/>
              <a:t>없음</a:t>
            </a:r>
            <a:r>
              <a:rPr lang="en-US" dirty="0"/>
              <a:t>"</a:t>
            </a:r>
          </a:p>
          <a:p>
            <a:endParaRPr lang="en-US" dirty="0"/>
          </a:p>
          <a:p>
            <a:r>
              <a:rPr lang="en-US" dirty="0" err="1"/>
              <a:t>모션</a:t>
            </a:r>
            <a:r>
              <a:rPr lang="en-US" dirty="0"/>
              <a:t> </a:t>
            </a:r>
            <a:r>
              <a:rPr lang="en-US" dirty="0" err="1"/>
              <a:t>프롬프트</a:t>
            </a:r>
            <a:endParaRPr lang="en-US" dirty="0"/>
          </a:p>
          <a:p>
            <a:endParaRPr lang="en-US" dirty="0"/>
          </a:p>
          <a:p>
            <a:r>
              <a:rPr lang="en-US" dirty="0"/>
              <a:t>EN: "Subtle hand movement marking a checkbox, gentle sunlight shift across the desk, very slow zoom-out"</a:t>
            </a:r>
          </a:p>
          <a:p>
            <a:r>
              <a:rPr lang="en-US" dirty="0"/>
              <a:t>KR: "</a:t>
            </a:r>
            <a:r>
              <a:rPr lang="en-US" dirty="0" err="1"/>
              <a:t>체크박스를</a:t>
            </a:r>
            <a:r>
              <a:rPr lang="en-US" dirty="0"/>
              <a:t> </a:t>
            </a:r>
            <a:r>
              <a:rPr lang="en-US" dirty="0" err="1"/>
              <a:t>표시하는</a:t>
            </a:r>
            <a:r>
              <a:rPr lang="en-US" dirty="0"/>
              <a:t> </a:t>
            </a:r>
            <a:r>
              <a:rPr lang="en-US" dirty="0" err="1"/>
              <a:t>미세한</a:t>
            </a:r>
            <a:r>
              <a:rPr lang="en-US" dirty="0"/>
              <a:t> 손 </a:t>
            </a:r>
            <a:r>
              <a:rPr lang="en-US" dirty="0" err="1"/>
              <a:t>움직임</a:t>
            </a:r>
            <a:r>
              <a:rPr lang="en-US" dirty="0"/>
              <a:t>, </a:t>
            </a:r>
            <a:r>
              <a:rPr lang="en-US" dirty="0" err="1"/>
              <a:t>책상</a:t>
            </a:r>
            <a:r>
              <a:rPr lang="en-US" dirty="0"/>
              <a:t> </a:t>
            </a:r>
            <a:r>
              <a:rPr lang="en-US" dirty="0" err="1"/>
              <a:t>위로</a:t>
            </a:r>
            <a:r>
              <a:rPr lang="en-US" dirty="0"/>
              <a:t> </a:t>
            </a:r>
            <a:r>
              <a:rPr lang="en-US" dirty="0" err="1"/>
              <a:t>부드럽게</a:t>
            </a:r>
            <a:r>
              <a:rPr lang="en-US" dirty="0"/>
              <a:t> </a:t>
            </a:r>
            <a:r>
              <a:rPr lang="en-US" dirty="0" err="1"/>
              <a:t>이동하는</a:t>
            </a:r>
            <a:r>
              <a:rPr lang="en-US" dirty="0"/>
              <a:t> </a:t>
            </a:r>
            <a:r>
              <a:rPr lang="en-US" dirty="0" err="1"/>
              <a:t>햇빛</a:t>
            </a:r>
            <a:r>
              <a:rPr lang="en-US" dirty="0"/>
              <a:t>, </a:t>
            </a:r>
            <a:r>
              <a:rPr lang="en-US" dirty="0" err="1"/>
              <a:t>매우</a:t>
            </a:r>
            <a:r>
              <a:rPr lang="en-US" dirty="0"/>
              <a:t> </a:t>
            </a:r>
            <a:r>
              <a:rPr lang="en-US" dirty="0" err="1"/>
              <a:t>느린</a:t>
            </a:r>
            <a:r>
              <a:rPr lang="en-US" dirty="0"/>
              <a:t> </a:t>
            </a:r>
            <a:r>
              <a:rPr lang="en-US" dirty="0" err="1"/>
              <a:t>줌아웃</a:t>
            </a:r>
            <a:r>
              <a:rPr lang="en-US" dirty="0"/>
              <a:t>"</a:t>
            </a:r>
          </a:p>
          <a:p>
            <a:endParaRPr lang="en-US" dirty="0"/>
          </a:p>
          <a:p>
            <a:r>
              <a:rPr lang="en-US" dirty="0"/>
              <a:t>────────────────────────</a:t>
            </a:r>
          </a:p>
          <a:p>
            <a:endParaRPr lang="en-US" dirty="0"/>
          </a:p>
          <a:p>
            <a:r>
              <a:rPr lang="en-US" dirty="0"/>
              <a:t>[CUT 5] 42~45초 / CTA</a:t>
            </a:r>
          </a:p>
          <a:p>
            <a:r>
              <a:rPr lang="en-US" dirty="0" err="1"/>
              <a:t>이미지</a:t>
            </a:r>
            <a:r>
              <a:rPr lang="en-US" dirty="0"/>
              <a:t> </a:t>
            </a:r>
            <a:r>
              <a:rPr lang="en-US" dirty="0" err="1"/>
              <a:t>프롬프트</a:t>
            </a:r>
            <a:endParaRPr lang="en-US" dirty="0"/>
          </a:p>
          <a:p>
            <a:endParaRPr lang="en-US" dirty="0"/>
          </a:p>
          <a:p>
            <a:r>
              <a:rPr lang="en-US" dirty="0"/>
              <a:t>EN: "Vertical 9:16 graphic, clean bright minimal background, simple text card layout with empty space for a question prompt, friendly and inviting flat design style, no realistic faces, no Korean text"</a:t>
            </a:r>
          </a:p>
          <a:p>
            <a:r>
              <a:rPr lang="en-US" dirty="0"/>
              <a:t>KR: "</a:t>
            </a:r>
            <a:r>
              <a:rPr lang="en-US" dirty="0" err="1"/>
              <a:t>세로</a:t>
            </a:r>
            <a:r>
              <a:rPr lang="en-US" dirty="0"/>
              <a:t> 9:16 </a:t>
            </a:r>
            <a:r>
              <a:rPr lang="en-US" dirty="0" err="1"/>
              <a:t>그래픽</a:t>
            </a:r>
            <a:r>
              <a:rPr lang="en-US" dirty="0"/>
              <a:t>, </a:t>
            </a:r>
            <a:r>
              <a:rPr lang="en-US" dirty="0" err="1"/>
              <a:t>깨끗하고</a:t>
            </a:r>
            <a:r>
              <a:rPr lang="en-US" dirty="0"/>
              <a:t> </a:t>
            </a:r>
            <a:r>
              <a:rPr lang="en-US" dirty="0" err="1"/>
              <a:t>밝은</a:t>
            </a:r>
            <a:r>
              <a:rPr lang="en-US" dirty="0"/>
              <a:t> </a:t>
            </a:r>
            <a:r>
              <a:rPr lang="en-US" dirty="0" err="1"/>
              <a:t>미니멀</a:t>
            </a:r>
            <a:r>
              <a:rPr lang="en-US" dirty="0"/>
              <a:t> </a:t>
            </a:r>
            <a:r>
              <a:rPr lang="en-US" dirty="0" err="1"/>
              <a:t>배경</a:t>
            </a:r>
            <a:r>
              <a:rPr lang="en-US" dirty="0"/>
              <a:t>, </a:t>
            </a:r>
            <a:r>
              <a:rPr lang="en-US" dirty="0" err="1"/>
              <a:t>질문</a:t>
            </a:r>
            <a:r>
              <a:rPr lang="en-US" dirty="0"/>
              <a:t> </a:t>
            </a:r>
            <a:r>
              <a:rPr lang="en-US" dirty="0" err="1"/>
              <a:t>문구가</a:t>
            </a:r>
            <a:r>
              <a:rPr lang="en-US" dirty="0"/>
              <a:t> </a:t>
            </a:r>
            <a:r>
              <a:rPr lang="en-US" dirty="0" err="1"/>
              <a:t>들어갈</a:t>
            </a:r>
            <a:r>
              <a:rPr lang="en-US" dirty="0"/>
              <a:t> 빈 </a:t>
            </a:r>
            <a:r>
              <a:rPr lang="en-US" dirty="0" err="1"/>
              <a:t>공간이</a:t>
            </a:r>
            <a:r>
              <a:rPr lang="en-US" dirty="0"/>
              <a:t> </a:t>
            </a:r>
            <a:r>
              <a:rPr lang="en-US" dirty="0" err="1"/>
              <a:t>있는</a:t>
            </a:r>
            <a:r>
              <a:rPr lang="en-US" dirty="0"/>
              <a:t> </a:t>
            </a:r>
            <a:r>
              <a:rPr lang="en-US" dirty="0" err="1"/>
              <a:t>심플한</a:t>
            </a:r>
            <a:r>
              <a:rPr lang="en-US" dirty="0"/>
              <a:t> </a:t>
            </a:r>
            <a:r>
              <a:rPr lang="en-US" dirty="0" err="1"/>
              <a:t>텍스트</a:t>
            </a:r>
            <a:r>
              <a:rPr lang="en-US" dirty="0"/>
              <a:t> </a:t>
            </a:r>
            <a:r>
              <a:rPr lang="en-US" dirty="0" err="1"/>
              <a:t>카드</a:t>
            </a:r>
            <a:r>
              <a:rPr lang="en-US" dirty="0"/>
              <a:t> </a:t>
            </a:r>
            <a:r>
              <a:rPr lang="en-US" dirty="0" err="1"/>
              <a:t>레이아웃</a:t>
            </a:r>
            <a:r>
              <a:rPr lang="en-US" dirty="0"/>
              <a:t>, </a:t>
            </a:r>
            <a:r>
              <a:rPr lang="en-US" dirty="0" err="1"/>
              <a:t>친근하고</a:t>
            </a:r>
            <a:r>
              <a:rPr lang="en-US" dirty="0"/>
              <a:t> </a:t>
            </a:r>
            <a:r>
              <a:rPr lang="en-US" dirty="0" err="1"/>
              <a:t>매력적인</a:t>
            </a:r>
            <a:r>
              <a:rPr lang="en-US" dirty="0"/>
              <a:t> </a:t>
            </a:r>
            <a:r>
              <a:rPr lang="en-US" dirty="0" err="1"/>
              <a:t>플랫</a:t>
            </a:r>
            <a:r>
              <a:rPr lang="en-US" dirty="0"/>
              <a:t> </a:t>
            </a:r>
            <a:r>
              <a:rPr lang="en-US" dirty="0" err="1"/>
              <a:t>디자인</a:t>
            </a:r>
            <a:r>
              <a:rPr lang="en-US" dirty="0"/>
              <a:t> </a:t>
            </a:r>
            <a:r>
              <a:rPr lang="en-US" dirty="0" err="1"/>
              <a:t>스타일</a:t>
            </a:r>
            <a:r>
              <a:rPr lang="en-US" dirty="0"/>
              <a:t>, </a:t>
            </a:r>
            <a:r>
              <a:rPr lang="en-US" dirty="0" err="1"/>
              <a:t>실사</a:t>
            </a:r>
            <a:r>
              <a:rPr lang="en-US" dirty="0"/>
              <a:t> </a:t>
            </a:r>
            <a:r>
              <a:rPr lang="en-US" dirty="0" err="1"/>
              <a:t>얼굴</a:t>
            </a:r>
            <a:r>
              <a:rPr lang="en-US" dirty="0"/>
              <a:t> </a:t>
            </a:r>
            <a:r>
              <a:rPr lang="en-US" dirty="0" err="1"/>
              <a:t>없음</a:t>
            </a:r>
            <a:r>
              <a:rPr lang="en-US" dirty="0"/>
              <a:t>, </a:t>
            </a:r>
            <a:r>
              <a:rPr lang="en-US" dirty="0" err="1"/>
              <a:t>한글</a:t>
            </a:r>
            <a:r>
              <a:rPr lang="en-US" dirty="0"/>
              <a:t> </a:t>
            </a:r>
            <a:r>
              <a:rPr lang="en-US" dirty="0" err="1"/>
              <a:t>텍스트</a:t>
            </a:r>
            <a:r>
              <a:rPr lang="en-US" dirty="0"/>
              <a:t> </a:t>
            </a:r>
            <a:r>
              <a:rPr lang="en-US" dirty="0" err="1"/>
              <a:t>없음</a:t>
            </a:r>
            <a:r>
              <a:rPr lang="en-US" dirty="0"/>
              <a:t>"</a:t>
            </a:r>
          </a:p>
          <a:p>
            <a:endParaRPr lang="en-US" dirty="0"/>
          </a:p>
          <a:p>
            <a:r>
              <a:rPr lang="en-US" dirty="0" err="1"/>
              <a:t>모션</a:t>
            </a:r>
            <a:r>
              <a:rPr lang="en-US" dirty="0"/>
              <a:t> </a:t>
            </a:r>
            <a:r>
              <a:rPr lang="en-US" dirty="0" err="1"/>
              <a:t>프롬프트</a:t>
            </a:r>
            <a:endParaRPr lang="en-US" dirty="0"/>
          </a:p>
          <a:p>
            <a:endParaRPr lang="en-US" dirty="0"/>
          </a:p>
          <a:p>
            <a:r>
              <a:rPr lang="en-US" dirty="0"/>
              <a:t>EN: "Gentle fade-in of background elements, very subtle scale-up animation, no camera movement"</a:t>
            </a:r>
          </a:p>
          <a:p>
            <a:r>
              <a:rPr lang="en-US" dirty="0"/>
              <a:t>KR: "</a:t>
            </a:r>
            <a:r>
              <a:rPr lang="en-US" dirty="0" err="1"/>
              <a:t>배경</a:t>
            </a:r>
            <a:r>
              <a:rPr lang="en-US" dirty="0"/>
              <a:t> </a:t>
            </a:r>
            <a:r>
              <a:rPr lang="en-US" dirty="0" err="1"/>
              <a:t>요소의</a:t>
            </a:r>
            <a:r>
              <a:rPr lang="en-US" dirty="0"/>
              <a:t> </a:t>
            </a:r>
            <a:r>
              <a:rPr lang="en-US" dirty="0" err="1"/>
              <a:t>부드러운</a:t>
            </a:r>
            <a:r>
              <a:rPr lang="en-US" dirty="0"/>
              <a:t> </a:t>
            </a:r>
            <a:r>
              <a:rPr lang="en-US" dirty="0" err="1"/>
              <a:t>페이드인</a:t>
            </a:r>
            <a:r>
              <a:rPr lang="en-US" dirty="0"/>
              <a:t>, </a:t>
            </a:r>
            <a:r>
              <a:rPr lang="en-US" dirty="0" err="1"/>
              <a:t>매우</a:t>
            </a:r>
            <a:r>
              <a:rPr lang="en-US" dirty="0"/>
              <a:t> </a:t>
            </a:r>
            <a:r>
              <a:rPr lang="en-US" dirty="0" err="1"/>
              <a:t>미세한</a:t>
            </a:r>
            <a:r>
              <a:rPr lang="en-US" dirty="0"/>
              <a:t> </a:t>
            </a:r>
            <a:r>
              <a:rPr lang="en-US" dirty="0" err="1"/>
              <a:t>확대</a:t>
            </a:r>
            <a:r>
              <a:rPr lang="en-US" dirty="0"/>
              <a:t> </a:t>
            </a:r>
            <a:r>
              <a:rPr lang="en-US" dirty="0" err="1"/>
              <a:t>애니메이션</a:t>
            </a:r>
            <a:r>
              <a:rPr lang="en-US" dirty="0"/>
              <a:t>, </a:t>
            </a:r>
            <a:r>
              <a:rPr lang="en-US" dirty="0" err="1"/>
              <a:t>카메라</a:t>
            </a:r>
            <a:r>
              <a:rPr lang="en-US" dirty="0"/>
              <a:t> </a:t>
            </a:r>
            <a:r>
              <a:rPr lang="en-US" dirty="0" err="1"/>
              <a:t>움직임</a:t>
            </a:r>
            <a:r>
              <a:rPr lang="en-US" dirty="0"/>
              <a:t> </a:t>
            </a:r>
            <a:r>
              <a:rPr lang="en-US" dirty="0" err="1"/>
              <a:t>없음</a:t>
            </a:r>
            <a:r>
              <a:rPr lang="en-US" dirty="0"/>
              <a:t>"</a:t>
            </a:r>
          </a:p>
          <a:p>
            <a:endParaRPr lang="en-US" dirty="0"/>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naver.me/F8lwNqQo" TargetMode="External"/><Relationship Id="rId5" Type="http://schemas.openxmlformats.org/officeDocument/2006/relationships/hyperlink" Target="https://blog.naver.com/only1_only/224313676092" TargetMode="Externa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E2A"/>
        </a:solidFill>
        <a:effectLst/>
      </p:bgPr>
    </p:bg>
    <p:spTree>
      <p:nvGrpSpPr>
        <p:cNvPr id="1" name=""/>
        <p:cNvGrpSpPr/>
        <p:nvPr/>
      </p:nvGrpSpPr>
      <p:grpSpPr>
        <a:xfrm>
          <a:off x="0" y="0"/>
          <a:ext cx="0" cy="0"/>
          <a:chOff x="0" y="0"/>
          <a:chExt cx="0" cy="0"/>
        </a:xfrm>
      </p:grpSpPr>
      <p:pic>
        <p:nvPicPr>
          <p:cNvPr id="2" name="Image 0" descr="/mnt/user-data/uploads/따뜻한_조명_속_학습_시간_영상제작용_.png"/>
          <p:cNvPicPr>
            <a:picLocks noChangeAspect="1"/>
          </p:cNvPicPr>
          <p:nvPr/>
        </p:nvPicPr>
        <p:blipFill>
          <a:blip r:embed="rId3"/>
          <a:srcRect/>
          <a:stretch/>
        </p:blipFill>
        <p:spPr>
          <a:xfrm>
            <a:off x="5486400" y="0"/>
            <a:ext cx="3657600" cy="5143500"/>
          </a:xfrm>
          <a:prstGeom prst="rect">
            <a:avLst/>
          </a:prstGeom>
        </p:spPr>
      </p:pic>
      <p:sp>
        <p:nvSpPr>
          <p:cNvPr id="3" name="Shape 0"/>
          <p:cNvSpPr/>
          <p:nvPr/>
        </p:nvSpPr>
        <p:spPr>
          <a:xfrm>
            <a:off x="5486400" y="0"/>
            <a:ext cx="3657600" cy="5143500"/>
          </a:xfrm>
          <a:prstGeom prst="rect">
            <a:avLst/>
          </a:prstGeom>
          <a:solidFill>
            <a:srgbClr val="3A2E2A">
              <a:alpha val="65000"/>
            </a:srgbClr>
          </a:solidFill>
          <a:ln/>
        </p:spPr>
        <p:txBody>
          <a:bodyPr/>
          <a:lstStyle/>
          <a:p>
            <a:endParaRPr lang="ko-KR" altLang="en-US"/>
          </a:p>
        </p:txBody>
      </p:sp>
      <p:sp>
        <p:nvSpPr>
          <p:cNvPr id="4" name="Text 1"/>
          <p:cNvSpPr/>
          <p:nvPr/>
        </p:nvSpPr>
        <p:spPr>
          <a:xfrm>
            <a:off x="640080" y="640080"/>
            <a:ext cx="4572000" cy="365760"/>
          </a:xfrm>
          <a:prstGeom prst="rect">
            <a:avLst/>
          </a:prstGeom>
          <a:noFill/>
          <a:ln/>
        </p:spPr>
        <p:txBody>
          <a:bodyPr wrap="square" rtlCol="0" anchor="ctr"/>
          <a:lstStyle/>
          <a:p>
            <a:pPr marL="0" indent="0">
              <a:buNone/>
            </a:pPr>
            <a:r>
              <a:rPr lang="en-US" sz="1300" b="1" kern="0" spc="300" dirty="0">
                <a:solidFill>
                  <a:srgbClr val="DD9E5C"/>
                </a:solidFill>
                <a:latin typeface="Calibri" pitchFamily="34" charset="0"/>
                <a:ea typeface="Calibri" pitchFamily="34" charset="-122"/>
                <a:cs typeface="Calibri" pitchFamily="34" charset="-120"/>
              </a:rPr>
              <a:t>V-PROMPT CHALLENGE 제출작</a:t>
            </a:r>
            <a:endParaRPr lang="en-US" sz="1300" dirty="0"/>
          </a:p>
        </p:txBody>
      </p:sp>
      <p:sp>
        <p:nvSpPr>
          <p:cNvPr id="5" name="Text 2"/>
          <p:cNvSpPr/>
          <p:nvPr/>
        </p:nvSpPr>
        <p:spPr>
          <a:xfrm>
            <a:off x="640080" y="1371600"/>
            <a:ext cx="4754880" cy="1645920"/>
          </a:xfrm>
          <a:prstGeom prst="rect">
            <a:avLst/>
          </a:prstGeom>
          <a:noFill/>
          <a:ln/>
        </p:spPr>
        <p:txBody>
          <a:bodyPr wrap="square" rtlCol="0" anchor="ctr"/>
          <a:lstStyle/>
          <a:p>
            <a:pPr marL="0" indent="0">
              <a:lnSpc>
                <a:spcPct val="110000"/>
              </a:lnSpc>
              <a:buNone/>
            </a:pPr>
            <a:r>
              <a:rPr lang="en-US" sz="3200" b="1" dirty="0">
                <a:solidFill>
                  <a:srgbClr val="FFFFFF"/>
                </a:solidFill>
                <a:latin typeface="Cambria" pitchFamily="34" charset="0"/>
                <a:ea typeface="Cambria" pitchFamily="34" charset="-122"/>
                <a:cs typeface="Cambria" pitchFamily="34" charset="-120"/>
              </a:rPr>
              <a:t>초등 학습습관,</a:t>
            </a:r>
            <a:endParaRPr lang="en-US" sz="3200" dirty="0"/>
          </a:p>
          <a:p>
            <a:pPr marL="0" indent="0">
              <a:lnSpc>
                <a:spcPct val="110000"/>
              </a:lnSpc>
              <a:buNone/>
            </a:pPr>
            <a:r>
              <a:rPr lang="en-US" sz="3200" b="1" dirty="0">
                <a:solidFill>
                  <a:srgbClr val="FFFFFF"/>
                </a:solidFill>
                <a:latin typeface="Cambria" pitchFamily="34" charset="0"/>
                <a:ea typeface="Cambria" pitchFamily="34" charset="-122"/>
                <a:cs typeface="Cambria" pitchFamily="34" charset="-120"/>
              </a:rPr>
              <a:t>언제부터 잡아줘야 할까?</a:t>
            </a:r>
            <a:endParaRPr lang="en-US" sz="3200" dirty="0"/>
          </a:p>
        </p:txBody>
      </p:sp>
      <p:sp>
        <p:nvSpPr>
          <p:cNvPr id="6" name="Text 3"/>
          <p:cNvSpPr/>
          <p:nvPr/>
        </p:nvSpPr>
        <p:spPr>
          <a:xfrm>
            <a:off x="640080" y="3063240"/>
            <a:ext cx="4572000" cy="548640"/>
          </a:xfrm>
          <a:prstGeom prst="rect">
            <a:avLst/>
          </a:prstGeom>
          <a:noFill/>
          <a:ln/>
        </p:spPr>
        <p:txBody>
          <a:bodyPr wrap="square" rtlCol="0" anchor="ctr"/>
          <a:lstStyle/>
          <a:p>
            <a:pPr marL="0" indent="0">
              <a:buNone/>
            </a:pPr>
            <a:r>
              <a:rPr lang="en-US" sz="1400" dirty="0">
                <a:solidFill>
                  <a:srgbClr val="E7DCD3"/>
                </a:solidFill>
                <a:latin typeface="Calibri" pitchFamily="34" charset="0"/>
                <a:ea typeface="Calibri" pitchFamily="34" charset="-122"/>
                <a:cs typeface="Calibri" pitchFamily="34" charset="-120"/>
              </a:rPr>
              <a:t>AI 프롬프트 기반 9:16 숏폼 영상 × 블로그(GEO/AEO) 콘텐츠 제작 프로젝트</a:t>
            </a:r>
            <a:endParaRPr lang="en-US" sz="1400" dirty="0"/>
          </a:p>
        </p:txBody>
      </p:sp>
      <p:sp>
        <p:nvSpPr>
          <p:cNvPr id="7" name="Shape 4"/>
          <p:cNvSpPr/>
          <p:nvPr/>
        </p:nvSpPr>
        <p:spPr>
          <a:xfrm>
            <a:off x="640080" y="3977640"/>
            <a:ext cx="4206240" cy="0"/>
          </a:xfrm>
          <a:prstGeom prst="line">
            <a:avLst/>
          </a:prstGeom>
          <a:noFill/>
          <a:ln w="12700">
            <a:solidFill>
              <a:srgbClr val="DD9E5C"/>
            </a:solidFill>
            <a:prstDash val="solid"/>
          </a:ln>
        </p:spPr>
        <p:txBody>
          <a:bodyPr/>
          <a:lstStyle/>
          <a:p>
            <a:endParaRPr lang="ko-KR" altLang="en-US"/>
          </a:p>
        </p:txBody>
      </p:sp>
      <p:sp>
        <p:nvSpPr>
          <p:cNvPr id="8" name="Text 5"/>
          <p:cNvSpPr/>
          <p:nvPr/>
        </p:nvSpPr>
        <p:spPr>
          <a:xfrm>
            <a:off x="640080" y="4160520"/>
            <a:ext cx="4572000" cy="868680"/>
          </a:xfrm>
          <a:prstGeom prst="rect">
            <a:avLst/>
          </a:prstGeom>
          <a:noFill/>
          <a:ln/>
        </p:spPr>
        <p:txBody>
          <a:bodyPr wrap="square" rtlCol="0" anchor="ctr"/>
          <a:lstStyle/>
          <a:p>
            <a:pPr marL="0" indent="0">
              <a:spcAft>
                <a:spcPts val="200"/>
              </a:spcAft>
              <a:buNone/>
            </a:pPr>
            <a:r>
              <a:rPr lang="en-US" sz="1100" b="1" dirty="0">
                <a:solidFill>
                  <a:srgbClr val="E7DCD3"/>
                </a:solidFill>
                <a:latin typeface="Calibri" pitchFamily="34" charset="0"/>
                <a:ea typeface="Calibri" pitchFamily="34" charset="-122"/>
                <a:cs typeface="Calibri" pitchFamily="34" charset="-120"/>
              </a:rPr>
              <a:t>비상교육 온리원 · 온라인사업Cell</a:t>
            </a:r>
            <a:endParaRPr lang="en-US" sz="1100" dirty="0"/>
          </a:p>
          <a:p>
            <a:pPr marL="0" indent="0">
              <a:spcAft>
                <a:spcPts val="200"/>
              </a:spcAft>
              <a:buNone/>
            </a:pPr>
            <a:r>
              <a:rPr lang="en-US" sz="1100" dirty="0">
                <a:solidFill>
                  <a:srgbClr val="E7DCD3"/>
                </a:solidFill>
                <a:latin typeface="Calibri" pitchFamily="34" charset="0"/>
                <a:ea typeface="Calibri" pitchFamily="34" charset="-122"/>
                <a:cs typeface="Calibri" pitchFamily="34" charset="-120"/>
              </a:rPr>
              <a:t>소재: 초등 저학년 </a:t>
            </a:r>
            <a:r>
              <a:rPr lang="en-US" sz="1100" dirty="0" err="1">
                <a:solidFill>
                  <a:srgbClr val="E7DCD3"/>
                </a:solidFill>
                <a:latin typeface="Calibri" pitchFamily="34" charset="0"/>
                <a:ea typeface="Calibri" pitchFamily="34" charset="-122"/>
                <a:cs typeface="Calibri" pitchFamily="34" charset="-120"/>
              </a:rPr>
              <a:t>학습습관</a:t>
            </a:r>
            <a:r>
              <a:rPr lang="en-US" sz="1100" dirty="0">
                <a:solidFill>
                  <a:srgbClr val="E7DCD3"/>
                </a:solidFill>
                <a:latin typeface="Calibri" pitchFamily="34" charset="0"/>
                <a:ea typeface="Calibri" pitchFamily="34" charset="-122"/>
                <a:cs typeface="Calibri" pitchFamily="34" charset="-120"/>
              </a:rPr>
              <a:t> </a:t>
            </a:r>
            <a:r>
              <a:rPr lang="en-US" sz="1100" dirty="0" err="1">
                <a:solidFill>
                  <a:srgbClr val="E7DCD3"/>
                </a:solidFill>
                <a:latin typeface="Calibri" pitchFamily="34" charset="0"/>
                <a:ea typeface="Calibri" pitchFamily="34" charset="-122"/>
                <a:cs typeface="Calibri" pitchFamily="34" charset="-120"/>
              </a:rPr>
              <a:t>골든타임</a:t>
            </a:r>
            <a:endParaRPr lang="en-US" sz="1100" dirty="0"/>
          </a:p>
          <a:p>
            <a:pPr marL="0" indent="0">
              <a:spcAft>
                <a:spcPts val="200"/>
              </a:spcAft>
              <a:buNone/>
            </a:pPr>
            <a:r>
              <a:rPr lang="en-US" sz="1100" dirty="0">
                <a:solidFill>
                  <a:srgbClr val="E7DCD3"/>
                </a:solidFill>
                <a:latin typeface="Calibri" pitchFamily="34" charset="0"/>
                <a:ea typeface="Calibri" pitchFamily="34" charset="-122"/>
                <a:cs typeface="Calibri" pitchFamily="34" charset="-120"/>
              </a:rPr>
              <a:t>구성: 네이버클립 숏폼 5-CUT + 블로그 5단락 · 2026.06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1. 기획 개요 — 콘텐츠 전략 설계</a:t>
            </a:r>
            <a:endParaRPr lang="en-US" sz="2200" dirty="0"/>
          </a:p>
        </p:txBody>
      </p:sp>
      <p:sp>
        <p:nvSpPr>
          <p:cNvPr id="3" name="Shape 1"/>
          <p:cNvSpPr/>
          <p:nvPr/>
        </p:nvSpPr>
        <p:spPr>
          <a:xfrm>
            <a:off x="457200" y="960120"/>
            <a:ext cx="4023360" cy="3657600"/>
          </a:xfrm>
          <a:prstGeom prst="roundRect">
            <a:avLst>
              <a:gd name="adj" fmla="val 2000"/>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4" name="Text 2"/>
          <p:cNvSpPr/>
          <p:nvPr/>
        </p:nvSpPr>
        <p:spPr>
          <a:xfrm>
            <a:off x="731520" y="1143000"/>
            <a:ext cx="3474720" cy="365760"/>
          </a:xfrm>
          <a:prstGeom prst="rect">
            <a:avLst/>
          </a:prstGeom>
          <a:noFill/>
          <a:ln/>
        </p:spPr>
        <p:txBody>
          <a:bodyPr wrap="square" rtlCol="0" anchor="ctr"/>
          <a:lstStyle/>
          <a:p>
            <a:pPr marL="0" indent="0">
              <a:buNone/>
            </a:pPr>
            <a:r>
              <a:rPr lang="en-US" sz="1500" b="1" dirty="0">
                <a:solidFill>
                  <a:srgbClr val="33291F"/>
                </a:solidFill>
                <a:latin typeface="Cambria" pitchFamily="34" charset="0"/>
                <a:ea typeface="Cambria" pitchFamily="34" charset="-122"/>
                <a:cs typeface="Cambria" pitchFamily="34" charset="-120"/>
              </a:rPr>
              <a:t>타깃 페르소나 &amp; 키워드</a:t>
            </a:r>
            <a:endParaRPr lang="en-US" sz="1500" dirty="0"/>
          </a:p>
        </p:txBody>
      </p:sp>
      <p:sp>
        <p:nvSpPr>
          <p:cNvPr id="5" name="Text 3"/>
          <p:cNvSpPr/>
          <p:nvPr/>
        </p:nvSpPr>
        <p:spPr>
          <a:xfrm>
            <a:off x="731520" y="1554480"/>
            <a:ext cx="3520440" cy="2926080"/>
          </a:xfrm>
          <a:prstGeom prst="rect">
            <a:avLst/>
          </a:prstGeom>
          <a:noFill/>
          <a:ln/>
        </p:spPr>
        <p:txBody>
          <a:bodyPr wrap="square" rtlCol="0" anchor="t"/>
          <a:lstStyle/>
          <a:p>
            <a:pPr marL="0" indent="0">
              <a:buNone/>
            </a:pPr>
            <a:r>
              <a:rPr lang="en-US" sz="1300" b="1" dirty="0">
                <a:solidFill>
                  <a:srgbClr val="B85042"/>
                </a:solidFill>
                <a:latin typeface="Calibri" pitchFamily="34" charset="0"/>
                <a:ea typeface="Calibri" pitchFamily="34" charset="-122"/>
                <a:cs typeface="Calibri" pitchFamily="34" charset="-120"/>
              </a:rPr>
              <a:t>민지맘 (39세 · 초3 딸)</a:t>
            </a:r>
            <a:endParaRPr lang="en-US" sz="1300" dirty="0"/>
          </a:p>
          <a:p>
            <a:pPr marL="0" indent="0">
              <a:spcAft>
                <a:spcPts val="800"/>
              </a:spcAft>
              <a:buNone/>
            </a:pPr>
            <a:r>
              <a:rPr lang="en-US" sz="1100" dirty="0">
                <a:solidFill>
                  <a:srgbClr val="33291F"/>
                </a:solidFill>
                <a:latin typeface="Calibri" pitchFamily="34" charset="0"/>
                <a:ea typeface="Calibri" pitchFamily="34" charset="-122"/>
                <a:cs typeface="Calibri" pitchFamily="34" charset="-120"/>
              </a:rPr>
              <a:t>고민: "패드·문제집 사줬는데, 왜 또 제가 옆에 앉아있어야 하죠?"</a:t>
            </a:r>
            <a:endParaRPr lang="en-US" sz="1300" dirty="0"/>
          </a:p>
          <a:p>
            <a:pPr marL="0" indent="0">
              <a:spcAft>
                <a:spcPts val="200"/>
              </a:spcAft>
              <a:buNone/>
            </a:pPr>
            <a:r>
              <a:rPr lang="en-US" sz="1200" b="1" dirty="0">
                <a:solidFill>
                  <a:srgbClr val="33291F"/>
                </a:solidFill>
                <a:latin typeface="Calibri" pitchFamily="34" charset="0"/>
                <a:ea typeface="Calibri" pitchFamily="34" charset="-122"/>
                <a:cs typeface="Calibri" pitchFamily="34" charset="-120"/>
              </a:rPr>
              <a:t>목표 키워드: 초등 학습습관 골든타임</a:t>
            </a:r>
            <a:endParaRPr lang="en-US" sz="1300" dirty="0"/>
          </a:p>
          <a:p>
            <a:pPr marL="0" indent="0">
              <a:spcAft>
                <a:spcPts val="800"/>
              </a:spcAft>
              <a:buNone/>
            </a:pPr>
            <a:r>
              <a:rPr lang="en-US" sz="1000" dirty="0">
                <a:solidFill>
                  <a:srgbClr val="9A8D81"/>
                </a:solidFill>
                <a:latin typeface="Calibri" pitchFamily="34" charset="0"/>
                <a:ea typeface="Calibri" pitchFamily="34" charset="-122"/>
                <a:cs typeface="Calibri" pitchFamily="34" charset="-120"/>
              </a:rPr>
              <a:t>추정 검색량 월 1,200~1,800 · 경쟁도 중</a:t>
            </a:r>
            <a:endParaRPr lang="en-US" sz="1300" dirty="0"/>
          </a:p>
          <a:p>
            <a:pPr marL="0" indent="0">
              <a:spcAft>
                <a:spcPts val="200"/>
              </a:spcAft>
              <a:buNone/>
            </a:pPr>
            <a:r>
              <a:rPr lang="en-US" sz="1200" b="1" dirty="0">
                <a:solidFill>
                  <a:srgbClr val="33291F"/>
                </a:solidFill>
                <a:latin typeface="Calibri" pitchFamily="34" charset="0"/>
                <a:ea typeface="Calibri" pitchFamily="34" charset="-122"/>
                <a:cs typeface="Calibri" pitchFamily="34" charset="-120"/>
              </a:rPr>
              <a:t>AI 브리핑 노출 가능성: 높음</a:t>
            </a:r>
            <a:endParaRPr lang="en-US" sz="1300" dirty="0"/>
          </a:p>
          <a:p>
            <a:pPr marL="0" indent="0">
              <a:buNone/>
            </a:pPr>
            <a:r>
              <a:rPr lang="en-US" sz="1000" dirty="0">
                <a:solidFill>
                  <a:srgbClr val="9A8D81"/>
                </a:solidFill>
                <a:latin typeface="Calibri" pitchFamily="34" charset="0"/>
                <a:ea typeface="Calibri" pitchFamily="34" charset="-122"/>
                <a:cs typeface="Calibri" pitchFamily="34" charset="-120"/>
              </a:rPr>
              <a:t>"몇 살부터/어떻게" 질문형 검색 다수 → 본문 결론형 3줄 GEO 요약 배치</a:t>
            </a:r>
            <a:endParaRPr lang="en-US" sz="1300" dirty="0"/>
          </a:p>
        </p:txBody>
      </p:sp>
      <p:sp>
        <p:nvSpPr>
          <p:cNvPr id="6" name="Text 4"/>
          <p:cNvSpPr/>
          <p:nvPr/>
        </p:nvSpPr>
        <p:spPr>
          <a:xfrm>
            <a:off x="4709160" y="1143000"/>
            <a:ext cx="4023360" cy="365760"/>
          </a:xfrm>
          <a:prstGeom prst="rect">
            <a:avLst/>
          </a:prstGeom>
          <a:noFill/>
          <a:ln/>
        </p:spPr>
        <p:txBody>
          <a:bodyPr wrap="square" rtlCol="0" anchor="ctr"/>
          <a:lstStyle/>
          <a:p>
            <a:pPr marL="0" indent="0">
              <a:buNone/>
            </a:pPr>
            <a:r>
              <a:rPr lang="en-US" sz="1500" b="1" dirty="0">
                <a:solidFill>
                  <a:srgbClr val="33291F"/>
                </a:solidFill>
                <a:latin typeface="Cambria" pitchFamily="34" charset="0"/>
                <a:ea typeface="Cambria" pitchFamily="34" charset="-122"/>
                <a:cs typeface="Cambria" pitchFamily="34" charset="-120"/>
              </a:rPr>
              <a:t>콘텐츠 → 전환 퍼널 구조</a:t>
            </a:r>
            <a:endParaRPr lang="en-US" sz="1500" dirty="0"/>
          </a:p>
        </p:txBody>
      </p:sp>
      <p:sp>
        <p:nvSpPr>
          <p:cNvPr id="7" name="Shape 5"/>
          <p:cNvSpPr/>
          <p:nvPr/>
        </p:nvSpPr>
        <p:spPr>
          <a:xfrm>
            <a:off x="4709160" y="1600200"/>
            <a:ext cx="457200" cy="457200"/>
          </a:xfrm>
          <a:prstGeom prst="ellipse">
            <a:avLst/>
          </a:prstGeom>
          <a:solidFill>
            <a:srgbClr val="B85042"/>
          </a:solidFill>
          <a:ln/>
        </p:spPr>
        <p:txBody>
          <a:bodyPr/>
          <a:lstStyle/>
          <a:p>
            <a:endParaRPr lang="ko-KR" altLang="en-US"/>
          </a:p>
        </p:txBody>
      </p:sp>
      <p:sp>
        <p:nvSpPr>
          <p:cNvPr id="8" name="Text 6"/>
          <p:cNvSpPr/>
          <p:nvPr/>
        </p:nvSpPr>
        <p:spPr>
          <a:xfrm>
            <a:off x="4709160" y="160020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Shape 7"/>
          <p:cNvSpPr/>
          <p:nvPr/>
        </p:nvSpPr>
        <p:spPr>
          <a:xfrm>
            <a:off x="5303520" y="1554480"/>
            <a:ext cx="3429000" cy="777240"/>
          </a:xfrm>
          <a:prstGeom prst="roundRect">
            <a:avLst>
              <a:gd name="adj" fmla="val 7059"/>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10" name="Text 8"/>
          <p:cNvSpPr/>
          <p:nvPr/>
        </p:nvSpPr>
        <p:spPr>
          <a:xfrm>
            <a:off x="5486400" y="1572768"/>
            <a:ext cx="3108960" cy="777240"/>
          </a:xfrm>
          <a:prstGeom prst="rect">
            <a:avLst/>
          </a:prstGeom>
          <a:noFill/>
          <a:ln/>
        </p:spPr>
        <p:txBody>
          <a:bodyPr wrap="square" rtlCol="0" anchor="ctr"/>
          <a:lstStyle/>
          <a:p>
            <a:pPr marL="0" indent="0">
              <a:buNone/>
            </a:pPr>
            <a:r>
              <a:rPr lang="en-US" sz="1200" b="1" dirty="0">
                <a:solidFill>
                  <a:srgbClr val="33291F"/>
                </a:solidFill>
                <a:latin typeface="Calibri" pitchFamily="34" charset="0"/>
                <a:ea typeface="Calibri" pitchFamily="34" charset="-122"/>
                <a:cs typeface="Calibri" pitchFamily="34" charset="-120"/>
              </a:rPr>
              <a:t>숏폼 후킹 (네이버클립 9:16)</a:t>
            </a:r>
            <a:endParaRPr lang="en-US" sz="1200" dirty="0"/>
          </a:p>
          <a:p>
            <a:pPr marL="0" indent="0">
              <a:buNone/>
            </a:pPr>
            <a:r>
              <a:rPr lang="en-US" sz="950" dirty="0">
                <a:solidFill>
                  <a:srgbClr val="9A8D81"/>
                </a:solidFill>
                <a:latin typeface="Calibri" pitchFamily="34" charset="0"/>
                <a:ea typeface="Calibri" pitchFamily="34" charset="-122"/>
                <a:cs typeface="Calibri" pitchFamily="34" charset="-120"/>
              </a:rPr>
              <a:t>공감 후킹 → 0.5초 내 시선 고정, 5-CUT·45초</a:t>
            </a:r>
            <a:endParaRPr lang="en-US" sz="1200" dirty="0"/>
          </a:p>
        </p:txBody>
      </p:sp>
      <p:sp>
        <p:nvSpPr>
          <p:cNvPr id="11" name="Shape 9"/>
          <p:cNvSpPr/>
          <p:nvPr/>
        </p:nvSpPr>
        <p:spPr>
          <a:xfrm>
            <a:off x="4937760" y="2057400"/>
            <a:ext cx="0" cy="502920"/>
          </a:xfrm>
          <a:prstGeom prst="line">
            <a:avLst/>
          </a:prstGeom>
          <a:noFill/>
          <a:ln w="19050">
            <a:solidFill>
              <a:srgbClr val="8FA38A"/>
            </a:solidFill>
            <a:prstDash val="dash"/>
          </a:ln>
        </p:spPr>
        <p:txBody>
          <a:bodyPr/>
          <a:lstStyle/>
          <a:p>
            <a:endParaRPr lang="ko-KR" altLang="en-US"/>
          </a:p>
        </p:txBody>
      </p:sp>
      <p:sp>
        <p:nvSpPr>
          <p:cNvPr id="12" name="Shape 10"/>
          <p:cNvSpPr/>
          <p:nvPr/>
        </p:nvSpPr>
        <p:spPr>
          <a:xfrm>
            <a:off x="4709160" y="2651760"/>
            <a:ext cx="457200" cy="457200"/>
          </a:xfrm>
          <a:prstGeom prst="ellipse">
            <a:avLst/>
          </a:prstGeom>
          <a:solidFill>
            <a:srgbClr val="B85042"/>
          </a:solidFill>
          <a:ln/>
        </p:spPr>
        <p:txBody>
          <a:bodyPr/>
          <a:lstStyle/>
          <a:p>
            <a:endParaRPr lang="ko-KR" altLang="en-US"/>
          </a:p>
        </p:txBody>
      </p:sp>
      <p:sp>
        <p:nvSpPr>
          <p:cNvPr id="13" name="Text 11"/>
          <p:cNvSpPr/>
          <p:nvPr/>
        </p:nvSpPr>
        <p:spPr>
          <a:xfrm>
            <a:off x="4709160" y="265176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5303520" y="2606040"/>
            <a:ext cx="3429000" cy="777240"/>
          </a:xfrm>
          <a:prstGeom prst="roundRect">
            <a:avLst>
              <a:gd name="adj" fmla="val 7059"/>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15" name="Text 13"/>
          <p:cNvSpPr/>
          <p:nvPr/>
        </p:nvSpPr>
        <p:spPr>
          <a:xfrm>
            <a:off x="5486400" y="2624328"/>
            <a:ext cx="3108960" cy="777240"/>
          </a:xfrm>
          <a:prstGeom prst="rect">
            <a:avLst/>
          </a:prstGeom>
          <a:noFill/>
          <a:ln/>
        </p:spPr>
        <p:txBody>
          <a:bodyPr wrap="square" rtlCol="0" anchor="ctr"/>
          <a:lstStyle/>
          <a:p>
            <a:pPr marL="0" indent="0">
              <a:buNone/>
            </a:pPr>
            <a:r>
              <a:rPr lang="en-US" sz="1200" b="1" dirty="0">
                <a:solidFill>
                  <a:srgbClr val="33291F"/>
                </a:solidFill>
                <a:latin typeface="Calibri" pitchFamily="34" charset="0"/>
                <a:ea typeface="Calibri" pitchFamily="34" charset="-122"/>
                <a:cs typeface="Calibri" pitchFamily="34" charset="-120"/>
              </a:rPr>
              <a:t>블로그 정보 제공 (GEO/AEO)</a:t>
            </a:r>
            <a:endParaRPr lang="en-US" sz="1200" dirty="0"/>
          </a:p>
          <a:p>
            <a:pPr marL="0" indent="0">
              <a:buNone/>
            </a:pPr>
            <a:r>
              <a:rPr lang="en-US" sz="950" dirty="0">
                <a:solidFill>
                  <a:srgbClr val="9A8D81"/>
                </a:solidFill>
                <a:latin typeface="Calibri" pitchFamily="34" charset="0"/>
                <a:ea typeface="Calibri" pitchFamily="34" charset="-122"/>
                <a:cs typeface="Calibri" pitchFamily="34" charset="-120"/>
              </a:rPr>
              <a:t>비교형 구조 + 결론형 3줄 요약으로 검색 신뢰 확보</a:t>
            </a:r>
            <a:endParaRPr lang="en-US" sz="1200" dirty="0"/>
          </a:p>
        </p:txBody>
      </p:sp>
      <p:sp>
        <p:nvSpPr>
          <p:cNvPr id="16" name="Shape 14"/>
          <p:cNvSpPr/>
          <p:nvPr/>
        </p:nvSpPr>
        <p:spPr>
          <a:xfrm>
            <a:off x="4937760" y="3108960"/>
            <a:ext cx="0" cy="502920"/>
          </a:xfrm>
          <a:prstGeom prst="line">
            <a:avLst/>
          </a:prstGeom>
          <a:noFill/>
          <a:ln w="19050">
            <a:solidFill>
              <a:srgbClr val="8FA38A"/>
            </a:solidFill>
            <a:prstDash val="dash"/>
          </a:ln>
        </p:spPr>
        <p:txBody>
          <a:bodyPr/>
          <a:lstStyle/>
          <a:p>
            <a:endParaRPr lang="ko-KR" altLang="en-US"/>
          </a:p>
        </p:txBody>
      </p:sp>
      <p:sp>
        <p:nvSpPr>
          <p:cNvPr id="17" name="Shape 15"/>
          <p:cNvSpPr/>
          <p:nvPr/>
        </p:nvSpPr>
        <p:spPr>
          <a:xfrm>
            <a:off x="4709160" y="3703320"/>
            <a:ext cx="457200" cy="457200"/>
          </a:xfrm>
          <a:prstGeom prst="ellipse">
            <a:avLst/>
          </a:prstGeom>
          <a:solidFill>
            <a:srgbClr val="B85042"/>
          </a:solidFill>
          <a:ln/>
        </p:spPr>
        <p:txBody>
          <a:bodyPr/>
          <a:lstStyle/>
          <a:p>
            <a:endParaRPr lang="ko-KR" altLang="en-US"/>
          </a:p>
        </p:txBody>
      </p:sp>
      <p:sp>
        <p:nvSpPr>
          <p:cNvPr id="18" name="Text 16"/>
          <p:cNvSpPr/>
          <p:nvPr/>
        </p:nvSpPr>
        <p:spPr>
          <a:xfrm>
            <a:off x="4709160" y="37033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Shape 17"/>
          <p:cNvSpPr/>
          <p:nvPr/>
        </p:nvSpPr>
        <p:spPr>
          <a:xfrm>
            <a:off x="5303520" y="3657600"/>
            <a:ext cx="3429000" cy="777240"/>
          </a:xfrm>
          <a:prstGeom prst="roundRect">
            <a:avLst>
              <a:gd name="adj" fmla="val 7059"/>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20" name="Text 18"/>
          <p:cNvSpPr/>
          <p:nvPr/>
        </p:nvSpPr>
        <p:spPr>
          <a:xfrm>
            <a:off x="5486400" y="3675888"/>
            <a:ext cx="3108960" cy="777240"/>
          </a:xfrm>
          <a:prstGeom prst="rect">
            <a:avLst/>
          </a:prstGeom>
          <a:noFill/>
          <a:ln/>
        </p:spPr>
        <p:txBody>
          <a:bodyPr wrap="square" rtlCol="0" anchor="ctr"/>
          <a:lstStyle/>
          <a:p>
            <a:pPr marL="0" indent="0">
              <a:buNone/>
            </a:pPr>
            <a:r>
              <a:rPr lang="en-US" sz="1200" b="1" dirty="0">
                <a:solidFill>
                  <a:srgbClr val="33291F"/>
                </a:solidFill>
                <a:latin typeface="Calibri" pitchFamily="34" charset="0"/>
                <a:ea typeface="Calibri" pitchFamily="34" charset="-122"/>
                <a:cs typeface="Calibri" pitchFamily="34" charset="-120"/>
              </a:rPr>
              <a:t>카카오 오픈채팅 1:1 상담 전환</a:t>
            </a:r>
            <a:endParaRPr lang="en-US" sz="1200" dirty="0"/>
          </a:p>
          <a:p>
            <a:pPr marL="0" indent="0">
              <a:buNone/>
            </a:pPr>
            <a:r>
              <a:rPr lang="en-US" sz="950" dirty="0">
                <a:solidFill>
                  <a:srgbClr val="9A8D81"/>
                </a:solidFill>
                <a:latin typeface="Calibri" pitchFamily="34" charset="0"/>
                <a:ea typeface="Calibri" pitchFamily="34" charset="-122"/>
                <a:cs typeface="Calibri" pitchFamily="34" charset="-120"/>
              </a:rPr>
              <a:t>공감 → 솔루션 제시 → 자연스러운 상담 연결</a:t>
            </a:r>
            <a:endParaRPr lang="en-US" sz="1200" dirty="0"/>
          </a:p>
        </p:txBody>
      </p:sp>
      <p:sp>
        <p:nvSpPr>
          <p:cNvPr id="21" name="Shape 19"/>
          <p:cNvSpPr/>
          <p:nvPr/>
        </p:nvSpPr>
        <p:spPr>
          <a:xfrm>
            <a:off x="4709160" y="4617720"/>
            <a:ext cx="4023360" cy="91"/>
          </a:xfrm>
          <a:prstGeom prst="roundRect">
            <a:avLst/>
          </a:prstGeom>
          <a:solidFill>
            <a:srgbClr val="FFFFFF"/>
          </a:solidFill>
          <a:ln/>
        </p:spPr>
        <p:txBody>
          <a:bodyPr/>
          <a:lstStyle/>
          <a:p>
            <a:endParaRPr lang="ko-KR" altLang="en-US"/>
          </a:p>
        </p:txBody>
      </p:sp>
      <p:sp>
        <p:nvSpPr>
          <p:cNvPr id="22" name="Text 20"/>
          <p:cNvSpPr/>
          <p:nvPr/>
        </p:nvSpPr>
        <p:spPr>
          <a:xfrm>
            <a:off x="457200" y="4617720"/>
            <a:ext cx="8229600" cy="411480"/>
          </a:xfrm>
          <a:prstGeom prst="rect">
            <a:avLst/>
          </a:prstGeom>
          <a:noFill/>
          <a:ln/>
        </p:spPr>
        <p:txBody>
          <a:bodyPr wrap="square" rtlCol="0" anchor="ctr"/>
          <a:lstStyle/>
          <a:p>
            <a:pPr marL="0" indent="0" algn="ctr">
              <a:buNone/>
            </a:pPr>
            <a:r>
              <a:rPr lang="ko-KR" altLang="en-US" sz="1100" b="1" dirty="0">
                <a:solidFill>
                  <a:srgbClr val="FF0000"/>
                </a:solidFill>
                <a:highlight>
                  <a:srgbClr val="FFFF00"/>
                </a:highlight>
              </a:rPr>
              <a:t>해당 프롬프트를 활용한 블로그 콘텐츠 초안은 발표자 노트에 삽입 하였습니다</a:t>
            </a:r>
            <a:r>
              <a:rPr lang="en-US" altLang="ko-KR" sz="1100" b="1" dirty="0">
                <a:solidFill>
                  <a:srgbClr val="FF0000"/>
                </a:solidFill>
                <a:highlight>
                  <a:srgbClr val="FFFF00"/>
                </a:highlight>
              </a:rPr>
              <a:t>.</a:t>
            </a:r>
            <a:r>
              <a:rPr lang="ko-KR" altLang="en-US" sz="1100" b="1" dirty="0">
                <a:solidFill>
                  <a:srgbClr val="FF0000"/>
                </a:solidFill>
                <a:highlight>
                  <a:srgbClr val="FFFF00"/>
                </a:highlight>
              </a:rPr>
              <a:t> </a:t>
            </a:r>
            <a:endParaRPr lang="en-US" sz="1100" b="1" dirty="0">
              <a:solidFill>
                <a:srgbClr val="FF0000"/>
              </a:solidFill>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2. 영상 시나리오 구성 — 9:16 숏폼 5-CUT (총 45초)</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3291840"/>
        </p:xfrm>
        <a:graphic>
          <a:graphicData uri="http://schemas.openxmlformats.org/drawingml/2006/table">
            <a:tbl>
              <a:tblPr/>
              <a:tblGrid>
                <a:gridCol w="5029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5486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CUT</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B8504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시간</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B8504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역할</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B85042"/>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자막 핵심 카피</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B85042"/>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나레이션</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548640">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00:00–03</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훅</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사줬는데, 왜 또 제가 옆에 앉아있죠?</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분명 알아서 할 줄 알았는데...</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00:03–15</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공감</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도구만 바꾸면 달라질 줄... 똑같았어요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패드도, 문제집도 바꿔봤는데 결국 제가 옆에서 봐줘야 시작하더라고요.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extLst>
                  <a:ext uri="{0D108BD9-81ED-4DB2-BD59-A6C34878D82A}">
                    <a16:rowId xmlns:a16="http://schemas.microsoft.com/office/drawing/2014/main" val="10002"/>
                  </a:ext>
                </a:extLst>
              </a:tr>
              <a:tr h="548640">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00:15–35</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문제 제시</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이대로 고학년 되면... 혼자 못 챙길 것 같은데</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학년 올라가서 양 많아지면 그때도 제가 다 봐줄 수 있을까요?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00:35–42</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전환(블로그 유도)</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사실, 지금이 습관을 잡는 골든타임이래요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왜 지금이 중요한지, 뭐부터 시작하면 되는지 블로그에 정리해뒀어요.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7F1EC"/>
                    </a:solidFill>
                  </a:tcPr>
                </a:tc>
                <a:extLst>
                  <a:ext uri="{0D108BD9-81ED-4DB2-BD59-A6C34878D82A}">
                    <a16:rowId xmlns:a16="http://schemas.microsoft.com/office/drawing/2014/main" val="10004"/>
                  </a:ext>
                </a:extLst>
              </a:tr>
              <a:tr h="548640">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00:42–45</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CTA</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몇 살부터 책상 습관 시작했나요? 댓글 / 블로그↑</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291F"/>
                          </a:solidFill>
                          <a:latin typeface="Calibri" pitchFamily="34" charset="0"/>
                          <a:ea typeface="Calibri" pitchFamily="34" charset="-122"/>
                          <a:cs typeface="Calibri" pitchFamily="34" charset="-120"/>
                        </a:rPr>
                        <a:t>여러분은 어떠셨어요? 댓글로 알려주세요!</a:t>
                      </a:r>
                      <a:endParaRPr lang="en-US" sz="1000" dirty="0">
                        <a:latin typeface="Calibri" charset="0"/>
                        <a:ea typeface="Calibri" charset="0"/>
                        <a:cs typeface="Calibri" charset="0"/>
                      </a:endParaRPr>
                    </a:p>
                  </a:txBody>
                  <a:tcPr anchor="ctr">
                    <a:lnL w="6350" cap="flat" cmpd="sng" algn="ctr">
                      <a:solidFill>
                        <a:srgbClr val="E7DCD3"/>
                      </a:solidFill>
                      <a:prstDash val="solid"/>
                      <a:round/>
                      <a:headEnd type="none" w="med" len="med"/>
                      <a:tailEnd type="none" w="med" len="med"/>
                    </a:lnL>
                    <a:lnR w="6350" cap="flat" cmpd="sng" algn="ctr">
                      <a:solidFill>
                        <a:srgbClr val="E7DCD3"/>
                      </a:solidFill>
                      <a:prstDash val="solid"/>
                      <a:round/>
                      <a:headEnd type="none" w="med" len="med"/>
                      <a:tailEnd type="none" w="med" len="med"/>
                    </a:lnR>
                    <a:lnT w="6350" cap="flat" cmpd="sng" algn="ctr">
                      <a:solidFill>
                        <a:srgbClr val="E7DCD3"/>
                      </a:solidFill>
                      <a:prstDash val="solid"/>
                      <a:round/>
                      <a:headEnd type="none" w="med" len="med"/>
                      <a:tailEnd type="none" w="med" len="med"/>
                    </a:lnT>
                    <a:lnB w="6350" cap="flat" cmpd="sng" algn="ctr">
                      <a:solidFill>
                        <a:srgbClr val="E7DC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Text 1"/>
          <p:cNvSpPr/>
          <p:nvPr/>
        </p:nvSpPr>
        <p:spPr>
          <a:xfrm>
            <a:off x="457200" y="4617720"/>
            <a:ext cx="8229600" cy="365760"/>
          </a:xfrm>
          <a:prstGeom prst="rect">
            <a:avLst/>
          </a:prstGeom>
          <a:noFill/>
          <a:ln/>
        </p:spPr>
        <p:txBody>
          <a:bodyPr wrap="square" rtlCol="0" anchor="ctr"/>
          <a:lstStyle/>
          <a:p>
            <a:pPr algn="ctr"/>
            <a:r>
              <a:rPr lang="ko-KR" altLang="en-US" sz="1100" b="1" dirty="0">
                <a:solidFill>
                  <a:srgbClr val="FF0000"/>
                </a:solidFill>
                <a:highlight>
                  <a:srgbClr val="FFFF00"/>
                </a:highlight>
              </a:rPr>
              <a:t>해당 프롬프트를 활용한 영상  제작 이미지</a:t>
            </a:r>
            <a:r>
              <a:rPr lang="en-US" altLang="ko-KR" sz="1100" b="1" dirty="0">
                <a:solidFill>
                  <a:srgbClr val="FF0000"/>
                </a:solidFill>
                <a:highlight>
                  <a:srgbClr val="FFFF00"/>
                </a:highlight>
              </a:rPr>
              <a:t>/</a:t>
            </a:r>
            <a:r>
              <a:rPr lang="ko-KR" altLang="en-US" sz="1100" b="1" dirty="0">
                <a:solidFill>
                  <a:srgbClr val="FF0000"/>
                </a:solidFill>
                <a:highlight>
                  <a:srgbClr val="FFFF00"/>
                </a:highlight>
              </a:rPr>
              <a:t>모션 프롬프트는 발표자 노트에 삽입 하였습니다</a:t>
            </a:r>
            <a:r>
              <a:rPr lang="en-US" altLang="ko-KR" sz="1100" b="1" dirty="0">
                <a:solidFill>
                  <a:srgbClr val="FF0000"/>
                </a:solidFill>
                <a:highlight>
                  <a:srgbClr val="FFFF00"/>
                </a:highlight>
              </a:rPr>
              <a:t>.</a:t>
            </a:r>
            <a:r>
              <a:rPr lang="ko-KR" altLang="en-US" sz="1100" b="1" dirty="0">
                <a:solidFill>
                  <a:srgbClr val="FF0000"/>
                </a:solidFill>
                <a:highlight>
                  <a:srgbClr val="FFFF00"/>
                </a:highlight>
              </a:rPr>
              <a:t> </a:t>
            </a:r>
            <a:endParaRPr lang="en-US" altLang="ko-KR" sz="1100" b="1" dirty="0">
              <a:solidFill>
                <a:srgbClr val="FF0000"/>
              </a:solidFill>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3. 영상 프롬프트 — CUT 1·2 (훅 → 공감)</a:t>
            </a:r>
            <a:endParaRPr lang="en-US" sz="2200" dirty="0"/>
          </a:p>
        </p:txBody>
      </p:sp>
      <p:sp>
        <p:nvSpPr>
          <p:cNvPr id="3" name="Shape 1"/>
          <p:cNvSpPr/>
          <p:nvPr/>
        </p:nvSpPr>
        <p:spPr>
          <a:xfrm>
            <a:off x="457200" y="868680"/>
            <a:ext cx="4023360" cy="3337560"/>
          </a:xfrm>
          <a:prstGeom prst="roundRect">
            <a:avLst>
              <a:gd name="adj" fmla="val 1644"/>
            </a:avLst>
          </a:prstGeom>
          <a:solidFill>
            <a:srgbClr val="FFFFFF"/>
          </a:solidFill>
          <a:ln w="12700">
            <a:solidFill>
              <a:srgbClr val="E7DCD3"/>
            </a:solidFill>
            <a:prstDash val="solid"/>
          </a:ln>
        </p:spPr>
        <p:txBody>
          <a:bodyPr/>
          <a:lstStyle/>
          <a:p>
            <a:endParaRPr lang="ko-KR" altLang="en-US"/>
          </a:p>
        </p:txBody>
      </p:sp>
      <p:sp>
        <p:nvSpPr>
          <p:cNvPr id="4" name="Shape 2"/>
          <p:cNvSpPr/>
          <p:nvPr/>
        </p:nvSpPr>
        <p:spPr>
          <a:xfrm>
            <a:off x="621792" y="1033272"/>
            <a:ext cx="777240" cy="329184"/>
          </a:xfrm>
          <a:prstGeom prst="roundRect">
            <a:avLst>
              <a:gd name="adj" fmla="val 50000"/>
            </a:avLst>
          </a:prstGeom>
          <a:solidFill>
            <a:srgbClr val="B85042"/>
          </a:solidFill>
          <a:ln/>
        </p:spPr>
        <p:txBody>
          <a:bodyPr/>
          <a:lstStyle/>
          <a:p>
            <a:endParaRPr lang="ko-KR" altLang="en-US"/>
          </a:p>
        </p:txBody>
      </p:sp>
      <p:sp>
        <p:nvSpPr>
          <p:cNvPr id="5" name="Text 3"/>
          <p:cNvSpPr/>
          <p:nvPr/>
        </p:nvSpPr>
        <p:spPr>
          <a:xfrm>
            <a:off x="621792" y="1033272"/>
            <a:ext cx="77724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CUT 1</a:t>
            </a:r>
            <a:endParaRPr lang="en-US" sz="1000" dirty="0"/>
          </a:p>
        </p:txBody>
      </p:sp>
      <p:sp>
        <p:nvSpPr>
          <p:cNvPr id="6" name="Text 4"/>
          <p:cNvSpPr/>
          <p:nvPr/>
        </p:nvSpPr>
        <p:spPr>
          <a:xfrm>
            <a:off x="1463040" y="1033272"/>
            <a:ext cx="3017520" cy="329184"/>
          </a:xfrm>
          <a:prstGeom prst="rect">
            <a:avLst/>
          </a:prstGeom>
          <a:noFill/>
          <a:ln/>
        </p:spPr>
        <p:txBody>
          <a:bodyPr wrap="square" rtlCol="0" anchor="ctr"/>
          <a:lstStyle/>
          <a:p>
            <a:pPr marL="0" indent="0">
              <a:buNone/>
            </a:pPr>
            <a:r>
              <a:rPr lang="en-US" sz="1050" b="1" dirty="0">
                <a:solidFill>
                  <a:srgbClr val="33291F"/>
                </a:solidFill>
                <a:latin typeface="Calibri" pitchFamily="34" charset="0"/>
                <a:ea typeface="Calibri" pitchFamily="34" charset="-122"/>
                <a:cs typeface="Calibri" pitchFamily="34" charset="-120"/>
              </a:rPr>
              <a:t>훅  ·  00:00–03</a:t>
            </a:r>
            <a:endParaRPr lang="en-US" sz="1050" dirty="0"/>
          </a:p>
        </p:txBody>
      </p:sp>
      <p:pic>
        <p:nvPicPr>
          <p:cNvPr id="7" name="Image 0" descr="/mnt/user-data/uploads/따뜻한_밤의_학습_공간_영상제작용_.png"/>
          <p:cNvPicPr>
            <a:picLocks noChangeAspect="1"/>
          </p:cNvPicPr>
          <p:nvPr/>
        </p:nvPicPr>
        <p:blipFill>
          <a:blip r:embed="rId3"/>
          <a:stretch>
            <a:fillRect/>
          </a:stretch>
        </p:blipFill>
        <p:spPr>
          <a:xfrm>
            <a:off x="621792" y="1481328"/>
            <a:ext cx="1143000" cy="2030920"/>
          </a:xfrm>
          <a:prstGeom prst="rect">
            <a:avLst/>
          </a:prstGeom>
          <a:effectLst>
            <a:outerShdw blurRad="76200" dist="25400" dir="5400000" algn="bl" rotWithShape="0">
              <a:srgbClr val="000000">
                <a:alpha val="12000"/>
              </a:srgbClr>
            </a:outerShdw>
          </a:effectLst>
        </p:spPr>
      </p:pic>
      <p:sp>
        <p:nvSpPr>
          <p:cNvPr id="8" name="Text 5"/>
          <p:cNvSpPr/>
          <p:nvPr/>
        </p:nvSpPr>
        <p:spPr>
          <a:xfrm>
            <a:off x="1920240" y="1463040"/>
            <a:ext cx="2423160" cy="548640"/>
          </a:xfrm>
          <a:prstGeom prst="rect">
            <a:avLst/>
          </a:prstGeom>
          <a:noFill/>
          <a:ln/>
        </p:spPr>
        <p:txBody>
          <a:bodyPr wrap="square" rtlCol="0" anchor="t"/>
          <a:lstStyle/>
          <a:p>
            <a:pPr marL="0" indent="0">
              <a:buNone/>
            </a:pPr>
            <a:r>
              <a:rPr lang="en-US" sz="1150" b="1" dirty="0">
                <a:solidFill>
                  <a:srgbClr val="33291F"/>
                </a:solidFill>
                <a:latin typeface="Calibri" pitchFamily="34" charset="0"/>
                <a:ea typeface="Calibri" pitchFamily="34" charset="-122"/>
                <a:cs typeface="Calibri" pitchFamily="34" charset="-120"/>
              </a:rPr>
              <a:t>"사줬는데, 왜 또</a:t>
            </a:r>
            <a:endParaRPr lang="en-US" sz="1150" dirty="0"/>
          </a:p>
          <a:p>
            <a:pPr marL="0" indent="0">
              <a:buNone/>
            </a:pPr>
            <a:r>
              <a:rPr lang="en-US" sz="1150" b="1" dirty="0">
                <a:solidFill>
                  <a:srgbClr val="33291F"/>
                </a:solidFill>
                <a:latin typeface="Calibri" pitchFamily="34" charset="0"/>
                <a:ea typeface="Calibri" pitchFamily="34" charset="-122"/>
                <a:cs typeface="Calibri" pitchFamily="34" charset="-120"/>
              </a:rPr>
              <a:t>제가 옆에 앉아있죠?"</a:t>
            </a:r>
            <a:endParaRPr lang="en-US" sz="1150" dirty="0"/>
          </a:p>
        </p:txBody>
      </p:sp>
      <p:sp>
        <p:nvSpPr>
          <p:cNvPr id="9" name="Text 6"/>
          <p:cNvSpPr/>
          <p:nvPr/>
        </p:nvSpPr>
        <p:spPr>
          <a:xfrm>
            <a:off x="1920240" y="1993392"/>
            <a:ext cx="2423160" cy="228600"/>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AI 영상 프롬프트</a:t>
            </a:r>
            <a:endParaRPr lang="en-US" sz="850" dirty="0"/>
          </a:p>
        </p:txBody>
      </p:sp>
      <p:sp>
        <p:nvSpPr>
          <p:cNvPr id="10" name="Shape 7"/>
          <p:cNvSpPr/>
          <p:nvPr/>
        </p:nvSpPr>
        <p:spPr>
          <a:xfrm>
            <a:off x="1920240" y="2212848"/>
            <a:ext cx="2423160" cy="1299400"/>
          </a:xfrm>
          <a:prstGeom prst="roundRect">
            <a:avLst>
              <a:gd name="adj" fmla="val 2815"/>
            </a:avLst>
          </a:prstGeom>
          <a:solidFill>
            <a:srgbClr val="F7F1EC"/>
          </a:solidFill>
          <a:ln/>
        </p:spPr>
        <p:txBody>
          <a:bodyPr/>
          <a:lstStyle/>
          <a:p>
            <a:endParaRPr lang="ko-KR" altLang="en-US"/>
          </a:p>
        </p:txBody>
      </p:sp>
      <p:sp>
        <p:nvSpPr>
          <p:cNvPr id="11" name="Text 8"/>
          <p:cNvSpPr/>
          <p:nvPr/>
        </p:nvSpPr>
        <p:spPr>
          <a:xfrm>
            <a:off x="1993392" y="2240280"/>
            <a:ext cx="2286000" cy="1244536"/>
          </a:xfrm>
          <a:prstGeom prst="rect">
            <a:avLst/>
          </a:prstGeom>
          <a:noFill/>
          <a:ln/>
        </p:spPr>
        <p:txBody>
          <a:bodyPr wrap="square" rtlCol="0" anchor="t"/>
          <a:lstStyle/>
          <a:p>
            <a:pPr marL="0" indent="0">
              <a:lnSpc>
                <a:spcPct val="95000"/>
              </a:lnSpc>
              <a:buNone/>
            </a:pPr>
            <a:r>
              <a:rPr lang="en-US" sz="680" dirty="0">
                <a:solidFill>
                  <a:srgbClr val="33291F"/>
                </a:solidFill>
                <a:latin typeface="Courier New" pitchFamily="34" charset="0"/>
                <a:ea typeface="Courier New" pitchFamily="34" charset="-122"/>
                <a:cs typeface="Courier New" pitchFamily="34" charset="-120"/>
              </a:rPr>
              <a:t>Vertical 9:16 video, handheld close-up shot with shallow depth of field, quick push-in zoom toward an unopened workbook and tablet on a dinner table, warm dim evening kitchen lighting, no faces visible, realistic home documentary style, quiet and slightly tense mood</a:t>
            </a:r>
            <a:endParaRPr lang="en-US" sz="680" dirty="0"/>
          </a:p>
        </p:txBody>
      </p:sp>
      <p:sp>
        <p:nvSpPr>
          <p:cNvPr id="12" name="Text 9"/>
          <p:cNvSpPr/>
          <p:nvPr/>
        </p:nvSpPr>
        <p:spPr>
          <a:xfrm>
            <a:off x="621792" y="3603688"/>
            <a:ext cx="3703320" cy="777240"/>
          </a:xfrm>
          <a:prstGeom prst="rect">
            <a:avLst/>
          </a:prstGeom>
          <a:noFill/>
          <a:ln/>
        </p:spPr>
        <p:txBody>
          <a:bodyPr wrap="square" rtlCol="0" anchor="t"/>
          <a:lstStyle/>
          <a:p>
            <a:pPr marL="0" indent="0">
              <a:buNone/>
            </a:pPr>
            <a:r>
              <a:rPr lang="en-US" sz="850" i="1" dirty="0">
                <a:solidFill>
                  <a:srgbClr val="9A8D81"/>
                </a:solidFill>
                <a:latin typeface="Calibri" pitchFamily="34" charset="0"/>
                <a:ea typeface="Calibri" pitchFamily="34" charset="-122"/>
                <a:cs typeface="Calibri" pitchFamily="34" charset="-120"/>
              </a:rPr>
              <a:t>장면: 저녁 식탁 위 펼쳐지지 않은 문제집·패드 클로즈업 / 편집: 0.5초 내 자막 등장, 강한 시작음(딱 소리)으로 시선 고정</a:t>
            </a:r>
            <a:endParaRPr lang="en-US" sz="850" dirty="0"/>
          </a:p>
        </p:txBody>
      </p:sp>
      <p:sp>
        <p:nvSpPr>
          <p:cNvPr id="13" name="Shape 10"/>
          <p:cNvSpPr/>
          <p:nvPr/>
        </p:nvSpPr>
        <p:spPr>
          <a:xfrm>
            <a:off x="4663440" y="868680"/>
            <a:ext cx="4023360" cy="3337560"/>
          </a:xfrm>
          <a:prstGeom prst="roundRect">
            <a:avLst>
              <a:gd name="adj" fmla="val 1644"/>
            </a:avLst>
          </a:prstGeom>
          <a:solidFill>
            <a:srgbClr val="FFFFFF"/>
          </a:solidFill>
          <a:ln w="12700">
            <a:solidFill>
              <a:srgbClr val="E7DCD3"/>
            </a:solidFill>
            <a:prstDash val="solid"/>
          </a:ln>
        </p:spPr>
        <p:txBody>
          <a:bodyPr/>
          <a:lstStyle/>
          <a:p>
            <a:endParaRPr lang="ko-KR" altLang="en-US"/>
          </a:p>
        </p:txBody>
      </p:sp>
      <p:sp>
        <p:nvSpPr>
          <p:cNvPr id="14" name="Shape 11"/>
          <p:cNvSpPr/>
          <p:nvPr/>
        </p:nvSpPr>
        <p:spPr>
          <a:xfrm>
            <a:off x="4828032" y="1033272"/>
            <a:ext cx="777240" cy="329184"/>
          </a:xfrm>
          <a:prstGeom prst="roundRect">
            <a:avLst>
              <a:gd name="adj" fmla="val 50000"/>
            </a:avLst>
          </a:prstGeom>
          <a:solidFill>
            <a:srgbClr val="B85042"/>
          </a:solidFill>
          <a:ln/>
        </p:spPr>
        <p:txBody>
          <a:bodyPr/>
          <a:lstStyle/>
          <a:p>
            <a:endParaRPr lang="ko-KR" altLang="en-US"/>
          </a:p>
        </p:txBody>
      </p:sp>
      <p:sp>
        <p:nvSpPr>
          <p:cNvPr id="15" name="Text 12"/>
          <p:cNvSpPr/>
          <p:nvPr/>
        </p:nvSpPr>
        <p:spPr>
          <a:xfrm>
            <a:off x="4828032" y="1033272"/>
            <a:ext cx="77724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CUT 2</a:t>
            </a:r>
            <a:endParaRPr lang="en-US" sz="1000" dirty="0"/>
          </a:p>
        </p:txBody>
      </p:sp>
      <p:sp>
        <p:nvSpPr>
          <p:cNvPr id="16" name="Text 13"/>
          <p:cNvSpPr/>
          <p:nvPr/>
        </p:nvSpPr>
        <p:spPr>
          <a:xfrm>
            <a:off x="5669280" y="1033272"/>
            <a:ext cx="3017520" cy="329184"/>
          </a:xfrm>
          <a:prstGeom prst="rect">
            <a:avLst/>
          </a:prstGeom>
          <a:noFill/>
          <a:ln/>
        </p:spPr>
        <p:txBody>
          <a:bodyPr wrap="square" rtlCol="0" anchor="ctr"/>
          <a:lstStyle/>
          <a:p>
            <a:pPr marL="0" indent="0">
              <a:buNone/>
            </a:pPr>
            <a:r>
              <a:rPr lang="en-US" sz="1050" b="1" dirty="0">
                <a:solidFill>
                  <a:srgbClr val="33291F"/>
                </a:solidFill>
                <a:latin typeface="Calibri" pitchFamily="34" charset="0"/>
                <a:ea typeface="Calibri" pitchFamily="34" charset="-122"/>
                <a:cs typeface="Calibri" pitchFamily="34" charset="-120"/>
              </a:rPr>
              <a:t>공감  ·  00:03–15</a:t>
            </a:r>
            <a:endParaRPr lang="en-US" sz="1050" dirty="0"/>
          </a:p>
        </p:txBody>
      </p:sp>
      <p:pic>
        <p:nvPicPr>
          <p:cNvPr id="17" name="Image 1" descr="/mnt/user-data/uploads/따뜻한_조명_속_학습_시간_영상제작용_.png"/>
          <p:cNvPicPr>
            <a:picLocks noChangeAspect="1"/>
          </p:cNvPicPr>
          <p:nvPr/>
        </p:nvPicPr>
        <p:blipFill>
          <a:blip r:embed="rId4"/>
          <a:stretch>
            <a:fillRect/>
          </a:stretch>
        </p:blipFill>
        <p:spPr>
          <a:xfrm>
            <a:off x="4828032" y="1481328"/>
            <a:ext cx="1143000" cy="2030920"/>
          </a:xfrm>
          <a:prstGeom prst="rect">
            <a:avLst/>
          </a:prstGeom>
          <a:effectLst>
            <a:outerShdw blurRad="76200" dist="25400" dir="5400000" algn="bl" rotWithShape="0">
              <a:srgbClr val="000000">
                <a:alpha val="12000"/>
              </a:srgbClr>
            </a:outerShdw>
          </a:effectLst>
        </p:spPr>
      </p:pic>
      <p:sp>
        <p:nvSpPr>
          <p:cNvPr id="18" name="Text 14"/>
          <p:cNvSpPr/>
          <p:nvPr/>
        </p:nvSpPr>
        <p:spPr>
          <a:xfrm>
            <a:off x="6126480" y="1463040"/>
            <a:ext cx="2423160" cy="548640"/>
          </a:xfrm>
          <a:prstGeom prst="rect">
            <a:avLst/>
          </a:prstGeom>
          <a:noFill/>
          <a:ln/>
        </p:spPr>
        <p:txBody>
          <a:bodyPr wrap="square" rtlCol="0" anchor="t"/>
          <a:lstStyle/>
          <a:p>
            <a:pPr marL="0" indent="0">
              <a:buNone/>
            </a:pPr>
            <a:r>
              <a:rPr lang="en-US" sz="1150" b="1" dirty="0">
                <a:solidFill>
                  <a:srgbClr val="33291F"/>
                </a:solidFill>
                <a:latin typeface="Calibri" pitchFamily="34" charset="0"/>
                <a:ea typeface="Calibri" pitchFamily="34" charset="-122"/>
                <a:cs typeface="Calibri" pitchFamily="34" charset="-120"/>
              </a:rPr>
              <a:t>"도구만 바꾸면</a:t>
            </a:r>
            <a:endParaRPr lang="en-US" sz="1150" dirty="0"/>
          </a:p>
          <a:p>
            <a:pPr marL="0" indent="0">
              <a:buNone/>
            </a:pPr>
            <a:r>
              <a:rPr lang="en-US" sz="1150" b="1" dirty="0">
                <a:solidFill>
                  <a:srgbClr val="33291F"/>
                </a:solidFill>
                <a:latin typeface="Calibri" pitchFamily="34" charset="0"/>
                <a:ea typeface="Calibri" pitchFamily="34" charset="-122"/>
                <a:cs typeface="Calibri" pitchFamily="34" charset="-120"/>
              </a:rPr>
              <a:t>달라질 줄... 똑같았어요"</a:t>
            </a:r>
            <a:endParaRPr lang="en-US" sz="1150" dirty="0"/>
          </a:p>
        </p:txBody>
      </p:sp>
      <p:sp>
        <p:nvSpPr>
          <p:cNvPr id="19" name="Text 15"/>
          <p:cNvSpPr/>
          <p:nvPr/>
        </p:nvSpPr>
        <p:spPr>
          <a:xfrm>
            <a:off x="6126480" y="1993392"/>
            <a:ext cx="2423160" cy="228600"/>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AI 영상 프롬프트</a:t>
            </a:r>
            <a:endParaRPr lang="en-US" sz="850" dirty="0"/>
          </a:p>
        </p:txBody>
      </p:sp>
      <p:sp>
        <p:nvSpPr>
          <p:cNvPr id="20" name="Shape 16"/>
          <p:cNvSpPr/>
          <p:nvPr/>
        </p:nvSpPr>
        <p:spPr>
          <a:xfrm>
            <a:off x="6126480" y="2212848"/>
            <a:ext cx="2423160" cy="1299400"/>
          </a:xfrm>
          <a:prstGeom prst="roundRect">
            <a:avLst>
              <a:gd name="adj" fmla="val 2815"/>
            </a:avLst>
          </a:prstGeom>
          <a:solidFill>
            <a:srgbClr val="F7F1EC"/>
          </a:solidFill>
          <a:ln/>
        </p:spPr>
        <p:txBody>
          <a:bodyPr/>
          <a:lstStyle/>
          <a:p>
            <a:endParaRPr lang="ko-KR" altLang="en-US"/>
          </a:p>
        </p:txBody>
      </p:sp>
      <p:sp>
        <p:nvSpPr>
          <p:cNvPr id="21" name="Text 17"/>
          <p:cNvSpPr/>
          <p:nvPr/>
        </p:nvSpPr>
        <p:spPr>
          <a:xfrm>
            <a:off x="6199632" y="2240280"/>
            <a:ext cx="2286000" cy="1244536"/>
          </a:xfrm>
          <a:prstGeom prst="rect">
            <a:avLst/>
          </a:prstGeom>
          <a:noFill/>
          <a:ln/>
        </p:spPr>
        <p:txBody>
          <a:bodyPr wrap="square" rtlCol="0" anchor="t"/>
          <a:lstStyle/>
          <a:p>
            <a:pPr marL="0" indent="0">
              <a:lnSpc>
                <a:spcPct val="95000"/>
              </a:lnSpc>
              <a:buNone/>
            </a:pPr>
            <a:r>
              <a:rPr lang="en-US" sz="680" dirty="0">
                <a:solidFill>
                  <a:srgbClr val="33291F"/>
                </a:solidFill>
                <a:latin typeface="Courier New" pitchFamily="34" charset="0"/>
                <a:ea typeface="Courier New" pitchFamily="34" charset="-122"/>
                <a:cs typeface="Courier New" pitchFamily="34" charset="-120"/>
              </a:rPr>
              <a:t>Vertical 9:16 video, medium shot from a slightly elevated angle with soft 50mm-style focus, slow handheld movement, warm table lamp lighting with soft shadows, a parent's hand opening a workbook next to a child at a home study table in the evening, faces not fully shown, warm and relatable mood</a:t>
            </a:r>
            <a:endParaRPr lang="en-US" sz="680" dirty="0"/>
          </a:p>
        </p:txBody>
      </p:sp>
      <p:sp>
        <p:nvSpPr>
          <p:cNvPr id="22" name="Text 18"/>
          <p:cNvSpPr/>
          <p:nvPr/>
        </p:nvSpPr>
        <p:spPr>
          <a:xfrm>
            <a:off x="4828032" y="3603688"/>
            <a:ext cx="3703320" cy="777240"/>
          </a:xfrm>
          <a:prstGeom prst="rect">
            <a:avLst/>
          </a:prstGeom>
          <a:noFill/>
          <a:ln/>
        </p:spPr>
        <p:txBody>
          <a:bodyPr wrap="square" rtlCol="0" anchor="t"/>
          <a:lstStyle/>
          <a:p>
            <a:pPr marL="0" indent="0">
              <a:buNone/>
            </a:pPr>
            <a:r>
              <a:rPr lang="en-US" sz="850" i="1" dirty="0">
                <a:solidFill>
                  <a:srgbClr val="9A8D81"/>
                </a:solidFill>
                <a:latin typeface="Calibri" pitchFamily="34" charset="0"/>
                <a:ea typeface="Calibri" pitchFamily="34" charset="-122"/>
                <a:cs typeface="Calibri" pitchFamily="34" charset="-120"/>
              </a:rPr>
              <a:t>장면: 부모가 아이 옆에서 문제집을 펼쳐주는 손·어깨 위주 컷 / 편집: 자막 2단계 분리 등장(전반 → "똑같았어요" 강조 확대)</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3. 영상 프롬프트 — CUT 3·4 (문제 제시 → 전환)</a:t>
            </a:r>
            <a:endParaRPr lang="en-US" sz="2200" dirty="0"/>
          </a:p>
        </p:txBody>
      </p:sp>
      <p:sp>
        <p:nvSpPr>
          <p:cNvPr id="3" name="Shape 1"/>
          <p:cNvSpPr/>
          <p:nvPr/>
        </p:nvSpPr>
        <p:spPr>
          <a:xfrm>
            <a:off x="457200" y="868680"/>
            <a:ext cx="4023360" cy="3337560"/>
          </a:xfrm>
          <a:prstGeom prst="roundRect">
            <a:avLst>
              <a:gd name="adj" fmla="val 1644"/>
            </a:avLst>
          </a:prstGeom>
          <a:solidFill>
            <a:srgbClr val="FFFFFF"/>
          </a:solidFill>
          <a:ln w="12700">
            <a:solidFill>
              <a:srgbClr val="E7DCD3"/>
            </a:solidFill>
            <a:prstDash val="solid"/>
          </a:ln>
        </p:spPr>
        <p:txBody>
          <a:bodyPr/>
          <a:lstStyle/>
          <a:p>
            <a:endParaRPr lang="ko-KR" altLang="en-US"/>
          </a:p>
        </p:txBody>
      </p:sp>
      <p:sp>
        <p:nvSpPr>
          <p:cNvPr id="4" name="Shape 2"/>
          <p:cNvSpPr/>
          <p:nvPr/>
        </p:nvSpPr>
        <p:spPr>
          <a:xfrm>
            <a:off x="621792" y="1033272"/>
            <a:ext cx="777240" cy="329184"/>
          </a:xfrm>
          <a:prstGeom prst="roundRect">
            <a:avLst>
              <a:gd name="adj" fmla="val 50000"/>
            </a:avLst>
          </a:prstGeom>
          <a:solidFill>
            <a:srgbClr val="B85042"/>
          </a:solidFill>
          <a:ln/>
        </p:spPr>
        <p:txBody>
          <a:bodyPr/>
          <a:lstStyle/>
          <a:p>
            <a:endParaRPr lang="ko-KR" altLang="en-US"/>
          </a:p>
        </p:txBody>
      </p:sp>
      <p:sp>
        <p:nvSpPr>
          <p:cNvPr id="5" name="Text 3"/>
          <p:cNvSpPr/>
          <p:nvPr/>
        </p:nvSpPr>
        <p:spPr>
          <a:xfrm>
            <a:off x="621792" y="1033272"/>
            <a:ext cx="77724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CUT 3</a:t>
            </a:r>
            <a:endParaRPr lang="en-US" sz="1000" dirty="0"/>
          </a:p>
        </p:txBody>
      </p:sp>
      <p:sp>
        <p:nvSpPr>
          <p:cNvPr id="6" name="Text 4"/>
          <p:cNvSpPr/>
          <p:nvPr/>
        </p:nvSpPr>
        <p:spPr>
          <a:xfrm>
            <a:off x="1463040" y="1033272"/>
            <a:ext cx="3017520" cy="329184"/>
          </a:xfrm>
          <a:prstGeom prst="rect">
            <a:avLst/>
          </a:prstGeom>
          <a:noFill/>
          <a:ln/>
        </p:spPr>
        <p:txBody>
          <a:bodyPr wrap="square" rtlCol="0" anchor="ctr"/>
          <a:lstStyle/>
          <a:p>
            <a:pPr marL="0" indent="0">
              <a:buNone/>
            </a:pPr>
            <a:r>
              <a:rPr lang="en-US" sz="1050" b="1" dirty="0">
                <a:solidFill>
                  <a:srgbClr val="33291F"/>
                </a:solidFill>
                <a:latin typeface="Calibri" pitchFamily="34" charset="0"/>
                <a:ea typeface="Calibri" pitchFamily="34" charset="-122"/>
                <a:cs typeface="Calibri" pitchFamily="34" charset="-120"/>
              </a:rPr>
              <a:t>문제 제시  ·  00:15–35</a:t>
            </a:r>
            <a:endParaRPr lang="en-US" sz="1050" dirty="0"/>
          </a:p>
        </p:txBody>
      </p:sp>
      <p:pic>
        <p:nvPicPr>
          <p:cNvPr id="7" name="Image 0" descr="/mnt/user-data/uploads/어두운_책상_위_공부의_밤_영상제작용_.png"/>
          <p:cNvPicPr>
            <a:picLocks noChangeAspect="1"/>
          </p:cNvPicPr>
          <p:nvPr/>
        </p:nvPicPr>
        <p:blipFill>
          <a:blip r:embed="rId3"/>
          <a:stretch>
            <a:fillRect/>
          </a:stretch>
        </p:blipFill>
        <p:spPr>
          <a:xfrm>
            <a:off x="621792" y="1481328"/>
            <a:ext cx="1143000" cy="2030920"/>
          </a:xfrm>
          <a:prstGeom prst="rect">
            <a:avLst/>
          </a:prstGeom>
          <a:effectLst>
            <a:outerShdw blurRad="76200" dist="25400" dir="5400000" algn="bl" rotWithShape="0">
              <a:srgbClr val="000000">
                <a:alpha val="12000"/>
              </a:srgbClr>
            </a:outerShdw>
          </a:effectLst>
        </p:spPr>
      </p:pic>
      <p:sp>
        <p:nvSpPr>
          <p:cNvPr id="8" name="Text 5"/>
          <p:cNvSpPr/>
          <p:nvPr/>
        </p:nvSpPr>
        <p:spPr>
          <a:xfrm>
            <a:off x="1920240" y="1463040"/>
            <a:ext cx="2423160" cy="548640"/>
          </a:xfrm>
          <a:prstGeom prst="rect">
            <a:avLst/>
          </a:prstGeom>
          <a:noFill/>
          <a:ln/>
        </p:spPr>
        <p:txBody>
          <a:bodyPr wrap="square" rtlCol="0" anchor="t"/>
          <a:lstStyle/>
          <a:p>
            <a:pPr marL="0" indent="0">
              <a:buNone/>
            </a:pPr>
            <a:r>
              <a:rPr lang="en-US" sz="1150" b="1" dirty="0">
                <a:solidFill>
                  <a:srgbClr val="33291F"/>
                </a:solidFill>
                <a:latin typeface="Calibri" pitchFamily="34" charset="0"/>
                <a:ea typeface="Calibri" pitchFamily="34" charset="-122"/>
                <a:cs typeface="Calibri" pitchFamily="34" charset="-120"/>
              </a:rPr>
              <a:t>"이대로 고학년 되면...</a:t>
            </a:r>
            <a:endParaRPr lang="en-US" sz="1150" dirty="0"/>
          </a:p>
          <a:p>
            <a:pPr marL="0" indent="0">
              <a:buNone/>
            </a:pPr>
            <a:r>
              <a:rPr lang="en-US" sz="1150" b="1" dirty="0">
                <a:solidFill>
                  <a:srgbClr val="33291F"/>
                </a:solidFill>
                <a:latin typeface="Calibri" pitchFamily="34" charset="0"/>
                <a:ea typeface="Calibri" pitchFamily="34" charset="-122"/>
                <a:cs typeface="Calibri" pitchFamily="34" charset="-120"/>
              </a:rPr>
              <a:t>혼자 못 챙길 것 같은데"</a:t>
            </a:r>
            <a:endParaRPr lang="en-US" sz="1150" dirty="0"/>
          </a:p>
        </p:txBody>
      </p:sp>
      <p:sp>
        <p:nvSpPr>
          <p:cNvPr id="9" name="Text 6"/>
          <p:cNvSpPr/>
          <p:nvPr/>
        </p:nvSpPr>
        <p:spPr>
          <a:xfrm>
            <a:off x="1920240" y="1993392"/>
            <a:ext cx="2423160" cy="228600"/>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AI 영상 프롬프트</a:t>
            </a:r>
            <a:endParaRPr lang="en-US" sz="850" dirty="0"/>
          </a:p>
        </p:txBody>
      </p:sp>
      <p:sp>
        <p:nvSpPr>
          <p:cNvPr id="10" name="Shape 7"/>
          <p:cNvSpPr/>
          <p:nvPr/>
        </p:nvSpPr>
        <p:spPr>
          <a:xfrm>
            <a:off x="1920240" y="2212848"/>
            <a:ext cx="2423160" cy="1299400"/>
          </a:xfrm>
          <a:prstGeom prst="roundRect">
            <a:avLst>
              <a:gd name="adj" fmla="val 2815"/>
            </a:avLst>
          </a:prstGeom>
          <a:solidFill>
            <a:srgbClr val="F7F1EC"/>
          </a:solidFill>
          <a:ln/>
        </p:spPr>
        <p:txBody>
          <a:bodyPr/>
          <a:lstStyle/>
          <a:p>
            <a:endParaRPr lang="ko-KR" altLang="en-US"/>
          </a:p>
        </p:txBody>
      </p:sp>
      <p:sp>
        <p:nvSpPr>
          <p:cNvPr id="11" name="Text 8"/>
          <p:cNvSpPr/>
          <p:nvPr/>
        </p:nvSpPr>
        <p:spPr>
          <a:xfrm>
            <a:off x="1993392" y="2240280"/>
            <a:ext cx="2286000" cy="1244536"/>
          </a:xfrm>
          <a:prstGeom prst="rect">
            <a:avLst/>
          </a:prstGeom>
          <a:noFill/>
          <a:ln/>
        </p:spPr>
        <p:txBody>
          <a:bodyPr wrap="square" rtlCol="0" anchor="t"/>
          <a:lstStyle/>
          <a:p>
            <a:pPr marL="0" indent="0">
              <a:lnSpc>
                <a:spcPct val="95000"/>
              </a:lnSpc>
              <a:buNone/>
            </a:pPr>
            <a:r>
              <a:rPr lang="en-US" sz="680" dirty="0">
                <a:solidFill>
                  <a:srgbClr val="33291F"/>
                </a:solidFill>
                <a:latin typeface="Courier New" pitchFamily="34" charset="0"/>
                <a:ea typeface="Courier New" pitchFamily="34" charset="-122"/>
                <a:cs typeface="Courier New" pitchFamily="34" charset="-120"/>
              </a:rPr>
              <a:t>Vertical 9:16 video, quick cross-cut editing between a close-up of a test paper with red correction marks and a slow pan to a child's back hesitating at a desk, slightly desaturated cool-toned evening lighting, realistic home documentary style, slightly heavy and worried mood</a:t>
            </a:r>
            <a:endParaRPr lang="en-US" sz="680" dirty="0"/>
          </a:p>
        </p:txBody>
      </p:sp>
      <p:sp>
        <p:nvSpPr>
          <p:cNvPr id="12" name="Text 9"/>
          <p:cNvSpPr/>
          <p:nvPr/>
        </p:nvSpPr>
        <p:spPr>
          <a:xfrm>
            <a:off x="621792" y="3603688"/>
            <a:ext cx="3703320" cy="777240"/>
          </a:xfrm>
          <a:prstGeom prst="rect">
            <a:avLst/>
          </a:prstGeom>
          <a:noFill/>
          <a:ln/>
        </p:spPr>
        <p:txBody>
          <a:bodyPr wrap="square" rtlCol="0" anchor="t"/>
          <a:lstStyle/>
          <a:p>
            <a:pPr marL="0" indent="0">
              <a:buNone/>
            </a:pPr>
            <a:r>
              <a:rPr lang="en-US" sz="850" i="1" dirty="0">
                <a:solidFill>
                  <a:srgbClr val="9A8D81"/>
                </a:solidFill>
                <a:latin typeface="Calibri" pitchFamily="34" charset="0"/>
                <a:ea typeface="Calibri" pitchFamily="34" charset="-122"/>
                <a:cs typeface="Calibri" pitchFamily="34" charset="-120"/>
              </a:rPr>
              <a:t>장면: 빨간 채점 표시 시험지 ↔ 머뭇거리는 아이 뒷모습을 1.5초 단위 교차편집 / 편집: 배경음악 비트 다운</a:t>
            </a:r>
            <a:endParaRPr lang="en-US" sz="850" dirty="0"/>
          </a:p>
        </p:txBody>
      </p:sp>
      <p:sp>
        <p:nvSpPr>
          <p:cNvPr id="13" name="Shape 10"/>
          <p:cNvSpPr/>
          <p:nvPr/>
        </p:nvSpPr>
        <p:spPr>
          <a:xfrm>
            <a:off x="4663440" y="868680"/>
            <a:ext cx="4023360" cy="3337560"/>
          </a:xfrm>
          <a:prstGeom prst="roundRect">
            <a:avLst>
              <a:gd name="adj" fmla="val 1644"/>
            </a:avLst>
          </a:prstGeom>
          <a:solidFill>
            <a:srgbClr val="FFFFFF"/>
          </a:solidFill>
          <a:ln w="12700">
            <a:solidFill>
              <a:srgbClr val="E7DCD3"/>
            </a:solidFill>
            <a:prstDash val="solid"/>
          </a:ln>
        </p:spPr>
        <p:txBody>
          <a:bodyPr/>
          <a:lstStyle/>
          <a:p>
            <a:endParaRPr lang="ko-KR" altLang="en-US"/>
          </a:p>
        </p:txBody>
      </p:sp>
      <p:sp>
        <p:nvSpPr>
          <p:cNvPr id="14" name="Shape 11"/>
          <p:cNvSpPr/>
          <p:nvPr/>
        </p:nvSpPr>
        <p:spPr>
          <a:xfrm>
            <a:off x="4828032" y="1033272"/>
            <a:ext cx="777240" cy="329184"/>
          </a:xfrm>
          <a:prstGeom prst="roundRect">
            <a:avLst>
              <a:gd name="adj" fmla="val 50000"/>
            </a:avLst>
          </a:prstGeom>
          <a:solidFill>
            <a:srgbClr val="B85042"/>
          </a:solidFill>
          <a:ln/>
        </p:spPr>
        <p:txBody>
          <a:bodyPr/>
          <a:lstStyle/>
          <a:p>
            <a:endParaRPr lang="ko-KR" altLang="en-US"/>
          </a:p>
        </p:txBody>
      </p:sp>
      <p:sp>
        <p:nvSpPr>
          <p:cNvPr id="15" name="Text 12"/>
          <p:cNvSpPr/>
          <p:nvPr/>
        </p:nvSpPr>
        <p:spPr>
          <a:xfrm>
            <a:off x="4828032" y="1033272"/>
            <a:ext cx="77724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CUT 4</a:t>
            </a:r>
            <a:endParaRPr lang="en-US" sz="1000" dirty="0"/>
          </a:p>
        </p:txBody>
      </p:sp>
      <p:sp>
        <p:nvSpPr>
          <p:cNvPr id="16" name="Text 13"/>
          <p:cNvSpPr/>
          <p:nvPr/>
        </p:nvSpPr>
        <p:spPr>
          <a:xfrm>
            <a:off x="5669280" y="1033272"/>
            <a:ext cx="3017520" cy="329184"/>
          </a:xfrm>
          <a:prstGeom prst="rect">
            <a:avLst/>
          </a:prstGeom>
          <a:noFill/>
          <a:ln/>
        </p:spPr>
        <p:txBody>
          <a:bodyPr wrap="square" rtlCol="0" anchor="ctr"/>
          <a:lstStyle/>
          <a:p>
            <a:pPr marL="0" indent="0">
              <a:buNone/>
            </a:pPr>
            <a:r>
              <a:rPr lang="en-US" sz="1050" b="1" dirty="0">
                <a:solidFill>
                  <a:srgbClr val="33291F"/>
                </a:solidFill>
                <a:latin typeface="Calibri" pitchFamily="34" charset="0"/>
                <a:ea typeface="Calibri" pitchFamily="34" charset="-122"/>
                <a:cs typeface="Calibri" pitchFamily="34" charset="-120"/>
              </a:rPr>
              <a:t>전환(블로그 유도)  ·  00:35–42</a:t>
            </a:r>
            <a:endParaRPr lang="en-US" sz="1050" dirty="0"/>
          </a:p>
        </p:txBody>
      </p:sp>
      <p:pic>
        <p:nvPicPr>
          <p:cNvPr id="17" name="Image 1" descr="/mnt/user-data/uploads/부드러운_아침_햇살과_체크리스트_영상제작용_.png"/>
          <p:cNvPicPr>
            <a:picLocks noChangeAspect="1"/>
          </p:cNvPicPr>
          <p:nvPr/>
        </p:nvPicPr>
        <p:blipFill>
          <a:blip r:embed="rId4"/>
          <a:stretch>
            <a:fillRect/>
          </a:stretch>
        </p:blipFill>
        <p:spPr>
          <a:xfrm>
            <a:off x="4828032" y="1481328"/>
            <a:ext cx="1143000" cy="2030920"/>
          </a:xfrm>
          <a:prstGeom prst="rect">
            <a:avLst/>
          </a:prstGeom>
          <a:effectLst>
            <a:outerShdw blurRad="76200" dist="25400" dir="5400000" algn="bl" rotWithShape="0">
              <a:srgbClr val="000000">
                <a:alpha val="12000"/>
              </a:srgbClr>
            </a:outerShdw>
          </a:effectLst>
        </p:spPr>
      </p:pic>
      <p:sp>
        <p:nvSpPr>
          <p:cNvPr id="18" name="Text 14"/>
          <p:cNvSpPr/>
          <p:nvPr/>
        </p:nvSpPr>
        <p:spPr>
          <a:xfrm>
            <a:off x="6126480" y="1463040"/>
            <a:ext cx="2423160" cy="548640"/>
          </a:xfrm>
          <a:prstGeom prst="rect">
            <a:avLst/>
          </a:prstGeom>
          <a:noFill/>
          <a:ln/>
        </p:spPr>
        <p:txBody>
          <a:bodyPr wrap="square" rtlCol="0" anchor="t"/>
          <a:lstStyle/>
          <a:p>
            <a:pPr marL="0" indent="0">
              <a:buNone/>
            </a:pPr>
            <a:r>
              <a:rPr lang="en-US" sz="1150" b="1" dirty="0">
                <a:solidFill>
                  <a:srgbClr val="33291F"/>
                </a:solidFill>
                <a:latin typeface="Calibri" pitchFamily="34" charset="0"/>
                <a:ea typeface="Calibri" pitchFamily="34" charset="-122"/>
                <a:cs typeface="Calibri" pitchFamily="34" charset="-120"/>
              </a:rPr>
              <a:t>"사실, 지금이 습관을</a:t>
            </a:r>
            <a:endParaRPr lang="en-US" sz="1150" dirty="0"/>
          </a:p>
          <a:p>
            <a:pPr marL="0" indent="0">
              <a:buNone/>
            </a:pPr>
            <a:r>
              <a:rPr lang="en-US" sz="1150" b="1" dirty="0">
                <a:solidFill>
                  <a:srgbClr val="33291F"/>
                </a:solidFill>
                <a:latin typeface="Calibri" pitchFamily="34" charset="0"/>
                <a:ea typeface="Calibri" pitchFamily="34" charset="-122"/>
                <a:cs typeface="Calibri" pitchFamily="34" charset="-120"/>
              </a:rPr>
              <a:t>잡는 골든타임이래요"</a:t>
            </a:r>
            <a:endParaRPr lang="en-US" sz="1150" dirty="0"/>
          </a:p>
        </p:txBody>
      </p:sp>
      <p:sp>
        <p:nvSpPr>
          <p:cNvPr id="19" name="Text 15"/>
          <p:cNvSpPr/>
          <p:nvPr/>
        </p:nvSpPr>
        <p:spPr>
          <a:xfrm>
            <a:off x="6126480" y="1993392"/>
            <a:ext cx="2423160" cy="228600"/>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AI 영상 프롬프트</a:t>
            </a:r>
            <a:endParaRPr lang="en-US" sz="850" dirty="0"/>
          </a:p>
        </p:txBody>
      </p:sp>
      <p:sp>
        <p:nvSpPr>
          <p:cNvPr id="20" name="Shape 16"/>
          <p:cNvSpPr/>
          <p:nvPr/>
        </p:nvSpPr>
        <p:spPr>
          <a:xfrm>
            <a:off x="6126480" y="2212848"/>
            <a:ext cx="2423160" cy="1299400"/>
          </a:xfrm>
          <a:prstGeom prst="roundRect">
            <a:avLst>
              <a:gd name="adj" fmla="val 2815"/>
            </a:avLst>
          </a:prstGeom>
          <a:solidFill>
            <a:srgbClr val="F7F1EC"/>
          </a:solidFill>
          <a:ln/>
        </p:spPr>
        <p:txBody>
          <a:bodyPr/>
          <a:lstStyle/>
          <a:p>
            <a:endParaRPr lang="ko-KR" altLang="en-US"/>
          </a:p>
        </p:txBody>
      </p:sp>
      <p:sp>
        <p:nvSpPr>
          <p:cNvPr id="21" name="Text 17"/>
          <p:cNvSpPr/>
          <p:nvPr/>
        </p:nvSpPr>
        <p:spPr>
          <a:xfrm>
            <a:off x="6199632" y="2240280"/>
            <a:ext cx="2286000" cy="1244536"/>
          </a:xfrm>
          <a:prstGeom prst="rect">
            <a:avLst/>
          </a:prstGeom>
          <a:noFill/>
          <a:ln/>
        </p:spPr>
        <p:txBody>
          <a:bodyPr wrap="square" rtlCol="0" anchor="t"/>
          <a:lstStyle/>
          <a:p>
            <a:pPr marL="0" indent="0">
              <a:lnSpc>
                <a:spcPct val="95000"/>
              </a:lnSpc>
              <a:buNone/>
            </a:pPr>
            <a:r>
              <a:rPr lang="en-US" sz="680" dirty="0">
                <a:solidFill>
                  <a:srgbClr val="33291F"/>
                </a:solidFill>
                <a:latin typeface="Courier New" pitchFamily="34" charset="0"/>
                <a:ea typeface="Courier New" pitchFamily="34" charset="-122"/>
                <a:cs typeface="Courier New" pitchFamily="34" charset="-120"/>
              </a:rPr>
              <a:t>Vertical 9:16 video, close-up static shot with shallow depth of field, slow handheld upward tilt revealing a hand checking off items on a simple planner, bright warm morning light with a color grading transition from cool to warm tone, hopeful and calm mood</a:t>
            </a:r>
            <a:endParaRPr lang="en-US" sz="680" dirty="0"/>
          </a:p>
        </p:txBody>
      </p:sp>
      <p:sp>
        <p:nvSpPr>
          <p:cNvPr id="22" name="Text 18"/>
          <p:cNvSpPr/>
          <p:nvPr/>
        </p:nvSpPr>
        <p:spPr>
          <a:xfrm>
            <a:off x="4828032" y="3603688"/>
            <a:ext cx="3703320" cy="777240"/>
          </a:xfrm>
          <a:prstGeom prst="rect">
            <a:avLst/>
          </a:prstGeom>
          <a:noFill/>
          <a:ln/>
        </p:spPr>
        <p:txBody>
          <a:bodyPr wrap="square" rtlCol="0" anchor="t"/>
          <a:lstStyle/>
          <a:p>
            <a:pPr marL="0" indent="0">
              <a:buNone/>
            </a:pPr>
            <a:r>
              <a:rPr lang="en-US" sz="850" i="1" dirty="0">
                <a:solidFill>
                  <a:srgbClr val="9A8D81"/>
                </a:solidFill>
                <a:latin typeface="Calibri" pitchFamily="34" charset="0"/>
                <a:ea typeface="Calibri" pitchFamily="34" charset="-122"/>
                <a:cs typeface="Calibri" pitchFamily="34" charset="-120"/>
              </a:rPr>
              <a:t>장면: 어둡고 무거운 톤 → 밝은 톤으로 컬러 그레이딩 전환, 체크리스트에 표시하는 손 클로즈업</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3. 영상 프롬프트 — CUT 5 (CTA) &amp; 네이버클립 발행 정보</a:t>
            </a:r>
            <a:endParaRPr lang="en-US" sz="2200" dirty="0"/>
          </a:p>
        </p:txBody>
      </p:sp>
      <p:sp>
        <p:nvSpPr>
          <p:cNvPr id="3" name="Shape 1"/>
          <p:cNvSpPr/>
          <p:nvPr/>
        </p:nvSpPr>
        <p:spPr>
          <a:xfrm>
            <a:off x="457200" y="868680"/>
            <a:ext cx="4023360" cy="3337560"/>
          </a:xfrm>
          <a:prstGeom prst="roundRect">
            <a:avLst>
              <a:gd name="adj" fmla="val 1644"/>
            </a:avLst>
          </a:prstGeom>
          <a:solidFill>
            <a:srgbClr val="FFFFFF"/>
          </a:solidFill>
          <a:ln w="12700">
            <a:solidFill>
              <a:srgbClr val="E7DCD3"/>
            </a:solidFill>
            <a:prstDash val="solid"/>
          </a:ln>
        </p:spPr>
        <p:txBody>
          <a:bodyPr/>
          <a:lstStyle/>
          <a:p>
            <a:endParaRPr lang="ko-KR" altLang="en-US"/>
          </a:p>
        </p:txBody>
      </p:sp>
      <p:sp>
        <p:nvSpPr>
          <p:cNvPr id="4" name="Shape 2"/>
          <p:cNvSpPr/>
          <p:nvPr/>
        </p:nvSpPr>
        <p:spPr>
          <a:xfrm>
            <a:off x="621792" y="1033272"/>
            <a:ext cx="777240" cy="329184"/>
          </a:xfrm>
          <a:prstGeom prst="roundRect">
            <a:avLst>
              <a:gd name="adj" fmla="val 50000"/>
            </a:avLst>
          </a:prstGeom>
          <a:solidFill>
            <a:srgbClr val="B85042"/>
          </a:solidFill>
          <a:ln/>
        </p:spPr>
        <p:txBody>
          <a:bodyPr/>
          <a:lstStyle/>
          <a:p>
            <a:endParaRPr lang="ko-KR" altLang="en-US"/>
          </a:p>
        </p:txBody>
      </p:sp>
      <p:sp>
        <p:nvSpPr>
          <p:cNvPr id="5" name="Text 3"/>
          <p:cNvSpPr/>
          <p:nvPr/>
        </p:nvSpPr>
        <p:spPr>
          <a:xfrm>
            <a:off x="621792" y="1033272"/>
            <a:ext cx="77724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CUT 5</a:t>
            </a:r>
            <a:endParaRPr lang="en-US" sz="1000" dirty="0"/>
          </a:p>
        </p:txBody>
      </p:sp>
      <p:sp>
        <p:nvSpPr>
          <p:cNvPr id="6" name="Text 4"/>
          <p:cNvSpPr/>
          <p:nvPr/>
        </p:nvSpPr>
        <p:spPr>
          <a:xfrm>
            <a:off x="1463040" y="1033272"/>
            <a:ext cx="3017520" cy="329184"/>
          </a:xfrm>
          <a:prstGeom prst="rect">
            <a:avLst/>
          </a:prstGeom>
          <a:noFill/>
          <a:ln/>
        </p:spPr>
        <p:txBody>
          <a:bodyPr wrap="square" rtlCol="0" anchor="ctr"/>
          <a:lstStyle/>
          <a:p>
            <a:pPr marL="0" indent="0">
              <a:buNone/>
            </a:pPr>
            <a:r>
              <a:rPr lang="en-US" sz="1050" b="1" dirty="0">
                <a:solidFill>
                  <a:srgbClr val="33291F"/>
                </a:solidFill>
                <a:latin typeface="Calibri" pitchFamily="34" charset="0"/>
                <a:ea typeface="Calibri" pitchFamily="34" charset="-122"/>
                <a:cs typeface="Calibri" pitchFamily="34" charset="-120"/>
              </a:rPr>
              <a:t>CTA  ·  00:42–45</a:t>
            </a:r>
            <a:endParaRPr lang="en-US" sz="1050" dirty="0"/>
          </a:p>
        </p:txBody>
      </p:sp>
      <p:pic>
        <p:nvPicPr>
          <p:cNvPr id="7" name="Image 0" descr="/mnt/user-data/uploads/레트로_스타일의_학습용_문구_디자인_영상제작용_.png"/>
          <p:cNvPicPr>
            <a:picLocks noChangeAspect="1"/>
          </p:cNvPicPr>
          <p:nvPr/>
        </p:nvPicPr>
        <p:blipFill>
          <a:blip r:embed="rId3"/>
          <a:stretch>
            <a:fillRect/>
          </a:stretch>
        </p:blipFill>
        <p:spPr>
          <a:xfrm>
            <a:off x="621792" y="1481328"/>
            <a:ext cx="1143000" cy="2030920"/>
          </a:xfrm>
          <a:prstGeom prst="rect">
            <a:avLst/>
          </a:prstGeom>
          <a:effectLst>
            <a:outerShdw blurRad="76200" dist="25400" dir="5400000" algn="bl" rotWithShape="0">
              <a:srgbClr val="000000">
                <a:alpha val="12000"/>
              </a:srgbClr>
            </a:outerShdw>
          </a:effectLst>
        </p:spPr>
      </p:pic>
      <p:sp>
        <p:nvSpPr>
          <p:cNvPr id="8" name="Text 5"/>
          <p:cNvSpPr/>
          <p:nvPr/>
        </p:nvSpPr>
        <p:spPr>
          <a:xfrm>
            <a:off x="1920240" y="1463040"/>
            <a:ext cx="2423160" cy="548640"/>
          </a:xfrm>
          <a:prstGeom prst="rect">
            <a:avLst/>
          </a:prstGeom>
          <a:noFill/>
          <a:ln/>
        </p:spPr>
        <p:txBody>
          <a:bodyPr wrap="square" rtlCol="0" anchor="t"/>
          <a:lstStyle/>
          <a:p>
            <a:pPr marL="0" indent="0">
              <a:buNone/>
            </a:pPr>
            <a:r>
              <a:rPr lang="en-US" sz="1150" b="1" dirty="0">
                <a:solidFill>
                  <a:srgbClr val="33291F"/>
                </a:solidFill>
                <a:latin typeface="Calibri" pitchFamily="34" charset="0"/>
                <a:ea typeface="Calibri" pitchFamily="34" charset="-122"/>
                <a:cs typeface="Calibri" pitchFamily="34" charset="-120"/>
              </a:rPr>
              <a:t>"몇 살부터 책상 습관</a:t>
            </a:r>
            <a:endParaRPr lang="en-US" sz="1150" dirty="0"/>
          </a:p>
          <a:p>
            <a:pPr marL="0" indent="0">
              <a:buNone/>
            </a:pPr>
            <a:r>
              <a:rPr lang="en-US" sz="1150" b="1" dirty="0">
                <a:solidFill>
                  <a:srgbClr val="33291F"/>
                </a:solidFill>
                <a:latin typeface="Calibri" pitchFamily="34" charset="0"/>
                <a:ea typeface="Calibri" pitchFamily="34" charset="-122"/>
                <a:cs typeface="Calibri" pitchFamily="34" charset="-120"/>
              </a:rPr>
              <a:t>시작했나요? 댓글 / 블로그↑"</a:t>
            </a:r>
            <a:endParaRPr lang="en-US" sz="1150" dirty="0"/>
          </a:p>
        </p:txBody>
      </p:sp>
      <p:sp>
        <p:nvSpPr>
          <p:cNvPr id="9" name="Text 6"/>
          <p:cNvSpPr/>
          <p:nvPr/>
        </p:nvSpPr>
        <p:spPr>
          <a:xfrm>
            <a:off x="1920240" y="1993392"/>
            <a:ext cx="2423160" cy="228600"/>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AI 영상 프롬프트</a:t>
            </a:r>
            <a:endParaRPr lang="en-US" sz="850" dirty="0"/>
          </a:p>
        </p:txBody>
      </p:sp>
      <p:sp>
        <p:nvSpPr>
          <p:cNvPr id="10" name="Shape 7"/>
          <p:cNvSpPr/>
          <p:nvPr/>
        </p:nvSpPr>
        <p:spPr>
          <a:xfrm>
            <a:off x="1920240" y="2212848"/>
            <a:ext cx="2423160" cy="1299400"/>
          </a:xfrm>
          <a:prstGeom prst="roundRect">
            <a:avLst>
              <a:gd name="adj" fmla="val 2815"/>
            </a:avLst>
          </a:prstGeom>
          <a:solidFill>
            <a:srgbClr val="F7F1EC"/>
          </a:solidFill>
          <a:ln/>
        </p:spPr>
        <p:txBody>
          <a:bodyPr/>
          <a:lstStyle/>
          <a:p>
            <a:endParaRPr lang="ko-KR" altLang="en-US"/>
          </a:p>
        </p:txBody>
      </p:sp>
      <p:sp>
        <p:nvSpPr>
          <p:cNvPr id="11" name="Text 8"/>
          <p:cNvSpPr/>
          <p:nvPr/>
        </p:nvSpPr>
        <p:spPr>
          <a:xfrm>
            <a:off x="1993392" y="2240280"/>
            <a:ext cx="2286000" cy="1244536"/>
          </a:xfrm>
          <a:prstGeom prst="rect">
            <a:avLst/>
          </a:prstGeom>
          <a:noFill/>
          <a:ln/>
        </p:spPr>
        <p:txBody>
          <a:bodyPr wrap="square" rtlCol="0" anchor="t"/>
          <a:lstStyle/>
          <a:p>
            <a:pPr marL="0" indent="0">
              <a:lnSpc>
                <a:spcPct val="95000"/>
              </a:lnSpc>
              <a:buNone/>
            </a:pPr>
            <a:r>
              <a:rPr lang="en-US" sz="680" dirty="0">
                <a:solidFill>
                  <a:srgbClr val="33291F"/>
                </a:solidFill>
                <a:latin typeface="Courier New" pitchFamily="34" charset="0"/>
                <a:ea typeface="Courier New" pitchFamily="34" charset="-122"/>
                <a:cs typeface="Courier New" pitchFamily="34" charset="-120"/>
              </a:rPr>
              <a:t>Vertical 9:16 video, static simple text card overlay on a clean bright background, gentle fade-out transition, friendly and inviting mood, minimal graphic design style, no realistic faces</a:t>
            </a:r>
            <a:endParaRPr lang="en-US" sz="680" dirty="0"/>
          </a:p>
        </p:txBody>
      </p:sp>
      <p:sp>
        <p:nvSpPr>
          <p:cNvPr id="12" name="Text 9"/>
          <p:cNvSpPr/>
          <p:nvPr/>
        </p:nvSpPr>
        <p:spPr>
          <a:xfrm>
            <a:off x="621792" y="3603688"/>
            <a:ext cx="3703320" cy="777240"/>
          </a:xfrm>
          <a:prstGeom prst="rect">
            <a:avLst/>
          </a:prstGeom>
          <a:noFill/>
          <a:ln/>
        </p:spPr>
        <p:txBody>
          <a:bodyPr wrap="square" rtlCol="0" anchor="t"/>
          <a:lstStyle/>
          <a:p>
            <a:pPr marL="0" indent="0">
              <a:buNone/>
            </a:pPr>
            <a:r>
              <a:rPr lang="en-US" sz="850" i="1" dirty="0">
                <a:solidFill>
                  <a:srgbClr val="9A8D81"/>
                </a:solidFill>
                <a:latin typeface="Calibri" pitchFamily="34" charset="0"/>
                <a:ea typeface="Calibri" pitchFamily="34" charset="-122"/>
                <a:cs typeface="Calibri" pitchFamily="34" charset="-120"/>
              </a:rPr>
              <a:t>장면: 화면 정지 + 텍스트 카드로 마무리 / 편집: 마지막 1초 페이드아웃, 블로그 링크 영역(상단) 강조</a:t>
            </a:r>
            <a:endParaRPr lang="en-US" sz="850" dirty="0"/>
          </a:p>
        </p:txBody>
      </p:sp>
      <p:sp>
        <p:nvSpPr>
          <p:cNvPr id="13" name="Shape 10"/>
          <p:cNvSpPr/>
          <p:nvPr/>
        </p:nvSpPr>
        <p:spPr>
          <a:xfrm>
            <a:off x="4663440" y="868680"/>
            <a:ext cx="4023360" cy="4023360"/>
          </a:xfrm>
          <a:prstGeom prst="roundRect">
            <a:avLst>
              <a:gd name="adj" fmla="val 1364"/>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14" name="Text 11"/>
          <p:cNvSpPr/>
          <p:nvPr/>
        </p:nvSpPr>
        <p:spPr>
          <a:xfrm>
            <a:off x="4892040" y="1005840"/>
            <a:ext cx="3657600" cy="365760"/>
          </a:xfrm>
          <a:prstGeom prst="rect">
            <a:avLst/>
          </a:prstGeom>
          <a:noFill/>
          <a:ln/>
        </p:spPr>
        <p:txBody>
          <a:bodyPr wrap="square" rtlCol="0" anchor="ctr"/>
          <a:lstStyle/>
          <a:p>
            <a:pPr marL="0" indent="0">
              <a:buNone/>
            </a:pPr>
            <a:r>
              <a:rPr lang="en-US" sz="1400" b="1" dirty="0">
                <a:solidFill>
                  <a:srgbClr val="33291F"/>
                </a:solidFill>
                <a:latin typeface="Cambria" pitchFamily="34" charset="0"/>
                <a:ea typeface="Cambria" pitchFamily="34" charset="-122"/>
                <a:cs typeface="Cambria" pitchFamily="34" charset="-120"/>
              </a:rPr>
              <a:t>네이버클립 발행 정보</a:t>
            </a:r>
            <a:endParaRPr lang="en-US" sz="1400" dirty="0"/>
          </a:p>
        </p:txBody>
      </p:sp>
      <p:sp>
        <p:nvSpPr>
          <p:cNvPr id="15" name="Text 12"/>
          <p:cNvSpPr/>
          <p:nvPr/>
        </p:nvSpPr>
        <p:spPr>
          <a:xfrm>
            <a:off x="4892040" y="1417320"/>
            <a:ext cx="3657600" cy="3383280"/>
          </a:xfrm>
          <a:prstGeom prst="rect">
            <a:avLst/>
          </a:prstGeom>
          <a:noFill/>
          <a:ln/>
        </p:spPr>
        <p:txBody>
          <a:bodyPr wrap="square" rtlCol="0" anchor="t"/>
          <a:lstStyle/>
          <a:p>
            <a:pPr marL="0" indent="0">
              <a:spcAft>
                <a:spcPts val="200"/>
              </a:spcAft>
              <a:buNone/>
            </a:pPr>
            <a:r>
              <a:rPr lang="en-US" sz="1050" b="1" dirty="0">
                <a:solidFill>
                  <a:srgbClr val="B85042"/>
                </a:solidFill>
                <a:latin typeface="Calibri" pitchFamily="34" charset="0"/>
                <a:ea typeface="Calibri" pitchFamily="34" charset="-122"/>
                <a:cs typeface="Calibri" pitchFamily="34" charset="-120"/>
              </a:rPr>
              <a:t>제목</a:t>
            </a:r>
            <a:endParaRPr lang="en-US" sz="1050" dirty="0"/>
          </a:p>
          <a:p>
            <a:pPr marL="0" indent="0">
              <a:spcAft>
                <a:spcPts val="800"/>
              </a:spcAft>
              <a:buNone/>
            </a:pPr>
            <a:r>
              <a:rPr lang="en-US" sz="1000" dirty="0">
                <a:solidFill>
                  <a:srgbClr val="33291F"/>
                </a:solidFill>
                <a:latin typeface="Calibri" pitchFamily="34" charset="0"/>
                <a:ea typeface="Calibri" pitchFamily="34" charset="-122"/>
                <a:cs typeface="Calibri" pitchFamily="34" charset="-120"/>
              </a:rPr>
              <a:t>"사줬는데 왜 또 제가 옆에 있어야 하죠? (feat. 초등 학습습관 골든타임)"</a:t>
            </a:r>
            <a:endParaRPr lang="en-US" sz="1050" dirty="0"/>
          </a:p>
          <a:p>
            <a:pPr marL="0" indent="0">
              <a:spcAft>
                <a:spcPts val="200"/>
              </a:spcAft>
              <a:buNone/>
            </a:pPr>
            <a:r>
              <a:rPr lang="en-US" sz="1050" b="1" dirty="0">
                <a:solidFill>
                  <a:srgbClr val="B85042"/>
                </a:solidFill>
                <a:latin typeface="Calibri" pitchFamily="34" charset="0"/>
                <a:ea typeface="Calibri" pitchFamily="34" charset="-122"/>
                <a:cs typeface="Calibri" pitchFamily="34" charset="-120"/>
              </a:rPr>
              <a:t>설명란</a:t>
            </a:r>
            <a:endParaRPr lang="en-US" sz="1050" dirty="0"/>
          </a:p>
          <a:p>
            <a:pPr marL="0" indent="0">
              <a:spcAft>
                <a:spcPts val="800"/>
              </a:spcAft>
              <a:buNone/>
            </a:pPr>
            <a:r>
              <a:rPr lang="en-US" sz="1000" dirty="0">
                <a:solidFill>
                  <a:srgbClr val="33291F"/>
                </a:solidFill>
                <a:latin typeface="Calibri" pitchFamily="34" charset="0"/>
                <a:ea typeface="Calibri" pitchFamily="34" charset="-122"/>
                <a:cs typeface="Calibri" pitchFamily="34" charset="-120"/>
              </a:rPr>
              <a:t>"패드도 사주고 문제집도 바꿔봤는데... 결국 똑같더라고요. 사실 지금이 '습관'을 잡는 골든타임이래요. 자세한 이야기는 블로그에 정리해뒀어요 👇"</a:t>
            </a:r>
            <a:endParaRPr lang="en-US" sz="1050" dirty="0"/>
          </a:p>
          <a:p>
            <a:pPr marL="0" indent="0">
              <a:spcAft>
                <a:spcPts val="200"/>
              </a:spcAft>
              <a:buNone/>
            </a:pPr>
            <a:r>
              <a:rPr lang="en-US" sz="1050" b="1" dirty="0">
                <a:solidFill>
                  <a:srgbClr val="B85042"/>
                </a:solidFill>
                <a:latin typeface="Calibri" pitchFamily="34" charset="0"/>
                <a:ea typeface="Calibri" pitchFamily="34" charset="-122"/>
                <a:cs typeface="Calibri" pitchFamily="34" charset="-120"/>
              </a:rPr>
              <a:t>해시태그</a:t>
            </a:r>
            <a:endParaRPr lang="en-US" sz="1050" dirty="0"/>
          </a:p>
          <a:p>
            <a:pPr marL="0" indent="0">
              <a:spcAft>
                <a:spcPts val="800"/>
              </a:spcAft>
              <a:buNone/>
            </a:pPr>
            <a:r>
              <a:rPr lang="en-US" sz="1000" dirty="0">
                <a:solidFill>
                  <a:srgbClr val="33291F"/>
                </a:solidFill>
                <a:latin typeface="Calibri" pitchFamily="34" charset="0"/>
                <a:ea typeface="Calibri" pitchFamily="34" charset="-122"/>
                <a:cs typeface="Calibri" pitchFamily="34" charset="-120"/>
              </a:rPr>
              <a:t>#초등자기주도학습 #초등학습습관 #초등저학년공부습관 #공부습관만들기 #초등학습습관골든타임 #초등맘공감 #육아맘일상 #초등엄마</a:t>
            </a:r>
            <a:endParaRPr lang="en-US" sz="1050" dirty="0"/>
          </a:p>
          <a:p>
            <a:pPr marL="0" indent="0">
              <a:spcAft>
                <a:spcPts val="200"/>
              </a:spcAft>
              <a:buNone/>
            </a:pPr>
            <a:r>
              <a:rPr lang="en-US" sz="1050" b="1" dirty="0">
                <a:solidFill>
                  <a:srgbClr val="B85042"/>
                </a:solidFill>
                <a:latin typeface="Calibri" pitchFamily="34" charset="0"/>
                <a:ea typeface="Calibri" pitchFamily="34" charset="-122"/>
                <a:cs typeface="Calibri" pitchFamily="34" charset="-120"/>
              </a:rPr>
              <a:t>블로그 연결 CTA</a:t>
            </a:r>
            <a:endParaRPr lang="en-US" sz="1050" dirty="0"/>
          </a:p>
          <a:p>
            <a:pPr marL="0" indent="0">
              <a:spcAft>
                <a:spcPts val="200"/>
              </a:spcAft>
              <a:buNone/>
            </a:pPr>
            <a:r>
              <a:rPr lang="en-US" sz="1000" dirty="0">
                <a:solidFill>
                  <a:srgbClr val="33291F"/>
                </a:solidFill>
                <a:latin typeface="Calibri" pitchFamily="34" charset="0"/>
                <a:ea typeface="Calibri" pitchFamily="34" charset="-122"/>
                <a:cs typeface="Calibri" pitchFamily="34" charset="-120"/>
              </a:rPr>
              <a:t>클립 상단/프로필 링크에 블로그 글 연결 · 설명란 첫 줄에 "자세한 이야기는 ↓ 링크에서" 명시</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4. 블로그 이미지 기획 — 단락별 5종 (GEO/AEO 연계)</a:t>
            </a:r>
            <a:endParaRPr lang="en-US" sz="2200" dirty="0"/>
          </a:p>
        </p:txBody>
      </p:sp>
      <p:pic>
        <p:nvPicPr>
          <p:cNvPr id="3" name="Image 0" descr="/mnt/user-data/uploads/_블로그이미지_초등학습습관골든타임-도입공감-01.png"/>
          <p:cNvPicPr>
            <a:picLocks noChangeAspect="1"/>
          </p:cNvPicPr>
          <p:nvPr/>
        </p:nvPicPr>
        <p:blipFill>
          <a:blip r:embed="rId3"/>
          <a:stretch>
            <a:fillRect/>
          </a:stretch>
        </p:blipFill>
        <p:spPr>
          <a:xfrm>
            <a:off x="457200" y="960120"/>
            <a:ext cx="1627632" cy="1085088"/>
          </a:xfrm>
          <a:prstGeom prst="rect">
            <a:avLst/>
          </a:prstGeom>
          <a:effectLst>
            <a:outerShdw blurRad="76200" dist="25400" dir="5400000" algn="bl" rotWithShape="0">
              <a:srgbClr val="000000">
                <a:alpha val="12000"/>
              </a:srgbClr>
            </a:outerShdw>
          </a:effectLst>
        </p:spPr>
      </p:pic>
      <p:sp>
        <p:nvSpPr>
          <p:cNvPr id="4" name="Text 1"/>
          <p:cNvSpPr/>
          <p:nvPr/>
        </p:nvSpPr>
        <p:spPr>
          <a:xfrm>
            <a:off x="457200" y="2118360"/>
            <a:ext cx="1627632" cy="274320"/>
          </a:xfrm>
          <a:prstGeom prst="rect">
            <a:avLst/>
          </a:prstGeom>
          <a:noFill/>
          <a:ln/>
        </p:spPr>
        <p:txBody>
          <a:bodyPr wrap="square" rtlCol="0" anchor="ctr"/>
          <a:lstStyle/>
          <a:p>
            <a:pPr marL="0" indent="0" algn="l">
              <a:buNone/>
            </a:pPr>
            <a:r>
              <a:rPr lang="en-US" sz="900" b="1" dirty="0">
                <a:solidFill>
                  <a:srgbClr val="B85042"/>
                </a:solidFill>
                <a:latin typeface="Calibri" pitchFamily="34" charset="0"/>
                <a:ea typeface="Calibri" pitchFamily="34" charset="-122"/>
                <a:cs typeface="Calibri" pitchFamily="34" charset="-120"/>
              </a:rPr>
              <a:t>① 도입·공감</a:t>
            </a:r>
            <a:endParaRPr lang="en-US" sz="900" dirty="0"/>
          </a:p>
        </p:txBody>
      </p:sp>
      <p:sp>
        <p:nvSpPr>
          <p:cNvPr id="5" name="Text 2"/>
          <p:cNvSpPr/>
          <p:nvPr/>
        </p:nvSpPr>
        <p:spPr>
          <a:xfrm>
            <a:off x="457200" y="2374392"/>
            <a:ext cx="1627632" cy="548640"/>
          </a:xfrm>
          <a:prstGeom prst="rect">
            <a:avLst/>
          </a:prstGeom>
          <a:noFill/>
          <a:ln/>
        </p:spPr>
        <p:txBody>
          <a:bodyPr wrap="square" rtlCol="0" anchor="ctr"/>
          <a:lstStyle/>
          <a:p>
            <a:pPr marL="0" indent="0" algn="l">
              <a:buNone/>
            </a:pPr>
            <a:r>
              <a:rPr lang="en-US" sz="850" i="1" dirty="0">
                <a:solidFill>
                  <a:srgbClr val="9A8D81"/>
                </a:solidFill>
                <a:latin typeface="Calibri" pitchFamily="34" charset="0"/>
                <a:ea typeface="Calibri" pitchFamily="34" charset="-122"/>
                <a:cs typeface="Calibri" pitchFamily="34" charset="-120"/>
              </a:rPr>
              <a:t>"오늘도 결국, 제가 옆에 앉았어요"</a:t>
            </a:r>
            <a:endParaRPr lang="en-US" sz="850" dirty="0"/>
          </a:p>
        </p:txBody>
      </p:sp>
      <p:pic>
        <p:nvPicPr>
          <p:cNvPr id="6" name="Image 1" descr="/mnt/user-data/uploads/_블로그이미지_초등학습습관골든타임-문제제시-02.png"/>
          <p:cNvPicPr>
            <a:picLocks noChangeAspect="1"/>
          </p:cNvPicPr>
          <p:nvPr/>
        </p:nvPicPr>
        <p:blipFill>
          <a:blip r:embed="rId4"/>
          <a:stretch>
            <a:fillRect/>
          </a:stretch>
        </p:blipFill>
        <p:spPr>
          <a:xfrm>
            <a:off x="2212848" y="960120"/>
            <a:ext cx="1627632" cy="1085088"/>
          </a:xfrm>
          <a:prstGeom prst="rect">
            <a:avLst/>
          </a:prstGeom>
          <a:effectLst>
            <a:outerShdw blurRad="76200" dist="25400" dir="5400000" algn="bl" rotWithShape="0">
              <a:srgbClr val="000000">
                <a:alpha val="12000"/>
              </a:srgbClr>
            </a:outerShdw>
          </a:effectLst>
        </p:spPr>
      </p:pic>
      <p:sp>
        <p:nvSpPr>
          <p:cNvPr id="7" name="Text 3"/>
          <p:cNvSpPr/>
          <p:nvPr/>
        </p:nvSpPr>
        <p:spPr>
          <a:xfrm>
            <a:off x="2212848" y="2118360"/>
            <a:ext cx="1627632" cy="274320"/>
          </a:xfrm>
          <a:prstGeom prst="rect">
            <a:avLst/>
          </a:prstGeom>
          <a:noFill/>
          <a:ln/>
        </p:spPr>
        <p:txBody>
          <a:bodyPr wrap="square" rtlCol="0" anchor="ctr"/>
          <a:lstStyle/>
          <a:p>
            <a:pPr marL="0" indent="0" algn="l">
              <a:buNone/>
            </a:pPr>
            <a:r>
              <a:rPr lang="en-US" sz="900" b="1" dirty="0">
                <a:solidFill>
                  <a:srgbClr val="B85042"/>
                </a:solidFill>
                <a:latin typeface="Calibri" pitchFamily="34" charset="0"/>
                <a:ea typeface="Calibri" pitchFamily="34" charset="-122"/>
                <a:cs typeface="Calibri" pitchFamily="34" charset="-120"/>
              </a:rPr>
              <a:t>② 문제 제시</a:t>
            </a:r>
            <a:endParaRPr lang="en-US" sz="900" dirty="0"/>
          </a:p>
        </p:txBody>
      </p:sp>
      <p:sp>
        <p:nvSpPr>
          <p:cNvPr id="8" name="Text 4"/>
          <p:cNvSpPr/>
          <p:nvPr/>
        </p:nvSpPr>
        <p:spPr>
          <a:xfrm>
            <a:off x="2212848" y="2374392"/>
            <a:ext cx="1627632" cy="548640"/>
          </a:xfrm>
          <a:prstGeom prst="rect">
            <a:avLst/>
          </a:prstGeom>
          <a:noFill/>
          <a:ln/>
        </p:spPr>
        <p:txBody>
          <a:bodyPr wrap="square" rtlCol="0" anchor="ctr"/>
          <a:lstStyle/>
          <a:p>
            <a:pPr marL="0" indent="0" algn="l">
              <a:buNone/>
            </a:pPr>
            <a:r>
              <a:rPr lang="en-US" sz="850" i="1" dirty="0">
                <a:solidFill>
                  <a:srgbClr val="9A8D81"/>
                </a:solidFill>
                <a:latin typeface="Calibri" pitchFamily="34" charset="0"/>
                <a:ea typeface="Calibri" pitchFamily="34" charset="-122"/>
                <a:cs typeface="Calibri" pitchFamily="34" charset="-120"/>
              </a:rPr>
              <a:t>"또 틀렸어... 이게 맞는 건가"</a:t>
            </a:r>
            <a:endParaRPr lang="en-US" sz="850" dirty="0"/>
          </a:p>
        </p:txBody>
      </p:sp>
      <p:pic>
        <p:nvPicPr>
          <p:cNvPr id="9" name="Image 2" descr="/mnt/user-data/uploads/_블로그이미지_.png"/>
          <p:cNvPicPr>
            <a:picLocks noChangeAspect="1"/>
          </p:cNvPicPr>
          <p:nvPr/>
        </p:nvPicPr>
        <p:blipFill>
          <a:blip r:embed="rId5"/>
          <a:stretch>
            <a:fillRect/>
          </a:stretch>
        </p:blipFill>
        <p:spPr>
          <a:xfrm>
            <a:off x="3968496" y="960120"/>
            <a:ext cx="1627632" cy="1085088"/>
          </a:xfrm>
          <a:prstGeom prst="rect">
            <a:avLst/>
          </a:prstGeom>
          <a:effectLst>
            <a:outerShdw blurRad="76200" dist="25400" dir="5400000" algn="bl" rotWithShape="0">
              <a:srgbClr val="000000">
                <a:alpha val="12000"/>
              </a:srgbClr>
            </a:outerShdw>
          </a:effectLst>
        </p:spPr>
      </p:pic>
      <p:sp>
        <p:nvSpPr>
          <p:cNvPr id="10" name="Text 5"/>
          <p:cNvSpPr/>
          <p:nvPr/>
        </p:nvSpPr>
        <p:spPr>
          <a:xfrm>
            <a:off x="3968496" y="2118360"/>
            <a:ext cx="1627632" cy="274320"/>
          </a:xfrm>
          <a:prstGeom prst="rect">
            <a:avLst/>
          </a:prstGeom>
          <a:noFill/>
          <a:ln/>
        </p:spPr>
        <p:txBody>
          <a:bodyPr wrap="square" rtlCol="0" anchor="ctr"/>
          <a:lstStyle/>
          <a:p>
            <a:pPr marL="0" indent="0" algn="l">
              <a:buNone/>
            </a:pPr>
            <a:r>
              <a:rPr lang="en-US" sz="900" b="1" dirty="0">
                <a:solidFill>
                  <a:srgbClr val="B85042"/>
                </a:solidFill>
                <a:latin typeface="Calibri" pitchFamily="34" charset="0"/>
                <a:ea typeface="Calibri" pitchFamily="34" charset="-122"/>
                <a:cs typeface="Calibri" pitchFamily="34" charset="-120"/>
              </a:rPr>
              <a:t>③ 원인 분석 (인포그래픽)</a:t>
            </a:r>
            <a:endParaRPr lang="en-US" sz="900" dirty="0"/>
          </a:p>
        </p:txBody>
      </p:sp>
      <p:sp>
        <p:nvSpPr>
          <p:cNvPr id="11" name="Text 6"/>
          <p:cNvSpPr/>
          <p:nvPr/>
        </p:nvSpPr>
        <p:spPr>
          <a:xfrm>
            <a:off x="3968496" y="2374392"/>
            <a:ext cx="1627632" cy="548640"/>
          </a:xfrm>
          <a:prstGeom prst="rect">
            <a:avLst/>
          </a:prstGeom>
          <a:noFill/>
          <a:ln/>
        </p:spPr>
        <p:txBody>
          <a:bodyPr wrap="square" rtlCol="0" anchor="ctr"/>
          <a:lstStyle/>
          <a:p>
            <a:pPr marL="0" indent="0" algn="l">
              <a:buNone/>
            </a:pPr>
            <a:r>
              <a:rPr lang="en-US" sz="850" i="1" dirty="0">
                <a:solidFill>
                  <a:srgbClr val="9A8D81"/>
                </a:solidFill>
                <a:latin typeface="Calibri" pitchFamily="34" charset="0"/>
                <a:ea typeface="Calibri" pitchFamily="34" charset="-122"/>
                <a:cs typeface="Calibri" pitchFamily="34" charset="-120"/>
              </a:rPr>
              <a:t>"지금이 학습 습관의 골든타임"</a:t>
            </a:r>
            <a:endParaRPr lang="en-US" sz="850" dirty="0"/>
          </a:p>
        </p:txBody>
      </p:sp>
      <p:pic>
        <p:nvPicPr>
          <p:cNvPr id="12" name="Image 3" descr="/mnt/user-data/uploads/_블로그이미지_초등학습습관골든타임-해결방향-04.png"/>
          <p:cNvPicPr>
            <a:picLocks noChangeAspect="1"/>
          </p:cNvPicPr>
          <p:nvPr/>
        </p:nvPicPr>
        <p:blipFill>
          <a:blip r:embed="rId6"/>
          <a:stretch>
            <a:fillRect/>
          </a:stretch>
        </p:blipFill>
        <p:spPr>
          <a:xfrm>
            <a:off x="5724144" y="960120"/>
            <a:ext cx="1627632" cy="1085088"/>
          </a:xfrm>
          <a:prstGeom prst="rect">
            <a:avLst/>
          </a:prstGeom>
          <a:effectLst>
            <a:outerShdw blurRad="76200" dist="25400" dir="5400000" algn="bl" rotWithShape="0">
              <a:srgbClr val="000000">
                <a:alpha val="12000"/>
              </a:srgbClr>
            </a:outerShdw>
          </a:effectLst>
        </p:spPr>
      </p:pic>
      <p:sp>
        <p:nvSpPr>
          <p:cNvPr id="13" name="Text 7"/>
          <p:cNvSpPr/>
          <p:nvPr/>
        </p:nvSpPr>
        <p:spPr>
          <a:xfrm>
            <a:off x="5724144" y="2118360"/>
            <a:ext cx="1627632" cy="274320"/>
          </a:xfrm>
          <a:prstGeom prst="rect">
            <a:avLst/>
          </a:prstGeom>
          <a:noFill/>
          <a:ln/>
        </p:spPr>
        <p:txBody>
          <a:bodyPr wrap="square" rtlCol="0" anchor="ctr"/>
          <a:lstStyle/>
          <a:p>
            <a:pPr marL="0" indent="0" algn="l">
              <a:buNone/>
            </a:pPr>
            <a:r>
              <a:rPr lang="en-US" sz="900" b="1" dirty="0">
                <a:solidFill>
                  <a:srgbClr val="B85042"/>
                </a:solidFill>
                <a:latin typeface="Calibri" pitchFamily="34" charset="0"/>
                <a:ea typeface="Calibri" pitchFamily="34" charset="-122"/>
                <a:cs typeface="Calibri" pitchFamily="34" charset="-120"/>
              </a:rPr>
              <a:t>④ 해결 방향</a:t>
            </a:r>
            <a:endParaRPr lang="en-US" sz="900" dirty="0"/>
          </a:p>
        </p:txBody>
      </p:sp>
      <p:sp>
        <p:nvSpPr>
          <p:cNvPr id="14" name="Text 8"/>
          <p:cNvSpPr/>
          <p:nvPr/>
        </p:nvSpPr>
        <p:spPr>
          <a:xfrm>
            <a:off x="5724144" y="2374392"/>
            <a:ext cx="1627632" cy="548640"/>
          </a:xfrm>
          <a:prstGeom prst="rect">
            <a:avLst/>
          </a:prstGeom>
          <a:noFill/>
          <a:ln/>
        </p:spPr>
        <p:txBody>
          <a:bodyPr wrap="square" rtlCol="0" anchor="ctr"/>
          <a:lstStyle/>
          <a:p>
            <a:pPr marL="0" indent="0" algn="l">
              <a:buNone/>
            </a:pPr>
            <a:r>
              <a:rPr lang="en-US" sz="850" i="1" dirty="0">
                <a:solidFill>
                  <a:srgbClr val="9A8D81"/>
                </a:solidFill>
                <a:latin typeface="Calibri" pitchFamily="34" charset="0"/>
                <a:ea typeface="Calibri" pitchFamily="34" charset="-122"/>
                <a:cs typeface="Calibri" pitchFamily="34" charset="-120"/>
              </a:rPr>
              <a:t>"하루 30분, 작은 습관부터"</a:t>
            </a:r>
            <a:endParaRPr lang="en-US" sz="850" dirty="0"/>
          </a:p>
        </p:txBody>
      </p:sp>
      <p:pic>
        <p:nvPicPr>
          <p:cNvPr id="15" name="Image 4" descr="/mnt/user-data/uploads/_블로그이미지_초등학습습관골든타임-CTA.png"/>
          <p:cNvPicPr>
            <a:picLocks noChangeAspect="1"/>
          </p:cNvPicPr>
          <p:nvPr/>
        </p:nvPicPr>
        <p:blipFill>
          <a:blip r:embed="rId7"/>
          <a:stretch>
            <a:fillRect/>
          </a:stretch>
        </p:blipFill>
        <p:spPr>
          <a:xfrm>
            <a:off x="7479792" y="960120"/>
            <a:ext cx="1627632" cy="1085088"/>
          </a:xfrm>
          <a:prstGeom prst="rect">
            <a:avLst/>
          </a:prstGeom>
          <a:effectLst>
            <a:outerShdw blurRad="76200" dist="25400" dir="5400000" algn="bl" rotWithShape="0">
              <a:srgbClr val="000000">
                <a:alpha val="12000"/>
              </a:srgbClr>
            </a:outerShdw>
          </a:effectLst>
        </p:spPr>
      </p:pic>
      <p:sp>
        <p:nvSpPr>
          <p:cNvPr id="16" name="Text 9"/>
          <p:cNvSpPr/>
          <p:nvPr/>
        </p:nvSpPr>
        <p:spPr>
          <a:xfrm>
            <a:off x="7479792" y="2118360"/>
            <a:ext cx="1627632" cy="274320"/>
          </a:xfrm>
          <a:prstGeom prst="rect">
            <a:avLst/>
          </a:prstGeom>
          <a:noFill/>
          <a:ln/>
        </p:spPr>
        <p:txBody>
          <a:bodyPr wrap="square" rtlCol="0" anchor="ctr"/>
          <a:lstStyle/>
          <a:p>
            <a:pPr marL="0" indent="0" algn="l">
              <a:buNone/>
            </a:pPr>
            <a:r>
              <a:rPr lang="en-US" sz="900" b="1" dirty="0">
                <a:solidFill>
                  <a:srgbClr val="B85042"/>
                </a:solidFill>
                <a:latin typeface="Calibri" pitchFamily="34" charset="0"/>
                <a:ea typeface="Calibri" pitchFamily="34" charset="-122"/>
                <a:cs typeface="Calibri" pitchFamily="34" charset="-120"/>
              </a:rPr>
              <a:t>⑤ CTA</a:t>
            </a:r>
            <a:endParaRPr lang="en-US" sz="900" dirty="0"/>
          </a:p>
        </p:txBody>
      </p:sp>
      <p:sp>
        <p:nvSpPr>
          <p:cNvPr id="17" name="Text 10"/>
          <p:cNvSpPr/>
          <p:nvPr/>
        </p:nvSpPr>
        <p:spPr>
          <a:xfrm>
            <a:off x="7479792" y="2374392"/>
            <a:ext cx="1627632" cy="548640"/>
          </a:xfrm>
          <a:prstGeom prst="rect">
            <a:avLst/>
          </a:prstGeom>
          <a:noFill/>
          <a:ln/>
        </p:spPr>
        <p:txBody>
          <a:bodyPr wrap="square" rtlCol="0" anchor="ctr"/>
          <a:lstStyle/>
          <a:p>
            <a:pPr marL="0" indent="0" algn="l">
              <a:buNone/>
            </a:pPr>
            <a:r>
              <a:rPr lang="en-US" sz="850" i="1" dirty="0">
                <a:solidFill>
                  <a:srgbClr val="9A8D81"/>
                </a:solidFill>
                <a:latin typeface="Calibri" pitchFamily="34" charset="0"/>
                <a:ea typeface="Calibri" pitchFamily="34" charset="-122"/>
                <a:cs typeface="Calibri" pitchFamily="34" charset="-120"/>
              </a:rPr>
              <a:t>"오늘 저녁, 딱 하나만 정해보세요"</a:t>
            </a:r>
            <a:endParaRPr lang="en-US" sz="850" dirty="0"/>
          </a:p>
        </p:txBody>
      </p:sp>
      <p:sp>
        <p:nvSpPr>
          <p:cNvPr id="18" name="Shape 11"/>
          <p:cNvSpPr/>
          <p:nvPr/>
        </p:nvSpPr>
        <p:spPr>
          <a:xfrm>
            <a:off x="457200" y="3246120"/>
            <a:ext cx="8229600" cy="1417320"/>
          </a:xfrm>
          <a:prstGeom prst="roundRect">
            <a:avLst>
              <a:gd name="adj" fmla="val 3871"/>
            </a:avLst>
          </a:prstGeom>
          <a:solidFill>
            <a:srgbClr val="F7F1EC"/>
          </a:solidFill>
          <a:ln/>
        </p:spPr>
        <p:txBody>
          <a:bodyPr/>
          <a:lstStyle/>
          <a:p>
            <a:endParaRPr lang="ko-KR" altLang="en-US"/>
          </a:p>
        </p:txBody>
      </p:sp>
      <p:sp>
        <p:nvSpPr>
          <p:cNvPr id="19" name="Text 12"/>
          <p:cNvSpPr/>
          <p:nvPr/>
        </p:nvSpPr>
        <p:spPr>
          <a:xfrm>
            <a:off x="685800" y="3383280"/>
            <a:ext cx="7772400" cy="1188720"/>
          </a:xfrm>
          <a:prstGeom prst="rect">
            <a:avLst/>
          </a:prstGeom>
          <a:noFill/>
          <a:ln/>
        </p:spPr>
        <p:txBody>
          <a:bodyPr wrap="square" rtlCol="0" anchor="t"/>
          <a:lstStyle/>
          <a:p>
            <a:pPr marL="0" indent="0">
              <a:spcAft>
                <a:spcPts val="200"/>
              </a:spcAft>
              <a:buNone/>
            </a:pPr>
            <a:r>
              <a:rPr lang="en-US" sz="1200" b="1" dirty="0">
                <a:solidFill>
                  <a:srgbClr val="33291F"/>
                </a:solidFill>
                <a:latin typeface="Calibri" pitchFamily="34" charset="0"/>
                <a:ea typeface="Calibri" pitchFamily="34" charset="-122"/>
                <a:cs typeface="Calibri" pitchFamily="34" charset="-120"/>
              </a:rPr>
              <a:t>이미지 기획 공통 원칙</a:t>
            </a:r>
            <a:endParaRPr lang="en-US" sz="1200" dirty="0"/>
          </a:p>
          <a:p>
            <a:pPr marL="0" indent="0">
              <a:spcAft>
                <a:spcPts val="200"/>
              </a:spcAft>
              <a:buNone/>
            </a:pPr>
            <a:r>
              <a:rPr lang="en-US" sz="1050" dirty="0">
                <a:solidFill>
                  <a:srgbClr val="000000"/>
                </a:solidFill>
                <a:latin typeface="Calibri" pitchFamily="34" charset="0"/>
                <a:ea typeface="Calibri" pitchFamily="34" charset="-122"/>
                <a:cs typeface="Calibri" pitchFamily="34" charset="-120"/>
              </a:rPr>
              <a:t>· 모든 이미지에 텍스트 오버레이(손글씨풍) + alt 텍스트에 "초등 학습습관 골든타임" 키워드 자연 삽입</a:t>
            </a:r>
            <a:endParaRPr lang="en-US" sz="1200" dirty="0"/>
          </a:p>
          <a:p>
            <a:pPr marL="0" indent="0">
              <a:spcAft>
                <a:spcPts val="200"/>
              </a:spcAft>
              <a:buNone/>
            </a:pPr>
            <a:r>
              <a:rPr lang="en-US" sz="1050" dirty="0">
                <a:solidFill>
                  <a:srgbClr val="000000"/>
                </a:solidFill>
                <a:latin typeface="Calibri" pitchFamily="34" charset="0"/>
                <a:ea typeface="Calibri" pitchFamily="34" charset="-122"/>
                <a:cs typeface="Calibri" pitchFamily="34" charset="-120"/>
              </a:rPr>
              <a:t>· 비교형 콘텐츠 원칙: "온리원 vs 일반"이 아닌 "습관 형성 vs 미형성" 비교표로 구성(특정 브랜드 언급 금지)</a:t>
            </a:r>
            <a:endParaRPr lang="en-US" sz="1200" dirty="0"/>
          </a:p>
          <a:p>
            <a:pPr marL="0" indent="0">
              <a:spcAft>
                <a:spcPts val="200"/>
              </a:spcAft>
              <a:buNone/>
            </a:pPr>
            <a:r>
              <a:rPr lang="en-US" sz="1050" dirty="0">
                <a:solidFill>
                  <a:srgbClr val="000000"/>
                </a:solidFill>
                <a:latin typeface="Calibri" pitchFamily="34" charset="0"/>
                <a:ea typeface="Calibri" pitchFamily="34" charset="-122"/>
                <a:cs typeface="Calibri" pitchFamily="34" charset="-120"/>
              </a:rPr>
              <a:t>· 단락 흐름: 도입·공감 → 문제 제시 → 원인 분석(인포그래픽) → 해결 방향 → CTA — GEO 4단 구조 정합</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5. 작업 프로세스 — 프롬프트 설계부터 발행까지</a:t>
            </a:r>
            <a:endParaRPr lang="en-US" sz="2200" dirty="0"/>
          </a:p>
        </p:txBody>
      </p:sp>
      <p:sp>
        <p:nvSpPr>
          <p:cNvPr id="3" name="Shape 1"/>
          <p:cNvSpPr/>
          <p:nvPr/>
        </p:nvSpPr>
        <p:spPr>
          <a:xfrm>
            <a:off x="457200" y="96012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4" name="Shape 2"/>
          <p:cNvSpPr/>
          <p:nvPr/>
        </p:nvSpPr>
        <p:spPr>
          <a:xfrm>
            <a:off x="566928" y="1069848"/>
            <a:ext cx="365760" cy="365760"/>
          </a:xfrm>
          <a:prstGeom prst="ellipse">
            <a:avLst/>
          </a:prstGeom>
          <a:solidFill>
            <a:srgbClr val="B85042"/>
          </a:solidFill>
          <a:ln/>
        </p:spPr>
        <p:txBody>
          <a:bodyPr/>
          <a:lstStyle/>
          <a:p>
            <a:endParaRPr lang="ko-KR" altLang="en-US"/>
          </a:p>
        </p:txBody>
      </p:sp>
      <p:sp>
        <p:nvSpPr>
          <p:cNvPr id="5" name="Text 3"/>
          <p:cNvSpPr/>
          <p:nvPr/>
        </p:nvSpPr>
        <p:spPr>
          <a:xfrm>
            <a:off x="566928" y="106984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566928" y="149047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키워드·타깃 분석</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네이버 키워드도구 + 페르소나(민지맘) 설정, 골든타임 키워드 선정</a:t>
            </a:r>
            <a:endParaRPr lang="en-US" sz="1100" dirty="0"/>
          </a:p>
        </p:txBody>
      </p:sp>
      <p:sp>
        <p:nvSpPr>
          <p:cNvPr id="7" name="Text 5"/>
          <p:cNvSpPr/>
          <p:nvPr/>
        </p:nvSpPr>
        <p:spPr>
          <a:xfrm>
            <a:off x="2423160" y="96012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8" name="Shape 6"/>
          <p:cNvSpPr/>
          <p:nvPr/>
        </p:nvSpPr>
        <p:spPr>
          <a:xfrm>
            <a:off x="2587752" y="96012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9" name="Shape 7"/>
          <p:cNvSpPr/>
          <p:nvPr/>
        </p:nvSpPr>
        <p:spPr>
          <a:xfrm>
            <a:off x="2697480" y="1069848"/>
            <a:ext cx="365760" cy="365760"/>
          </a:xfrm>
          <a:prstGeom prst="ellipse">
            <a:avLst/>
          </a:prstGeom>
          <a:solidFill>
            <a:srgbClr val="B85042"/>
          </a:solidFill>
          <a:ln/>
        </p:spPr>
        <p:txBody>
          <a:bodyPr/>
          <a:lstStyle/>
          <a:p>
            <a:endParaRPr lang="ko-KR" altLang="en-US"/>
          </a:p>
        </p:txBody>
      </p:sp>
      <p:sp>
        <p:nvSpPr>
          <p:cNvPr id="10" name="Text 8"/>
          <p:cNvSpPr/>
          <p:nvPr/>
        </p:nvSpPr>
        <p:spPr>
          <a:xfrm>
            <a:off x="2697480" y="106984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2697480" y="149047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블로그 원고 기획</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GEO 3줄 요약 + AEO Q&amp;A 5선 + 단락별 5단 구성 작성</a:t>
            </a:r>
            <a:endParaRPr lang="en-US" sz="1100" dirty="0"/>
          </a:p>
        </p:txBody>
      </p:sp>
      <p:sp>
        <p:nvSpPr>
          <p:cNvPr id="12" name="Text 10"/>
          <p:cNvSpPr/>
          <p:nvPr/>
        </p:nvSpPr>
        <p:spPr>
          <a:xfrm>
            <a:off x="4553712" y="96012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13" name="Shape 11"/>
          <p:cNvSpPr/>
          <p:nvPr/>
        </p:nvSpPr>
        <p:spPr>
          <a:xfrm>
            <a:off x="4718304" y="96012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14" name="Shape 12"/>
          <p:cNvSpPr/>
          <p:nvPr/>
        </p:nvSpPr>
        <p:spPr>
          <a:xfrm>
            <a:off x="4828032" y="1069848"/>
            <a:ext cx="365760" cy="365760"/>
          </a:xfrm>
          <a:prstGeom prst="ellipse">
            <a:avLst/>
          </a:prstGeom>
          <a:solidFill>
            <a:srgbClr val="B85042"/>
          </a:solidFill>
          <a:ln/>
        </p:spPr>
        <p:txBody>
          <a:bodyPr/>
          <a:lstStyle/>
          <a:p>
            <a:endParaRPr lang="ko-KR" altLang="en-US"/>
          </a:p>
        </p:txBody>
      </p:sp>
      <p:sp>
        <p:nvSpPr>
          <p:cNvPr id="15" name="Text 13"/>
          <p:cNvSpPr/>
          <p:nvPr/>
        </p:nvSpPr>
        <p:spPr>
          <a:xfrm>
            <a:off x="4828032" y="106984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4828032" y="149047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이미지 프롬프트 설계</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단락별 alt·색감·오버레이·구도를 명시한 영문 프롬프트 5종 작성</a:t>
            </a:r>
            <a:endParaRPr lang="en-US" sz="1100" dirty="0"/>
          </a:p>
        </p:txBody>
      </p:sp>
      <p:sp>
        <p:nvSpPr>
          <p:cNvPr id="17" name="Text 15"/>
          <p:cNvSpPr/>
          <p:nvPr/>
        </p:nvSpPr>
        <p:spPr>
          <a:xfrm>
            <a:off x="6684264" y="96012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18" name="Shape 16"/>
          <p:cNvSpPr/>
          <p:nvPr/>
        </p:nvSpPr>
        <p:spPr>
          <a:xfrm>
            <a:off x="6848856" y="96012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19" name="Shape 17"/>
          <p:cNvSpPr/>
          <p:nvPr/>
        </p:nvSpPr>
        <p:spPr>
          <a:xfrm>
            <a:off x="6958584" y="1069848"/>
            <a:ext cx="365760" cy="365760"/>
          </a:xfrm>
          <a:prstGeom prst="ellipse">
            <a:avLst/>
          </a:prstGeom>
          <a:solidFill>
            <a:srgbClr val="B85042"/>
          </a:solidFill>
          <a:ln/>
        </p:spPr>
        <p:txBody>
          <a:bodyPr/>
          <a:lstStyle/>
          <a:p>
            <a:endParaRPr lang="ko-KR" altLang="en-US"/>
          </a:p>
        </p:txBody>
      </p:sp>
      <p:sp>
        <p:nvSpPr>
          <p:cNvPr id="20" name="Text 18"/>
          <p:cNvSpPr/>
          <p:nvPr/>
        </p:nvSpPr>
        <p:spPr>
          <a:xfrm>
            <a:off x="6958584" y="106984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6958584" y="149047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AI 이미지 생성</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블로그용 이미지 5종 생성(도입공감/문제제시/원인분석/해결방향/CTA)</a:t>
            </a:r>
            <a:endParaRPr lang="en-US" sz="1100" dirty="0"/>
          </a:p>
        </p:txBody>
      </p:sp>
      <p:sp>
        <p:nvSpPr>
          <p:cNvPr id="22" name="Shape 20"/>
          <p:cNvSpPr/>
          <p:nvPr/>
        </p:nvSpPr>
        <p:spPr>
          <a:xfrm>
            <a:off x="457200" y="269748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23" name="Shape 21"/>
          <p:cNvSpPr/>
          <p:nvPr/>
        </p:nvSpPr>
        <p:spPr>
          <a:xfrm>
            <a:off x="566928" y="2807208"/>
            <a:ext cx="365760" cy="365760"/>
          </a:xfrm>
          <a:prstGeom prst="ellipse">
            <a:avLst/>
          </a:prstGeom>
          <a:solidFill>
            <a:srgbClr val="B85042"/>
          </a:solidFill>
          <a:ln/>
        </p:spPr>
        <p:txBody>
          <a:bodyPr/>
          <a:lstStyle/>
          <a:p>
            <a:endParaRPr lang="ko-KR" altLang="en-US"/>
          </a:p>
        </p:txBody>
      </p:sp>
      <p:sp>
        <p:nvSpPr>
          <p:cNvPr id="24" name="Text 22"/>
          <p:cNvSpPr/>
          <p:nvPr/>
        </p:nvSpPr>
        <p:spPr>
          <a:xfrm>
            <a:off x="566928" y="280720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566928" y="322783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영상 프롬프트 설계</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9:16 5-CUT 완성 프롬프트(카메라/조명/무드) 영문 작성</a:t>
            </a:r>
            <a:endParaRPr lang="en-US" sz="1100" dirty="0"/>
          </a:p>
        </p:txBody>
      </p:sp>
      <p:sp>
        <p:nvSpPr>
          <p:cNvPr id="26" name="Text 24"/>
          <p:cNvSpPr/>
          <p:nvPr/>
        </p:nvSpPr>
        <p:spPr>
          <a:xfrm>
            <a:off x="2423160" y="269748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27" name="Shape 25"/>
          <p:cNvSpPr/>
          <p:nvPr/>
        </p:nvSpPr>
        <p:spPr>
          <a:xfrm>
            <a:off x="2587752" y="269748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28" name="Shape 26"/>
          <p:cNvSpPr/>
          <p:nvPr/>
        </p:nvSpPr>
        <p:spPr>
          <a:xfrm>
            <a:off x="2697480" y="2807208"/>
            <a:ext cx="365760" cy="365760"/>
          </a:xfrm>
          <a:prstGeom prst="ellipse">
            <a:avLst/>
          </a:prstGeom>
          <a:solidFill>
            <a:srgbClr val="B85042"/>
          </a:solidFill>
          <a:ln/>
        </p:spPr>
        <p:txBody>
          <a:bodyPr/>
          <a:lstStyle/>
          <a:p>
            <a:endParaRPr lang="ko-KR" altLang="en-US"/>
          </a:p>
        </p:txBody>
      </p:sp>
      <p:sp>
        <p:nvSpPr>
          <p:cNvPr id="29" name="Text 27"/>
          <p:cNvSpPr/>
          <p:nvPr/>
        </p:nvSpPr>
        <p:spPr>
          <a:xfrm>
            <a:off x="2697480" y="280720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p:nvPr/>
        </p:nvSpPr>
        <p:spPr>
          <a:xfrm>
            <a:off x="2697480" y="322783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AI 영상 생성</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CUT별 9:16 영상 클립 생성</a:t>
            </a:r>
            <a:endParaRPr lang="en-US" sz="1100" dirty="0"/>
          </a:p>
        </p:txBody>
      </p:sp>
      <p:sp>
        <p:nvSpPr>
          <p:cNvPr id="31" name="Text 29"/>
          <p:cNvSpPr/>
          <p:nvPr/>
        </p:nvSpPr>
        <p:spPr>
          <a:xfrm>
            <a:off x="4553712" y="269748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32" name="Shape 30"/>
          <p:cNvSpPr/>
          <p:nvPr/>
        </p:nvSpPr>
        <p:spPr>
          <a:xfrm>
            <a:off x="4718304" y="269748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33" name="Shape 31"/>
          <p:cNvSpPr/>
          <p:nvPr/>
        </p:nvSpPr>
        <p:spPr>
          <a:xfrm>
            <a:off x="4828032" y="2807208"/>
            <a:ext cx="365760" cy="365760"/>
          </a:xfrm>
          <a:prstGeom prst="ellipse">
            <a:avLst/>
          </a:prstGeom>
          <a:solidFill>
            <a:srgbClr val="B85042"/>
          </a:solidFill>
          <a:ln/>
        </p:spPr>
        <p:txBody>
          <a:bodyPr/>
          <a:lstStyle/>
          <a:p>
            <a:endParaRPr lang="ko-KR" altLang="en-US"/>
          </a:p>
        </p:txBody>
      </p:sp>
      <p:sp>
        <p:nvSpPr>
          <p:cNvPr id="34" name="Text 32"/>
          <p:cNvSpPr/>
          <p:nvPr/>
        </p:nvSpPr>
        <p:spPr>
          <a:xfrm>
            <a:off x="4828032" y="280720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p:nvPr/>
        </p:nvSpPr>
        <p:spPr>
          <a:xfrm>
            <a:off x="4828032" y="322783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편집·합성</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나레이션(.wav)·BGM 합성, 자막 2단 등장 편집 → 최종 .mov 2종</a:t>
            </a:r>
            <a:endParaRPr lang="en-US" sz="1100" dirty="0"/>
          </a:p>
        </p:txBody>
      </p:sp>
      <p:sp>
        <p:nvSpPr>
          <p:cNvPr id="36" name="Text 34"/>
          <p:cNvSpPr/>
          <p:nvPr/>
        </p:nvSpPr>
        <p:spPr>
          <a:xfrm>
            <a:off x="6684264" y="2697480"/>
            <a:ext cx="164592" cy="1417320"/>
          </a:xfrm>
          <a:prstGeom prst="rect">
            <a:avLst/>
          </a:prstGeom>
          <a:noFill/>
          <a:ln/>
        </p:spPr>
        <p:txBody>
          <a:bodyPr wrap="square" rtlCol="0" anchor="ctr"/>
          <a:lstStyle/>
          <a:p>
            <a:pPr marL="0" indent="0" algn="ctr">
              <a:buNone/>
            </a:pPr>
            <a:r>
              <a:rPr lang="en-US" sz="1400" b="1" dirty="0">
                <a:solidFill>
                  <a:srgbClr val="8FA38A"/>
                </a:solidFill>
                <a:latin typeface="Calibri" pitchFamily="34" charset="0"/>
                <a:ea typeface="Calibri" pitchFamily="34" charset="-122"/>
                <a:cs typeface="Calibri" pitchFamily="34" charset="-120"/>
              </a:rPr>
              <a:t>&gt;</a:t>
            </a:r>
            <a:endParaRPr lang="en-US" sz="1400" dirty="0"/>
          </a:p>
        </p:txBody>
      </p:sp>
      <p:sp>
        <p:nvSpPr>
          <p:cNvPr id="37" name="Shape 35"/>
          <p:cNvSpPr/>
          <p:nvPr/>
        </p:nvSpPr>
        <p:spPr>
          <a:xfrm>
            <a:off x="6848856" y="2697480"/>
            <a:ext cx="1965960" cy="1417320"/>
          </a:xfrm>
          <a:prstGeom prst="roundRect">
            <a:avLst>
              <a:gd name="adj" fmla="val 3871"/>
            </a:avLst>
          </a:prstGeom>
          <a:solidFill>
            <a:srgbClr val="F7F1EC"/>
          </a:solidFill>
          <a:ln/>
          <a:effectLst>
            <a:outerShdw blurRad="76200" dist="25400" dir="5400000" algn="bl" rotWithShape="0">
              <a:srgbClr val="000000">
                <a:alpha val="12000"/>
              </a:srgbClr>
            </a:outerShdw>
          </a:effectLst>
        </p:spPr>
        <p:txBody>
          <a:bodyPr/>
          <a:lstStyle/>
          <a:p>
            <a:endParaRPr lang="ko-KR" altLang="en-US"/>
          </a:p>
        </p:txBody>
      </p:sp>
      <p:sp>
        <p:nvSpPr>
          <p:cNvPr id="38" name="Shape 36"/>
          <p:cNvSpPr/>
          <p:nvPr/>
        </p:nvSpPr>
        <p:spPr>
          <a:xfrm>
            <a:off x="6958584" y="2807208"/>
            <a:ext cx="365760" cy="365760"/>
          </a:xfrm>
          <a:prstGeom prst="ellipse">
            <a:avLst/>
          </a:prstGeom>
          <a:solidFill>
            <a:srgbClr val="B85042"/>
          </a:solidFill>
          <a:ln/>
        </p:spPr>
        <p:txBody>
          <a:bodyPr/>
          <a:lstStyle/>
          <a:p>
            <a:endParaRPr lang="ko-KR" altLang="en-US"/>
          </a:p>
        </p:txBody>
      </p:sp>
      <p:sp>
        <p:nvSpPr>
          <p:cNvPr id="39" name="Text 37"/>
          <p:cNvSpPr/>
          <p:nvPr/>
        </p:nvSpPr>
        <p:spPr>
          <a:xfrm>
            <a:off x="6958584" y="280720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0" name="Text 38"/>
          <p:cNvSpPr/>
          <p:nvPr/>
        </p:nvSpPr>
        <p:spPr>
          <a:xfrm>
            <a:off x="6958584" y="3227832"/>
            <a:ext cx="1746504" cy="822960"/>
          </a:xfrm>
          <a:prstGeom prst="rect">
            <a:avLst/>
          </a:prstGeom>
          <a:noFill/>
          <a:ln/>
        </p:spPr>
        <p:txBody>
          <a:bodyPr wrap="square" rtlCol="0" anchor="t"/>
          <a:lstStyle/>
          <a:p>
            <a:pPr marL="0" indent="0">
              <a:buNone/>
            </a:pPr>
            <a:r>
              <a:rPr lang="en-US" sz="1100" b="1" dirty="0">
                <a:solidFill>
                  <a:srgbClr val="33291F"/>
                </a:solidFill>
                <a:latin typeface="Calibri" pitchFamily="34" charset="0"/>
                <a:ea typeface="Calibri" pitchFamily="34" charset="-122"/>
                <a:cs typeface="Calibri" pitchFamily="34" charset="-120"/>
              </a:rPr>
              <a:t>채널 발행·연동</a:t>
            </a:r>
            <a:endParaRPr lang="en-US" sz="1100" dirty="0"/>
          </a:p>
          <a:p>
            <a:pPr marL="0" indent="0">
              <a:buNone/>
            </a:pPr>
            <a:r>
              <a:rPr lang="en-US" sz="850" dirty="0">
                <a:solidFill>
                  <a:srgbClr val="9A8D81"/>
                </a:solidFill>
                <a:latin typeface="Calibri" pitchFamily="34" charset="0"/>
                <a:ea typeface="Calibri" pitchFamily="34" charset="-122"/>
                <a:cs typeface="Calibri" pitchFamily="34" charset="-120"/>
              </a:rPr>
              <a:t>네이버클립 업로드 + 블로그 발행 + 카카오 오픈채팅 상담 연결</a:t>
            </a:r>
            <a:endParaRPr lang="en-US" sz="1100" dirty="0"/>
          </a:p>
        </p:txBody>
      </p:sp>
      <p:sp>
        <p:nvSpPr>
          <p:cNvPr id="41" name="Shape 39"/>
          <p:cNvSpPr/>
          <p:nvPr/>
        </p:nvSpPr>
        <p:spPr>
          <a:xfrm>
            <a:off x="457200" y="4480560"/>
            <a:ext cx="8229600" cy="502920"/>
          </a:xfrm>
          <a:prstGeom prst="roundRect">
            <a:avLst>
              <a:gd name="adj" fmla="val 10909"/>
            </a:avLst>
          </a:prstGeom>
          <a:solidFill>
            <a:srgbClr val="3A2E2A"/>
          </a:solidFill>
          <a:ln/>
        </p:spPr>
        <p:txBody>
          <a:bodyPr/>
          <a:lstStyle/>
          <a:p>
            <a:endParaRPr lang="ko-KR" altLang="en-US"/>
          </a:p>
        </p:txBody>
      </p:sp>
      <p:sp>
        <p:nvSpPr>
          <p:cNvPr id="42" name="Text 40"/>
          <p:cNvSpPr/>
          <p:nvPr/>
        </p:nvSpPr>
        <p:spPr>
          <a:xfrm>
            <a:off x="640080" y="4480560"/>
            <a:ext cx="786384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Claude 기반 시스템 프롬프트(v3.0)로 5채널 콘텐츠 자동화 파이프라인 운영 중 — 본 프로젝트는 동일 구조의 영상 확장 사례</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A2E2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marL="0" indent="0">
              <a:buNone/>
            </a:pPr>
            <a:r>
              <a:rPr lang="en-US" sz="2400" b="1" dirty="0">
                <a:solidFill>
                  <a:srgbClr val="DD9E5C"/>
                </a:solidFill>
                <a:latin typeface="Cambria" pitchFamily="34" charset="0"/>
                <a:ea typeface="Cambria" pitchFamily="34" charset="-122"/>
                <a:cs typeface="Cambria" pitchFamily="34" charset="-120"/>
              </a:rPr>
              <a:t>6. 최종 결과물</a:t>
            </a:r>
            <a:endParaRPr lang="en-US" sz="2400" dirty="0"/>
          </a:p>
        </p:txBody>
      </p:sp>
      <p:pic>
        <p:nvPicPr>
          <p:cNvPr id="3" name="Image 0" descr="/home/claude/assets/final_frame.png"/>
          <p:cNvPicPr>
            <a:picLocks noChangeAspect="1"/>
          </p:cNvPicPr>
          <p:nvPr/>
        </p:nvPicPr>
        <p:blipFill>
          <a:blip r:embed="rId3"/>
          <a:stretch>
            <a:fillRect/>
          </a:stretch>
        </p:blipFill>
        <p:spPr>
          <a:xfrm>
            <a:off x="640080" y="1051560"/>
            <a:ext cx="1645920" cy="2924525"/>
          </a:xfrm>
          <a:prstGeom prst="rect">
            <a:avLst/>
          </a:prstGeom>
          <a:effectLst>
            <a:outerShdw blurRad="76200" dist="25400" dir="5400000" algn="bl" rotWithShape="0">
              <a:srgbClr val="000000">
                <a:alpha val="12000"/>
              </a:srgbClr>
            </a:outerShdw>
          </a:effectLst>
        </p:spPr>
      </p:pic>
      <p:pic>
        <p:nvPicPr>
          <p:cNvPr id="4" name="Image 1" descr="/home/claude/assets/final_frame2.png"/>
          <p:cNvPicPr>
            <a:picLocks noChangeAspect="1"/>
          </p:cNvPicPr>
          <p:nvPr/>
        </p:nvPicPr>
        <p:blipFill>
          <a:blip r:embed="rId4"/>
          <a:stretch>
            <a:fillRect/>
          </a:stretch>
        </p:blipFill>
        <p:spPr>
          <a:xfrm>
            <a:off x="2514600" y="1051560"/>
            <a:ext cx="1645920" cy="2924525"/>
          </a:xfrm>
          <a:prstGeom prst="rect">
            <a:avLst/>
          </a:prstGeom>
          <a:effectLst>
            <a:outerShdw blurRad="76200" dist="25400" dir="5400000" algn="bl" rotWithShape="0">
              <a:srgbClr val="000000">
                <a:alpha val="12000"/>
              </a:srgbClr>
            </a:outerShdw>
          </a:effectLst>
        </p:spPr>
      </p:pic>
      <p:sp>
        <p:nvSpPr>
          <p:cNvPr id="5" name="Text 1"/>
          <p:cNvSpPr/>
          <p:nvPr/>
        </p:nvSpPr>
        <p:spPr>
          <a:xfrm>
            <a:off x="640080" y="4067525"/>
            <a:ext cx="3520440" cy="320040"/>
          </a:xfrm>
          <a:prstGeom prst="rect">
            <a:avLst/>
          </a:prstGeom>
          <a:noFill/>
          <a:ln/>
        </p:spPr>
        <p:txBody>
          <a:bodyPr wrap="square" rtlCol="0" anchor="ctr"/>
          <a:lstStyle/>
          <a:p>
            <a:pPr marL="0" indent="0" algn="ctr">
              <a:buNone/>
            </a:pPr>
            <a:r>
              <a:rPr lang="en-US" sz="950" dirty="0">
                <a:solidFill>
                  <a:srgbClr val="E7DCD3"/>
                </a:solidFill>
                <a:latin typeface="Calibri" pitchFamily="34" charset="0"/>
                <a:ea typeface="Calibri" pitchFamily="34" charset="-122"/>
                <a:cs typeface="Calibri" pitchFamily="34" charset="-120"/>
              </a:rPr>
              <a:t>최종 영상(.mov) 캡처 — 좌: CUT1 훅 / 우: CUT5 CTA</a:t>
            </a:r>
            <a:endParaRPr lang="en-US" sz="950" dirty="0"/>
          </a:p>
        </p:txBody>
      </p:sp>
      <p:sp>
        <p:nvSpPr>
          <p:cNvPr id="6" name="Shape 2"/>
          <p:cNvSpPr/>
          <p:nvPr/>
        </p:nvSpPr>
        <p:spPr>
          <a:xfrm>
            <a:off x="4754880" y="1051560"/>
            <a:ext cx="3931920" cy="3566160"/>
          </a:xfrm>
          <a:prstGeom prst="roundRect">
            <a:avLst>
              <a:gd name="adj" fmla="val 1538"/>
            </a:avLst>
          </a:prstGeom>
          <a:solidFill>
            <a:srgbClr val="F2EAE3"/>
          </a:solidFill>
          <a:ln/>
        </p:spPr>
        <p:txBody>
          <a:bodyPr/>
          <a:lstStyle/>
          <a:p>
            <a:endParaRPr lang="ko-KR" altLang="en-US"/>
          </a:p>
        </p:txBody>
      </p:sp>
      <p:sp>
        <p:nvSpPr>
          <p:cNvPr id="7" name="Text 3"/>
          <p:cNvSpPr/>
          <p:nvPr/>
        </p:nvSpPr>
        <p:spPr>
          <a:xfrm>
            <a:off x="4983480" y="1188720"/>
            <a:ext cx="3474720" cy="365760"/>
          </a:xfrm>
          <a:prstGeom prst="rect">
            <a:avLst/>
          </a:prstGeom>
          <a:noFill/>
          <a:ln/>
        </p:spPr>
        <p:txBody>
          <a:bodyPr wrap="square" rtlCol="0" anchor="ctr"/>
          <a:lstStyle/>
          <a:p>
            <a:pPr marL="0" indent="0">
              <a:buNone/>
            </a:pPr>
            <a:r>
              <a:rPr lang="en-US" sz="1500" b="1" dirty="0">
                <a:solidFill>
                  <a:srgbClr val="33291F"/>
                </a:solidFill>
                <a:latin typeface="Cambria" pitchFamily="34" charset="0"/>
                <a:ea typeface="Cambria" pitchFamily="34" charset="-122"/>
                <a:cs typeface="Cambria" pitchFamily="34" charset="-120"/>
              </a:rPr>
              <a:t>제출 첨부 파일</a:t>
            </a:r>
            <a:endParaRPr lang="en-US" sz="1500" dirty="0"/>
          </a:p>
        </p:txBody>
      </p:sp>
      <p:sp>
        <p:nvSpPr>
          <p:cNvPr id="8" name="Text 4"/>
          <p:cNvSpPr/>
          <p:nvPr/>
        </p:nvSpPr>
        <p:spPr>
          <a:xfrm>
            <a:off x="4983480" y="1645920"/>
            <a:ext cx="3520440" cy="2834640"/>
          </a:xfrm>
          <a:prstGeom prst="rect">
            <a:avLst/>
          </a:prstGeom>
          <a:noFill/>
          <a:ln/>
        </p:spPr>
        <p:txBody>
          <a:bodyPr wrap="square" rtlCol="0" anchor="t"/>
          <a:lstStyle/>
          <a:p>
            <a:pPr>
              <a:spcAft>
                <a:spcPts val="400"/>
              </a:spcAft>
              <a:buSzPct val="100000"/>
            </a:pPr>
            <a:r>
              <a:rPr lang="en-US" sz="1100" dirty="0">
                <a:solidFill>
                  <a:srgbClr val="33291F"/>
                </a:solidFill>
                <a:latin typeface="Calibri" pitchFamily="34" charset="0"/>
                <a:ea typeface="Calibri" pitchFamily="34" charset="-122"/>
                <a:cs typeface="Calibri" pitchFamily="34" charset="-120"/>
              </a:rPr>
              <a:t>1) 본 PPT — </a:t>
            </a:r>
            <a:r>
              <a:rPr lang="en-US" sz="1100" dirty="0" err="1">
                <a:solidFill>
                  <a:srgbClr val="33291F"/>
                </a:solidFill>
                <a:latin typeface="Calibri" pitchFamily="34" charset="0"/>
                <a:ea typeface="Calibri" pitchFamily="34" charset="-122"/>
                <a:cs typeface="Calibri" pitchFamily="34" charset="-120"/>
              </a:rPr>
              <a:t>프롬프트·작업순서·결과</a:t>
            </a:r>
            <a:r>
              <a:rPr lang="en-US" sz="1100" dirty="0">
                <a:solidFill>
                  <a:srgbClr val="33291F"/>
                </a:solidFill>
                <a:latin typeface="Calibri" pitchFamily="34" charset="0"/>
                <a:ea typeface="Calibri" pitchFamily="34" charset="-122"/>
                <a:cs typeface="Calibri" pitchFamily="34" charset="-120"/>
              </a:rPr>
              <a:t> </a:t>
            </a:r>
            <a:r>
              <a:rPr lang="en-US" sz="1100" dirty="0" err="1">
                <a:solidFill>
                  <a:srgbClr val="33291F"/>
                </a:solidFill>
                <a:latin typeface="Calibri" pitchFamily="34" charset="0"/>
                <a:ea typeface="Calibri" pitchFamily="34" charset="-122"/>
                <a:cs typeface="Calibri" pitchFamily="34" charset="-120"/>
              </a:rPr>
              <a:t>정리</a:t>
            </a:r>
            <a:endParaRPr lang="en-US" sz="1100" dirty="0">
              <a:solidFill>
                <a:srgbClr val="33291F"/>
              </a:solidFill>
              <a:latin typeface="Calibri" pitchFamily="34" charset="0"/>
              <a:ea typeface="Calibri" pitchFamily="34" charset="-122"/>
              <a:cs typeface="Calibri" pitchFamily="34" charset="-120"/>
            </a:endParaRPr>
          </a:p>
          <a:p>
            <a:pPr>
              <a:spcAft>
                <a:spcPts val="400"/>
              </a:spcAft>
              <a:buSzPct val="100000"/>
            </a:pPr>
            <a:endParaRPr lang="en-US" sz="1100" dirty="0">
              <a:solidFill>
                <a:srgbClr val="33291F"/>
              </a:solidFill>
              <a:latin typeface="Calibri" pitchFamily="34" charset="0"/>
              <a:ea typeface="Calibri" pitchFamily="34" charset="-122"/>
              <a:cs typeface="Calibri" pitchFamily="34" charset="-120"/>
            </a:endParaRPr>
          </a:p>
          <a:p>
            <a:pPr>
              <a:spcAft>
                <a:spcPts val="400"/>
              </a:spcAft>
              <a:buSzPct val="100000"/>
            </a:pPr>
            <a:r>
              <a:rPr lang="en-US" altLang="ko-KR" sz="1100" dirty="0"/>
              <a:t>2)</a:t>
            </a:r>
            <a:r>
              <a:rPr lang="ko-KR" altLang="en-US" sz="1100" dirty="0"/>
              <a:t>본 프롬프트를 활용해 작성한 블로그 콘텐츠 연결링크 및 영상 </a:t>
            </a:r>
            <a:r>
              <a:rPr lang="en-US" altLang="ko-KR" sz="1100" dirty="0" err="1"/>
              <a:t>url</a:t>
            </a:r>
            <a:r>
              <a:rPr lang="en-US" altLang="ko-KR" sz="1100" dirty="0"/>
              <a:t>  </a:t>
            </a:r>
            <a:r>
              <a:rPr lang="ko-KR" altLang="en-US" sz="1100" dirty="0"/>
              <a:t>은 아래 경로 참조</a:t>
            </a:r>
            <a:endParaRPr lang="en-US" altLang="ko-KR" sz="1100" dirty="0"/>
          </a:p>
          <a:p>
            <a:pPr>
              <a:spcAft>
                <a:spcPts val="400"/>
              </a:spcAft>
              <a:buSzPct val="100000"/>
            </a:pPr>
            <a:endParaRPr lang="en-US" altLang="ko-KR" sz="1100" dirty="0"/>
          </a:p>
          <a:p>
            <a:pPr>
              <a:spcAft>
                <a:spcPts val="400"/>
              </a:spcAft>
              <a:buSzPct val="100000"/>
            </a:pPr>
            <a:r>
              <a:rPr lang="ko-KR" altLang="en-US" sz="1100" dirty="0"/>
              <a:t>블로그경로</a:t>
            </a:r>
            <a:r>
              <a:rPr lang="en-US" altLang="ko-KR" sz="1100" dirty="0"/>
              <a:t>: </a:t>
            </a:r>
            <a:r>
              <a:rPr lang="ko-KR" altLang="ko-KR" sz="1100" u="sng" dirty="0">
                <a:hlinkClick r:id="rId5"/>
              </a:rPr>
              <a:t>https://blog.naver.com/only1_only/224313676092</a:t>
            </a:r>
            <a:endParaRPr lang="en-US" altLang="ko-KR" sz="1100" u="sng" dirty="0"/>
          </a:p>
          <a:p>
            <a:pPr>
              <a:spcAft>
                <a:spcPts val="400"/>
              </a:spcAft>
              <a:buSzPct val="100000"/>
            </a:pPr>
            <a:r>
              <a:rPr lang="ko-KR" altLang="en-US" sz="1100" u="sng" dirty="0" err="1"/>
              <a:t>네이버클립</a:t>
            </a:r>
            <a:r>
              <a:rPr lang="ko-KR" altLang="en-US" sz="1100" u="sng" dirty="0"/>
              <a:t> 경로</a:t>
            </a:r>
            <a:r>
              <a:rPr lang="en-US" altLang="ko-KR" sz="1100" u="sng" dirty="0"/>
              <a:t>:</a:t>
            </a:r>
          </a:p>
          <a:p>
            <a:pPr>
              <a:spcAft>
                <a:spcPts val="400"/>
              </a:spcAft>
              <a:buSzPct val="100000"/>
            </a:pPr>
            <a:r>
              <a:rPr lang="ko-KR" altLang="ko-KR" sz="1100" u="sng" dirty="0">
                <a:hlinkClick r:id="rId6"/>
              </a:rPr>
              <a:t>https://naver.me/F8lwNqQo</a:t>
            </a:r>
            <a:endParaRPr lang="en-US" altLang="ko-KR" sz="1100" dirty="0"/>
          </a:p>
          <a:p>
            <a:pPr marL="342900" indent="-342900">
              <a:spcAft>
                <a:spcPts val="400"/>
              </a:spcAft>
              <a:buSzPct val="100000"/>
              <a:buChar char="•"/>
            </a:pPr>
            <a:endParaRPr lang="en-US" altLang="ko-KR" sz="1100" dirty="0"/>
          </a:p>
          <a:p>
            <a:pPr marL="342900" indent="-342900">
              <a:spcAft>
                <a:spcPts val="400"/>
              </a:spcAft>
              <a:buSzPct val="100000"/>
              <a:buChar char="•"/>
            </a:pPr>
            <a:endParaRPr lang="en-US" altLang="ko-KR" sz="1100" dirty="0"/>
          </a:p>
        </p:txBody>
      </p:sp>
      <p:sp>
        <p:nvSpPr>
          <p:cNvPr id="9" name="Text 5"/>
          <p:cNvSpPr/>
          <p:nvPr/>
        </p:nvSpPr>
        <p:spPr>
          <a:xfrm>
            <a:off x="457200" y="4754880"/>
            <a:ext cx="8229600" cy="320040"/>
          </a:xfrm>
          <a:prstGeom prst="rect">
            <a:avLst/>
          </a:prstGeom>
          <a:noFill/>
          <a:ln/>
        </p:spPr>
        <p:txBody>
          <a:bodyPr wrap="square" rtlCol="0" anchor="ctr"/>
          <a:lstStyle/>
          <a:p>
            <a:pPr marL="0" indent="0" algn="ctr">
              <a:buNone/>
            </a:pPr>
            <a:r>
              <a:rPr lang="en-US" sz="1000" dirty="0">
                <a:solidFill>
                  <a:srgbClr val="E7DCD3"/>
                </a:solidFill>
                <a:latin typeface="Calibri" pitchFamily="34" charset="0"/>
                <a:ea typeface="Calibri" pitchFamily="34" charset="-122"/>
                <a:cs typeface="Calibri" pitchFamily="34" charset="-120"/>
              </a:rPr>
              <a:t>초등 학습습관, 언제부터 잡아줘야 할까? · 비상교육 온리원 온라인사업Cell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4740</Words>
  <Application>Microsoft Office PowerPoint</Application>
  <PresentationFormat>화면 슬라이드 쇼(16:9)</PresentationFormat>
  <Paragraphs>521</Paragraphs>
  <Slides>9</Slides>
  <Notes>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Arial</vt:lpstr>
      <vt:lpstr>Calibri</vt:lpstr>
      <vt:lpstr>Cambria</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V-Prompt Challenge 제출작 - 초등 학습습관 골든타임</dc:title>
  <dc:subject>PptxGenJS Presentation</dc:subject>
  <dc:creator>비상교육 온리원 온라인사업Cell</dc:creator>
  <cp:lastModifiedBy>김도경 온라인사업 Cell</cp:lastModifiedBy>
  <cp:revision>2</cp:revision>
  <dcterms:created xsi:type="dcterms:W3CDTF">2026-06-12T07:18:50Z</dcterms:created>
  <dcterms:modified xsi:type="dcterms:W3CDTF">2026-06-12T07:34:37Z</dcterms:modified>
</cp:coreProperties>
</file>